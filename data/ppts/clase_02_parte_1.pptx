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99" r:id="rId3"/>
    <p:sldId id="260" r:id="rId4"/>
    <p:sldId id="281" r:id="rId5"/>
    <p:sldId id="279" r:id="rId6"/>
    <p:sldId id="280" r:id="rId7"/>
    <p:sldId id="292" r:id="rId8"/>
    <p:sldId id="282" r:id="rId9"/>
    <p:sldId id="283" r:id="rId10"/>
    <p:sldId id="293" r:id="rId11"/>
    <p:sldId id="284" r:id="rId12"/>
    <p:sldId id="285" r:id="rId13"/>
    <p:sldId id="286" r:id="rId14"/>
    <p:sldId id="288" r:id="rId15"/>
    <p:sldId id="287" r:id="rId16"/>
    <p:sldId id="289" r:id="rId17"/>
    <p:sldId id="294" r:id="rId18"/>
    <p:sldId id="290" r:id="rId19"/>
    <p:sldId id="295" r:id="rId20"/>
    <p:sldId id="296" r:id="rId21"/>
    <p:sldId id="297" r:id="rId22"/>
    <p:sldId id="298" r:id="rId23"/>
    <p:sldId id="257" r:id="rId24"/>
    <p:sldId id="300" r:id="rId25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75593"/>
  </p:normalViewPr>
  <p:slideViewPr>
    <p:cSldViewPr>
      <p:cViewPr varScale="1">
        <p:scale>
          <a:sx n="116" d="100"/>
          <a:sy n="116" d="100"/>
        </p:scale>
        <p:origin x="10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1440180" cy="144018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BD8CB8-51A0-1D49-8FDA-A8DBBAFB532D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20007B-74B6-7545-B924-98D6D24D21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380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2800" dirty="0"/>
              <a:t>Este </a:t>
            </a:r>
            <a:r>
              <a:rPr lang="en-GB" sz="2800" dirty="0" err="1"/>
              <a:t>estudio</a:t>
            </a:r>
            <a:r>
              <a:rPr lang="en-GB" sz="2800" dirty="0"/>
              <a:t> </a:t>
            </a:r>
            <a:r>
              <a:rPr lang="en-GB" sz="2800" dirty="0" err="1"/>
              <a:t>analiza</a:t>
            </a:r>
            <a:r>
              <a:rPr lang="en-GB" sz="2800" dirty="0"/>
              <a:t> </a:t>
            </a:r>
            <a:r>
              <a:rPr lang="en-GB" sz="2800" dirty="0" err="1"/>
              <a:t>el</a:t>
            </a:r>
            <a:r>
              <a:rPr lang="en-GB" sz="2800" dirty="0"/>
              <a:t> </a:t>
            </a:r>
            <a:r>
              <a:rPr lang="en-GB" sz="2800" dirty="0" err="1"/>
              <a:t>ecosistema</a:t>
            </a:r>
            <a:r>
              <a:rPr lang="en-GB" sz="2800" dirty="0"/>
              <a:t> SBOM de extremo a extremo: </a:t>
            </a:r>
            <a:r>
              <a:rPr lang="en-GB" sz="2800" dirty="0" err="1"/>
              <a:t>qué</a:t>
            </a:r>
            <a:r>
              <a:rPr lang="en-GB" sz="2800" dirty="0"/>
              <a:t> </a:t>
            </a:r>
            <a:r>
              <a:rPr lang="en-GB" sz="2800" dirty="0" err="1"/>
              <a:t>hacen</a:t>
            </a:r>
            <a:r>
              <a:rPr lang="en-GB" sz="2800" dirty="0"/>
              <a:t> las </a:t>
            </a:r>
            <a:r>
              <a:rPr lang="en-GB" sz="2800" dirty="0" err="1"/>
              <a:t>herramientas</a:t>
            </a:r>
            <a:r>
              <a:rPr lang="en-GB" sz="2800" dirty="0"/>
              <a:t> (RQ1), </a:t>
            </a:r>
            <a:r>
              <a:rPr lang="en-GB" sz="2800" dirty="0" err="1"/>
              <a:t>cómo</a:t>
            </a:r>
            <a:r>
              <a:rPr lang="en-GB" sz="2800" dirty="0"/>
              <a:t> </a:t>
            </a:r>
            <a:r>
              <a:rPr lang="en-GB" sz="2800" dirty="0" err="1"/>
              <a:t>evolucionan</a:t>
            </a:r>
            <a:r>
              <a:rPr lang="en-GB" sz="2800" dirty="0"/>
              <a:t> (RQ2), </a:t>
            </a:r>
            <a:r>
              <a:rPr lang="en-GB" sz="2800" dirty="0" err="1"/>
              <a:t>qué</a:t>
            </a:r>
            <a:r>
              <a:rPr lang="en-GB" sz="2800" dirty="0"/>
              <a:t> </a:t>
            </a:r>
            <a:r>
              <a:rPr lang="en-GB" sz="2800" dirty="0" err="1"/>
              <a:t>problemas</a:t>
            </a:r>
            <a:r>
              <a:rPr lang="en-GB" sz="2800" dirty="0"/>
              <a:t> </a:t>
            </a:r>
            <a:r>
              <a:rPr lang="en-GB" sz="2800" dirty="0" err="1"/>
              <a:t>tienen</a:t>
            </a:r>
            <a:r>
              <a:rPr lang="en-GB" sz="2800" dirty="0"/>
              <a:t> (RQ3) y </a:t>
            </a:r>
            <a:r>
              <a:rPr lang="en-GB" sz="2800" dirty="0" err="1"/>
              <a:t>cómo</a:t>
            </a:r>
            <a:r>
              <a:rPr lang="en-GB" sz="2800" dirty="0"/>
              <a:t> se </a:t>
            </a:r>
            <a:r>
              <a:rPr lang="en-GB" sz="2800" dirty="0" err="1"/>
              <a:t>usan</a:t>
            </a:r>
            <a:r>
              <a:rPr lang="en-GB" sz="2800" dirty="0"/>
              <a:t> en </a:t>
            </a:r>
            <a:r>
              <a:rPr lang="en-GB" sz="2800" dirty="0" err="1"/>
              <a:t>proyectos</a:t>
            </a:r>
            <a:r>
              <a:rPr lang="en-GB" sz="2800" dirty="0"/>
              <a:t> reales (RQ4)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307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2800" b="1" dirty="0"/>
              <a:t>Las </a:t>
            </a:r>
            <a:r>
              <a:rPr lang="en-GB" sz="2800" b="1" dirty="0" err="1"/>
              <a:t>herramientas</a:t>
            </a:r>
            <a:r>
              <a:rPr lang="en-GB" sz="2800" b="1" dirty="0"/>
              <a:t> SBOM </a:t>
            </a:r>
            <a:r>
              <a:rPr lang="en-GB" sz="2800" b="1" dirty="0" err="1"/>
              <a:t>soportan</a:t>
            </a:r>
            <a:r>
              <a:rPr lang="en-GB" sz="2800" b="1" dirty="0"/>
              <a:t> </a:t>
            </a:r>
            <a:r>
              <a:rPr lang="en-GB" sz="2800" b="1" dirty="0" err="1"/>
              <a:t>múltiples</a:t>
            </a:r>
            <a:r>
              <a:rPr lang="en-GB" sz="2800" b="1" dirty="0"/>
              <a:t> </a:t>
            </a:r>
            <a:r>
              <a:rPr lang="en-GB" sz="2800" b="1" dirty="0" err="1"/>
              <a:t>casos</a:t>
            </a:r>
            <a:r>
              <a:rPr lang="en-GB" sz="2800" b="1" dirty="0"/>
              <a:t> de </a:t>
            </a:r>
            <a:r>
              <a:rPr lang="en-GB" sz="2800" b="1" dirty="0" err="1"/>
              <a:t>uso</a:t>
            </a:r>
            <a:r>
              <a:rPr lang="en-GB" sz="2800" b="1" dirty="0"/>
              <a:t>, </a:t>
            </a:r>
            <a:r>
              <a:rPr lang="en-GB" sz="2800" b="1" dirty="0" err="1"/>
              <a:t>pero</a:t>
            </a:r>
            <a:r>
              <a:rPr lang="en-GB" sz="2800" b="1" dirty="0"/>
              <a:t> </a:t>
            </a:r>
            <a:r>
              <a:rPr lang="en-GB" sz="2800" b="1" dirty="0" err="1"/>
              <a:t>esta</a:t>
            </a:r>
            <a:r>
              <a:rPr lang="en-GB" sz="2800" b="1" dirty="0"/>
              <a:t> </a:t>
            </a:r>
            <a:r>
              <a:rPr lang="en-GB" sz="2800" b="1" dirty="0" err="1"/>
              <a:t>cobertura</a:t>
            </a:r>
            <a:r>
              <a:rPr lang="en-GB" sz="2800" b="1" dirty="0"/>
              <a:t> no es </a:t>
            </a:r>
            <a:r>
              <a:rPr lang="en-GB" sz="2800" b="1" dirty="0" err="1"/>
              <a:t>uniforme</a:t>
            </a:r>
            <a:r>
              <a:rPr lang="en-GB" sz="2800" b="1" dirty="0"/>
              <a:t>: las </a:t>
            </a:r>
            <a:r>
              <a:rPr lang="en-GB" sz="2800" b="1" dirty="0" err="1"/>
              <a:t>herramientas</a:t>
            </a:r>
            <a:r>
              <a:rPr lang="en-GB" sz="2800" b="1" dirty="0"/>
              <a:t> </a:t>
            </a:r>
            <a:r>
              <a:rPr lang="en-GB" sz="2800" b="1" dirty="0" err="1"/>
              <a:t>propietarias</a:t>
            </a:r>
            <a:r>
              <a:rPr lang="en-GB" sz="2800" b="1" dirty="0"/>
              <a:t> </a:t>
            </a:r>
            <a:r>
              <a:rPr lang="en-GB" sz="2800" b="1" dirty="0" err="1"/>
              <a:t>tienden</a:t>
            </a:r>
            <a:r>
              <a:rPr lang="en-GB" sz="2800" b="1" dirty="0"/>
              <a:t> a </a:t>
            </a:r>
            <a:r>
              <a:rPr lang="en-GB" sz="2800" b="1" dirty="0" err="1"/>
              <a:t>ofrecer</a:t>
            </a:r>
            <a:r>
              <a:rPr lang="en-GB" sz="2800" b="1" dirty="0"/>
              <a:t> </a:t>
            </a:r>
            <a:r>
              <a:rPr lang="en-GB" sz="2800" b="1" dirty="0" err="1"/>
              <a:t>soporte</a:t>
            </a:r>
            <a:r>
              <a:rPr lang="en-GB" sz="2800" b="1" dirty="0"/>
              <a:t> </a:t>
            </a:r>
            <a:r>
              <a:rPr lang="en-GB" sz="2800" b="1" dirty="0" err="1"/>
              <a:t>más</a:t>
            </a:r>
            <a:r>
              <a:rPr lang="en-GB" sz="2800" b="1" dirty="0"/>
              <a:t> </a:t>
            </a:r>
            <a:r>
              <a:rPr lang="en-GB" sz="2800" b="1" dirty="0" err="1"/>
              <a:t>amplio</a:t>
            </a:r>
            <a:r>
              <a:rPr lang="en-GB" sz="2800" b="1" dirty="0"/>
              <a:t> y multi-</a:t>
            </a:r>
            <a:r>
              <a:rPr lang="en-GB" sz="2800" b="1" dirty="0" err="1"/>
              <a:t>formato</a:t>
            </a:r>
            <a:r>
              <a:rPr lang="en-GB" sz="2800" b="1" dirty="0"/>
              <a:t>, </a:t>
            </a:r>
            <a:r>
              <a:rPr lang="en-GB" sz="2800" b="1" dirty="0" err="1"/>
              <a:t>mientras</a:t>
            </a:r>
            <a:r>
              <a:rPr lang="en-GB" sz="2800" b="1" dirty="0"/>
              <a:t> </a:t>
            </a:r>
            <a:r>
              <a:rPr lang="en-GB" sz="2800" b="1" dirty="0" err="1"/>
              <a:t>que</a:t>
            </a:r>
            <a:r>
              <a:rPr lang="en-GB" sz="2800" b="1" dirty="0"/>
              <a:t> las open-source </a:t>
            </a:r>
            <a:r>
              <a:rPr lang="en-GB" sz="2800" b="1" dirty="0" err="1"/>
              <a:t>suelen</a:t>
            </a:r>
            <a:r>
              <a:rPr lang="en-GB" sz="2800" b="1" dirty="0"/>
              <a:t> </a:t>
            </a:r>
            <a:r>
              <a:rPr lang="en-GB" sz="2800" b="1" dirty="0" err="1"/>
              <a:t>enfocarse</a:t>
            </a:r>
            <a:r>
              <a:rPr lang="en-GB" sz="2800" b="1" dirty="0"/>
              <a:t> en </a:t>
            </a:r>
            <a:r>
              <a:rPr lang="en-GB" sz="2800" b="1" dirty="0" err="1"/>
              <a:t>funcionalidades</a:t>
            </a:r>
            <a:r>
              <a:rPr lang="en-GB" sz="2800" b="1" dirty="0"/>
              <a:t> </a:t>
            </a:r>
            <a:r>
              <a:rPr lang="en-GB" sz="2800" b="1" dirty="0" err="1"/>
              <a:t>más</a:t>
            </a:r>
            <a:r>
              <a:rPr lang="en-GB" sz="2800" b="1" dirty="0"/>
              <a:t> </a:t>
            </a:r>
            <a:r>
              <a:rPr lang="en-GB" sz="2800" b="1" dirty="0" err="1"/>
              <a:t>específicas</a:t>
            </a:r>
            <a:r>
              <a:rPr lang="en-GB" sz="2800" b="1" dirty="0"/>
              <a:t>.</a:t>
            </a:r>
            <a:endParaRPr lang="en-GB" sz="28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126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Las </a:t>
            </a:r>
            <a:r>
              <a:rPr lang="en-GB" b="1" dirty="0" err="1"/>
              <a:t>herramientas</a:t>
            </a:r>
            <a:r>
              <a:rPr lang="en-GB" b="1" dirty="0"/>
              <a:t> SBOM </a:t>
            </a:r>
            <a:r>
              <a:rPr lang="en-GB" b="1" dirty="0" err="1"/>
              <a:t>cubren</a:t>
            </a:r>
            <a:r>
              <a:rPr lang="en-GB" b="1" dirty="0"/>
              <a:t> </a:t>
            </a:r>
            <a:r>
              <a:rPr lang="en-GB" b="1" dirty="0" err="1"/>
              <a:t>una</a:t>
            </a:r>
            <a:r>
              <a:rPr lang="en-GB" b="1" dirty="0"/>
              <a:t> </a:t>
            </a:r>
            <a:r>
              <a:rPr lang="en-GB" b="1" dirty="0" err="1"/>
              <a:t>amplia</a:t>
            </a:r>
            <a:r>
              <a:rPr lang="en-GB" b="1" dirty="0"/>
              <a:t> </a:t>
            </a:r>
            <a:r>
              <a:rPr lang="en-GB" b="1" dirty="0" err="1"/>
              <a:t>variedad</a:t>
            </a:r>
            <a:r>
              <a:rPr lang="en-GB" b="1" dirty="0"/>
              <a:t> de </a:t>
            </a:r>
            <a:r>
              <a:rPr lang="en-GB" b="1" dirty="0" err="1"/>
              <a:t>casos</a:t>
            </a:r>
            <a:r>
              <a:rPr lang="en-GB" b="1" dirty="0"/>
              <a:t> de </a:t>
            </a:r>
            <a:r>
              <a:rPr lang="en-GB" b="1" dirty="0" err="1"/>
              <a:t>uso</a:t>
            </a:r>
            <a:r>
              <a:rPr lang="en-GB" b="1" dirty="0"/>
              <a:t> a lo largo del </a:t>
            </a:r>
            <a:r>
              <a:rPr lang="en-GB" b="1" dirty="0" err="1"/>
              <a:t>ciclo</a:t>
            </a:r>
            <a:r>
              <a:rPr lang="en-GB" b="1" dirty="0"/>
              <a:t> de </a:t>
            </a:r>
            <a:r>
              <a:rPr lang="en-GB" b="1" dirty="0" err="1"/>
              <a:t>vida</a:t>
            </a:r>
            <a:r>
              <a:rPr lang="en-GB" b="1" dirty="0"/>
              <a:t>, </a:t>
            </a:r>
            <a:r>
              <a:rPr lang="en-GB" b="1" dirty="0" err="1"/>
              <a:t>pero</a:t>
            </a:r>
            <a:r>
              <a:rPr lang="en-GB" b="1" dirty="0"/>
              <a:t> con </a:t>
            </a:r>
            <a:r>
              <a:rPr lang="en-GB" b="1" dirty="0" err="1"/>
              <a:t>claras</a:t>
            </a:r>
            <a:r>
              <a:rPr lang="en-GB" b="1" dirty="0"/>
              <a:t> </a:t>
            </a:r>
            <a:r>
              <a:rPr lang="en-GB" b="1" dirty="0" err="1"/>
              <a:t>diferencias</a:t>
            </a:r>
            <a:r>
              <a:rPr lang="en-GB" b="1" dirty="0"/>
              <a:t>: </a:t>
            </a:r>
            <a:r>
              <a:rPr lang="en-GB" b="1" dirty="0" err="1"/>
              <a:t>CycloneDX</a:t>
            </a:r>
            <a:r>
              <a:rPr lang="en-GB" b="1" dirty="0"/>
              <a:t> se </a:t>
            </a:r>
            <a:r>
              <a:rPr lang="en-GB" b="1" dirty="0" err="1"/>
              <a:t>orienta</a:t>
            </a:r>
            <a:r>
              <a:rPr lang="en-GB" b="1" dirty="0"/>
              <a:t> </a:t>
            </a:r>
            <a:r>
              <a:rPr lang="en-GB" b="1" dirty="0" err="1"/>
              <a:t>más</a:t>
            </a:r>
            <a:r>
              <a:rPr lang="en-GB" b="1" dirty="0"/>
              <a:t> a build e </a:t>
            </a:r>
            <a:r>
              <a:rPr lang="en-GB" b="1" dirty="0" err="1"/>
              <a:t>integración</a:t>
            </a:r>
            <a:r>
              <a:rPr lang="en-GB" b="1" dirty="0"/>
              <a:t>, SPDX a </a:t>
            </a:r>
            <a:r>
              <a:rPr lang="en-GB" b="1" dirty="0" err="1"/>
              <a:t>comparación</a:t>
            </a:r>
            <a:r>
              <a:rPr lang="en-GB" b="1" dirty="0"/>
              <a:t> y </a:t>
            </a:r>
            <a:r>
              <a:rPr lang="en-GB" b="1" dirty="0" err="1"/>
              <a:t>transformación</a:t>
            </a:r>
            <a:r>
              <a:rPr lang="en-GB" b="1" dirty="0"/>
              <a:t>, y las </a:t>
            </a:r>
            <a:r>
              <a:rPr lang="en-GB" b="1" dirty="0" err="1"/>
              <a:t>herramientas</a:t>
            </a:r>
            <a:r>
              <a:rPr lang="en-GB" b="1" dirty="0"/>
              <a:t> </a:t>
            </a:r>
            <a:r>
              <a:rPr lang="en-GB" b="1" dirty="0" err="1"/>
              <a:t>duales</a:t>
            </a:r>
            <a:r>
              <a:rPr lang="en-GB" b="1" dirty="0"/>
              <a:t> </a:t>
            </a:r>
            <a:r>
              <a:rPr lang="en-GB" b="1" dirty="0" err="1"/>
              <a:t>concentran</a:t>
            </a:r>
            <a:r>
              <a:rPr lang="en-GB" b="1" dirty="0"/>
              <a:t> la mayor </a:t>
            </a:r>
            <a:r>
              <a:rPr lang="en-GB" b="1" dirty="0" err="1"/>
              <a:t>cobertura</a:t>
            </a:r>
            <a:r>
              <a:rPr lang="en-GB" b="1" dirty="0"/>
              <a:t>.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5622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b="1" dirty="0"/>
              <a:t>Las </a:t>
            </a:r>
            <a:r>
              <a:rPr lang="en-GB" b="1" dirty="0" err="1"/>
              <a:t>herramientas</a:t>
            </a:r>
            <a:r>
              <a:rPr lang="en-GB" b="1" dirty="0"/>
              <a:t> SBOM open-source </a:t>
            </a:r>
            <a:r>
              <a:rPr lang="en-GB" b="1" dirty="0" err="1"/>
              <a:t>cubren</a:t>
            </a:r>
            <a:r>
              <a:rPr lang="en-GB" b="1" dirty="0"/>
              <a:t> la </a:t>
            </a:r>
            <a:r>
              <a:rPr lang="en-GB" b="1" dirty="0" err="1"/>
              <a:t>mayoría</a:t>
            </a:r>
            <a:r>
              <a:rPr lang="en-GB" b="1" dirty="0"/>
              <a:t> de </a:t>
            </a:r>
            <a:r>
              <a:rPr lang="en-GB" b="1" dirty="0" err="1"/>
              <a:t>los</a:t>
            </a:r>
            <a:r>
              <a:rPr lang="en-GB" b="1" dirty="0"/>
              <a:t> </a:t>
            </a:r>
            <a:r>
              <a:rPr lang="en-GB" b="1" dirty="0" err="1"/>
              <a:t>casos</a:t>
            </a:r>
            <a:r>
              <a:rPr lang="en-GB" b="1" dirty="0"/>
              <a:t> de </a:t>
            </a:r>
            <a:r>
              <a:rPr lang="en-GB" b="1" dirty="0" err="1"/>
              <a:t>uso</a:t>
            </a:r>
            <a:r>
              <a:rPr lang="en-GB" b="1" dirty="0"/>
              <a:t>, </a:t>
            </a:r>
            <a:r>
              <a:rPr lang="en-GB" b="1" dirty="0" err="1"/>
              <a:t>pero</a:t>
            </a:r>
            <a:r>
              <a:rPr lang="en-GB" b="1" dirty="0"/>
              <a:t> las </a:t>
            </a:r>
            <a:r>
              <a:rPr lang="en-GB" b="1" dirty="0" err="1"/>
              <a:t>propietarias</a:t>
            </a:r>
            <a:r>
              <a:rPr lang="en-GB" b="1" dirty="0"/>
              <a:t> </a:t>
            </a:r>
            <a:r>
              <a:rPr lang="en-GB" b="1" dirty="0" err="1"/>
              <a:t>destacan</a:t>
            </a:r>
            <a:r>
              <a:rPr lang="en-GB" b="1" dirty="0"/>
              <a:t> en </a:t>
            </a:r>
            <a:r>
              <a:rPr lang="en-GB" b="1" dirty="0" err="1"/>
              <a:t>capacidades</a:t>
            </a:r>
            <a:r>
              <a:rPr lang="en-GB" b="1" dirty="0"/>
              <a:t> clave </a:t>
            </a:r>
            <a:r>
              <a:rPr lang="en-GB" b="1" dirty="0" err="1"/>
              <a:t>como</a:t>
            </a:r>
            <a:r>
              <a:rPr lang="en-GB" b="1" dirty="0"/>
              <a:t> </a:t>
            </a:r>
            <a:r>
              <a:rPr lang="en-GB" b="1" dirty="0" err="1"/>
              <a:t>análisis</a:t>
            </a:r>
            <a:r>
              <a:rPr lang="en-GB" b="1" dirty="0"/>
              <a:t> y </a:t>
            </a:r>
            <a:r>
              <a:rPr lang="en-GB" b="1" dirty="0" err="1"/>
              <a:t>visualización</a:t>
            </a:r>
            <a:r>
              <a:rPr lang="en-GB" b="1" dirty="0"/>
              <a:t>, </a:t>
            </a:r>
            <a:r>
              <a:rPr lang="en-GB" b="1" dirty="0" err="1"/>
              <a:t>evidenciando</a:t>
            </a:r>
            <a:r>
              <a:rPr lang="en-GB" b="1" dirty="0"/>
              <a:t> </a:t>
            </a:r>
            <a:r>
              <a:rPr lang="en-GB" b="1" dirty="0" err="1"/>
              <a:t>una</a:t>
            </a:r>
            <a:r>
              <a:rPr lang="en-GB" b="1" dirty="0"/>
              <a:t> </a:t>
            </a:r>
            <a:r>
              <a:rPr lang="en-GB" b="1" dirty="0" err="1"/>
              <a:t>brecha</a:t>
            </a:r>
            <a:r>
              <a:rPr lang="en-GB" b="1" dirty="0"/>
              <a:t> </a:t>
            </a:r>
            <a:r>
              <a:rPr lang="en-GB" b="1" dirty="0" err="1"/>
              <a:t>funcional</a:t>
            </a:r>
            <a:r>
              <a:rPr lang="en-GB" b="1" dirty="0"/>
              <a:t> entre ambos </a:t>
            </a:r>
            <a:r>
              <a:rPr lang="en-GB" b="1" dirty="0" err="1"/>
              <a:t>enfoques</a:t>
            </a:r>
            <a:r>
              <a:rPr lang="en-GB" b="1" dirty="0"/>
              <a:t>.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8903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La </a:t>
            </a:r>
            <a:r>
              <a:rPr lang="en-GB" dirty="0" err="1"/>
              <a:t>salud</a:t>
            </a:r>
            <a:r>
              <a:rPr lang="en-GB" dirty="0"/>
              <a:t> de las </a:t>
            </a:r>
            <a:r>
              <a:rPr lang="en-GB" dirty="0" err="1"/>
              <a:t>herramientas</a:t>
            </a:r>
            <a:r>
              <a:rPr lang="en-GB" dirty="0"/>
              <a:t> SBOM no es </a:t>
            </a:r>
            <a:r>
              <a:rPr lang="en-GB" dirty="0" err="1"/>
              <a:t>uniforme</a:t>
            </a:r>
            <a:r>
              <a:rPr lang="en-GB" dirty="0"/>
              <a:t> y, </a:t>
            </a:r>
            <a:r>
              <a:rPr lang="en-GB" dirty="0" err="1"/>
              <a:t>como</a:t>
            </a:r>
            <a:r>
              <a:rPr lang="en-GB" dirty="0"/>
              <a:t> </a:t>
            </a:r>
            <a:r>
              <a:rPr lang="en-GB" dirty="0" err="1"/>
              <a:t>muestra</a:t>
            </a:r>
            <a:r>
              <a:rPr lang="en-GB" dirty="0"/>
              <a:t> la </a:t>
            </a:r>
            <a:r>
              <a:rPr lang="en-GB" dirty="0" err="1"/>
              <a:t>figura</a:t>
            </a:r>
            <a:r>
              <a:rPr lang="en-GB" dirty="0"/>
              <a:t>, las </a:t>
            </a:r>
            <a:r>
              <a:rPr lang="en-GB" dirty="0" err="1"/>
              <a:t>herramientas</a:t>
            </a:r>
            <a:r>
              <a:rPr lang="en-GB" dirty="0"/>
              <a:t> </a:t>
            </a:r>
            <a:r>
              <a:rPr lang="en-GB" dirty="0" err="1"/>
              <a:t>CycloneDX</a:t>
            </a:r>
            <a:r>
              <a:rPr lang="en-GB" dirty="0"/>
              <a:t> </a:t>
            </a:r>
            <a:r>
              <a:rPr lang="en-GB" dirty="0" err="1"/>
              <a:t>presentan</a:t>
            </a:r>
            <a:r>
              <a:rPr lang="en-GB" dirty="0"/>
              <a:t> </a:t>
            </a:r>
            <a:r>
              <a:rPr lang="en-GB" dirty="0" err="1"/>
              <a:t>consistentemente</a:t>
            </a:r>
            <a:r>
              <a:rPr lang="en-GB" dirty="0"/>
              <a:t> </a:t>
            </a:r>
            <a:r>
              <a:rPr lang="en-GB" dirty="0" err="1"/>
              <a:t>mayores</a:t>
            </a:r>
            <a:r>
              <a:rPr lang="en-GB" dirty="0"/>
              <a:t> </a:t>
            </a:r>
            <a:r>
              <a:rPr lang="en-GB" dirty="0" err="1"/>
              <a:t>niveles</a:t>
            </a:r>
            <a:r>
              <a:rPr lang="en-GB" dirty="0"/>
              <a:t> de </a:t>
            </a:r>
            <a:r>
              <a:rPr lang="en-GB" dirty="0" err="1"/>
              <a:t>actividad</a:t>
            </a:r>
            <a:r>
              <a:rPr lang="en-GB" dirty="0"/>
              <a:t> y </a:t>
            </a:r>
            <a:r>
              <a:rPr lang="en-GB" dirty="0" err="1"/>
              <a:t>participación</a:t>
            </a:r>
            <a:r>
              <a:rPr lang="en-GB" dirty="0"/>
              <a:t> de la comunidad, con </a:t>
            </a:r>
            <a:r>
              <a:rPr lang="en-GB" dirty="0" err="1"/>
              <a:t>más</a:t>
            </a:r>
            <a:r>
              <a:rPr lang="en-GB" dirty="0"/>
              <a:t> commits, contributors, pull requests, stars y forks </a:t>
            </a:r>
            <a:r>
              <a:rPr lang="en-GB" dirty="0" err="1"/>
              <a:t>que</a:t>
            </a:r>
            <a:r>
              <a:rPr lang="en-GB" dirty="0"/>
              <a:t> las </a:t>
            </a:r>
            <a:r>
              <a:rPr lang="en-GB" dirty="0" err="1"/>
              <a:t>herramientas</a:t>
            </a:r>
            <a:r>
              <a:rPr lang="en-GB" dirty="0"/>
              <a:t> SPDX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9896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La </a:t>
            </a:r>
            <a:r>
              <a:rPr lang="en-GB" dirty="0" err="1"/>
              <a:t>salud</a:t>
            </a:r>
            <a:r>
              <a:rPr lang="en-GB" dirty="0"/>
              <a:t> de las </a:t>
            </a:r>
            <a:r>
              <a:rPr lang="en-GB" dirty="0" err="1"/>
              <a:t>herramientas</a:t>
            </a:r>
            <a:r>
              <a:rPr lang="en-GB" dirty="0"/>
              <a:t> SBOM no es </a:t>
            </a:r>
            <a:r>
              <a:rPr lang="en-GB" dirty="0" err="1"/>
              <a:t>uniforme</a:t>
            </a:r>
            <a:r>
              <a:rPr lang="en-GB" dirty="0"/>
              <a:t> y, </a:t>
            </a:r>
            <a:r>
              <a:rPr lang="en-GB" dirty="0" err="1"/>
              <a:t>como</a:t>
            </a:r>
            <a:r>
              <a:rPr lang="en-GB" dirty="0"/>
              <a:t> </a:t>
            </a:r>
            <a:r>
              <a:rPr lang="en-GB" dirty="0" err="1"/>
              <a:t>muestra</a:t>
            </a:r>
            <a:r>
              <a:rPr lang="en-GB" dirty="0"/>
              <a:t> la </a:t>
            </a:r>
            <a:r>
              <a:rPr lang="en-GB" dirty="0" err="1"/>
              <a:t>figura</a:t>
            </a:r>
            <a:r>
              <a:rPr lang="en-GB" dirty="0"/>
              <a:t>, </a:t>
            </a:r>
            <a:r>
              <a:rPr lang="en-GB" dirty="0" err="1"/>
              <a:t>aunque</a:t>
            </a:r>
            <a:r>
              <a:rPr lang="en-GB" dirty="0"/>
              <a:t> ambos </a:t>
            </a:r>
            <a:r>
              <a:rPr lang="en-GB" dirty="0" err="1"/>
              <a:t>ecosistemas</a:t>
            </a:r>
            <a:r>
              <a:rPr lang="en-GB" dirty="0"/>
              <a:t> </a:t>
            </a:r>
            <a:r>
              <a:rPr lang="en-GB" dirty="0" err="1"/>
              <a:t>presentan</a:t>
            </a:r>
            <a:r>
              <a:rPr lang="en-GB" dirty="0"/>
              <a:t> </a:t>
            </a:r>
            <a:r>
              <a:rPr lang="en-GB" dirty="0" err="1"/>
              <a:t>patrones</a:t>
            </a:r>
            <a:r>
              <a:rPr lang="en-GB" dirty="0"/>
              <a:t> </a:t>
            </a:r>
            <a:r>
              <a:rPr lang="en-GB" dirty="0" err="1"/>
              <a:t>similares</a:t>
            </a:r>
            <a:r>
              <a:rPr lang="en-GB" dirty="0"/>
              <a:t> en </a:t>
            </a:r>
            <a:r>
              <a:rPr lang="en-GB" dirty="0" err="1"/>
              <a:t>los</a:t>
            </a:r>
            <a:r>
              <a:rPr lang="en-GB" dirty="0"/>
              <a:t> </a:t>
            </a:r>
            <a:r>
              <a:rPr lang="en-GB" dirty="0" err="1"/>
              <a:t>distintos</a:t>
            </a:r>
            <a:r>
              <a:rPr lang="en-GB" dirty="0"/>
              <a:t> </a:t>
            </a:r>
            <a:r>
              <a:rPr lang="en-GB" dirty="0" err="1"/>
              <a:t>niveles</a:t>
            </a:r>
            <a:r>
              <a:rPr lang="en-GB" dirty="0"/>
              <a:t> de </a:t>
            </a:r>
            <a:r>
              <a:rPr lang="en-GB" dirty="0" err="1"/>
              <a:t>contribución</a:t>
            </a:r>
            <a:r>
              <a:rPr lang="en-GB" dirty="0"/>
              <a:t>, SPDX </a:t>
            </a:r>
            <a:r>
              <a:rPr lang="en-GB" dirty="0" err="1"/>
              <a:t>tiende</a:t>
            </a:r>
            <a:r>
              <a:rPr lang="en-GB" dirty="0"/>
              <a:t> a </a:t>
            </a:r>
            <a:r>
              <a:rPr lang="en-GB" dirty="0" err="1"/>
              <a:t>concentrar</a:t>
            </a:r>
            <a:r>
              <a:rPr lang="en-GB" dirty="0"/>
              <a:t> </a:t>
            </a:r>
            <a:r>
              <a:rPr lang="en-GB" dirty="0" err="1"/>
              <a:t>más</a:t>
            </a:r>
            <a:r>
              <a:rPr lang="en-GB" dirty="0"/>
              <a:t> </a:t>
            </a:r>
            <a:r>
              <a:rPr lang="en-GB" dirty="0" err="1"/>
              <a:t>actividad</a:t>
            </a:r>
            <a:r>
              <a:rPr lang="en-GB" dirty="0"/>
              <a:t> en </a:t>
            </a:r>
            <a:r>
              <a:rPr lang="en-GB" dirty="0" err="1"/>
              <a:t>los</a:t>
            </a:r>
            <a:r>
              <a:rPr lang="en-GB" dirty="0"/>
              <a:t> </a:t>
            </a:r>
            <a:r>
              <a:rPr lang="en-GB" dirty="0" err="1"/>
              <a:t>extremos</a:t>
            </a:r>
            <a:r>
              <a:rPr lang="en-GB" dirty="0"/>
              <a:t> de baja y </a:t>
            </a:r>
            <a:r>
              <a:rPr lang="en-GB" dirty="0" err="1"/>
              <a:t>muy</a:t>
            </a:r>
            <a:r>
              <a:rPr lang="en-GB" dirty="0"/>
              <a:t> </a:t>
            </a:r>
            <a:r>
              <a:rPr lang="en-GB" dirty="0" err="1"/>
              <a:t>alta</a:t>
            </a:r>
            <a:r>
              <a:rPr lang="en-GB" dirty="0"/>
              <a:t> </a:t>
            </a:r>
            <a:r>
              <a:rPr lang="en-GB" dirty="0" err="1"/>
              <a:t>participación</a:t>
            </a:r>
            <a:r>
              <a:rPr lang="en-GB" dirty="0"/>
              <a:t>, </a:t>
            </a:r>
            <a:r>
              <a:rPr lang="en-GB" dirty="0" err="1"/>
              <a:t>mientras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CycloneDX</a:t>
            </a:r>
            <a:r>
              <a:rPr lang="en-GB" dirty="0"/>
              <a:t> </a:t>
            </a:r>
            <a:r>
              <a:rPr lang="en-GB" dirty="0" err="1"/>
              <a:t>presenta</a:t>
            </a:r>
            <a:r>
              <a:rPr lang="en-GB" dirty="0"/>
              <a:t> </a:t>
            </a:r>
            <a:r>
              <a:rPr lang="en-GB" dirty="0" err="1"/>
              <a:t>una</a:t>
            </a:r>
            <a:r>
              <a:rPr lang="en-GB" dirty="0"/>
              <a:t> </a:t>
            </a:r>
            <a:r>
              <a:rPr lang="en-GB" dirty="0" err="1"/>
              <a:t>distribución</a:t>
            </a:r>
            <a:r>
              <a:rPr lang="en-GB" dirty="0"/>
              <a:t> </a:t>
            </a:r>
            <a:r>
              <a:rPr lang="en-GB" dirty="0" err="1"/>
              <a:t>más</a:t>
            </a:r>
            <a:r>
              <a:rPr lang="en-GB" dirty="0"/>
              <a:t> </a:t>
            </a:r>
            <a:r>
              <a:rPr lang="en-GB" dirty="0" err="1"/>
              <a:t>equilibrada</a:t>
            </a:r>
            <a:r>
              <a:rPr lang="en-GB" dirty="0"/>
              <a:t> en </a:t>
            </a:r>
            <a:r>
              <a:rPr lang="en-GB" dirty="0" err="1"/>
              <a:t>rangos</a:t>
            </a:r>
            <a:r>
              <a:rPr lang="en-GB" dirty="0"/>
              <a:t> </a:t>
            </a:r>
            <a:r>
              <a:rPr lang="en-GB" dirty="0" err="1"/>
              <a:t>intermedios</a:t>
            </a:r>
            <a:endParaRPr lang="en-GB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0393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Las </a:t>
            </a:r>
            <a:r>
              <a:rPr lang="en-GB" dirty="0" err="1"/>
              <a:t>áreas</a:t>
            </a:r>
            <a:r>
              <a:rPr lang="en-GB" dirty="0"/>
              <a:t> de </a:t>
            </a:r>
            <a:r>
              <a:rPr lang="en-GB" dirty="0" err="1"/>
              <a:t>mejora</a:t>
            </a:r>
            <a:r>
              <a:rPr lang="en-GB" dirty="0"/>
              <a:t> en las </a:t>
            </a:r>
            <a:r>
              <a:rPr lang="en-GB" dirty="0" err="1"/>
              <a:t>herramientas</a:t>
            </a:r>
            <a:r>
              <a:rPr lang="en-GB" dirty="0"/>
              <a:t> SBOM se </a:t>
            </a:r>
            <a:r>
              <a:rPr lang="en-GB" dirty="0" err="1"/>
              <a:t>concentran</a:t>
            </a:r>
            <a:r>
              <a:rPr lang="en-GB" dirty="0"/>
              <a:t> en </a:t>
            </a:r>
            <a:r>
              <a:rPr lang="en-GB" dirty="0" err="1"/>
              <a:t>los</a:t>
            </a:r>
            <a:r>
              <a:rPr lang="en-GB" dirty="0"/>
              <a:t> </a:t>
            </a:r>
            <a:r>
              <a:rPr lang="en-GB" dirty="0" err="1"/>
              <a:t>problemas</a:t>
            </a:r>
            <a:r>
              <a:rPr lang="en-GB" dirty="0"/>
              <a:t> </a:t>
            </a:r>
            <a:r>
              <a:rPr lang="en-GB" dirty="0" err="1"/>
              <a:t>reportados</a:t>
            </a:r>
            <a:r>
              <a:rPr lang="en-GB" dirty="0"/>
              <a:t> en sus </a:t>
            </a:r>
            <a:r>
              <a:rPr lang="en-GB" dirty="0" err="1"/>
              <a:t>repositorios</a:t>
            </a:r>
            <a:r>
              <a:rPr lang="en-GB" dirty="0"/>
              <a:t> y, </a:t>
            </a:r>
            <a:r>
              <a:rPr lang="en-GB" dirty="0" err="1"/>
              <a:t>como</a:t>
            </a:r>
            <a:r>
              <a:rPr lang="en-GB" dirty="0"/>
              <a:t> </a:t>
            </a:r>
            <a:r>
              <a:rPr lang="en-GB" dirty="0" err="1"/>
              <a:t>muestra</a:t>
            </a:r>
            <a:r>
              <a:rPr lang="en-GB" dirty="0"/>
              <a:t> la </a:t>
            </a:r>
            <a:r>
              <a:rPr lang="en-GB" dirty="0" err="1"/>
              <a:t>figura</a:t>
            </a:r>
            <a:r>
              <a:rPr lang="en-GB" dirty="0"/>
              <a:t>, las </a:t>
            </a:r>
            <a:r>
              <a:rPr lang="en-GB" dirty="0" err="1"/>
              <a:t>herramientas</a:t>
            </a:r>
            <a:r>
              <a:rPr lang="en-GB" dirty="0"/>
              <a:t> </a:t>
            </a:r>
            <a:r>
              <a:rPr lang="en-GB" dirty="0" err="1"/>
              <a:t>CycloneDX</a:t>
            </a:r>
            <a:r>
              <a:rPr lang="en-GB" dirty="0"/>
              <a:t> </a:t>
            </a:r>
            <a:r>
              <a:rPr lang="en-GB" dirty="0" err="1"/>
              <a:t>presentan</a:t>
            </a:r>
            <a:r>
              <a:rPr lang="en-GB" dirty="0"/>
              <a:t> </a:t>
            </a:r>
            <a:r>
              <a:rPr lang="en-GB" dirty="0" err="1"/>
              <a:t>una</a:t>
            </a:r>
            <a:r>
              <a:rPr lang="en-GB" dirty="0"/>
              <a:t> mayor </a:t>
            </a:r>
            <a:r>
              <a:rPr lang="en-GB" dirty="0" err="1"/>
              <a:t>cantidad</a:t>
            </a:r>
            <a:r>
              <a:rPr lang="en-GB" dirty="0"/>
              <a:t> de issues tanto </a:t>
            </a:r>
            <a:r>
              <a:rPr lang="en-GB" dirty="0" err="1"/>
              <a:t>abiertos</a:t>
            </a:r>
            <a:r>
              <a:rPr lang="en-GB" dirty="0"/>
              <a:t> </a:t>
            </a:r>
            <a:r>
              <a:rPr lang="en-GB" dirty="0" err="1"/>
              <a:t>como</a:t>
            </a:r>
            <a:r>
              <a:rPr lang="en-GB" dirty="0"/>
              <a:t> </a:t>
            </a:r>
            <a:r>
              <a:rPr lang="en-GB" dirty="0" err="1"/>
              <a:t>cerrados</a:t>
            </a:r>
            <a:r>
              <a:rPr lang="en-GB" dirty="0"/>
              <a:t>, lo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refleja</a:t>
            </a:r>
            <a:r>
              <a:rPr lang="en-GB" dirty="0"/>
              <a:t> </a:t>
            </a:r>
            <a:r>
              <a:rPr lang="en-GB" dirty="0" err="1"/>
              <a:t>una</a:t>
            </a:r>
            <a:r>
              <a:rPr lang="en-GB" dirty="0"/>
              <a:t> mayor </a:t>
            </a:r>
            <a:r>
              <a:rPr lang="en-GB" dirty="0" err="1"/>
              <a:t>actividad</a:t>
            </a:r>
            <a:r>
              <a:rPr lang="en-GB" dirty="0"/>
              <a:t> </a:t>
            </a:r>
            <a:r>
              <a:rPr lang="en-GB" dirty="0" err="1"/>
              <a:t>pero</a:t>
            </a:r>
            <a:r>
              <a:rPr lang="en-GB" dirty="0"/>
              <a:t> también </a:t>
            </a:r>
            <a:r>
              <a:rPr lang="en-GB" dirty="0" err="1"/>
              <a:t>más</a:t>
            </a:r>
            <a:r>
              <a:rPr lang="en-GB" dirty="0"/>
              <a:t> </a:t>
            </a:r>
            <a:r>
              <a:rPr lang="en-GB" dirty="0" err="1"/>
              <a:t>desafíos</a:t>
            </a:r>
            <a:r>
              <a:rPr lang="en-GB" dirty="0"/>
              <a:t> </a:t>
            </a:r>
            <a:r>
              <a:rPr lang="en-GB" dirty="0" err="1"/>
              <a:t>por</a:t>
            </a:r>
            <a:r>
              <a:rPr lang="en-GB" dirty="0"/>
              <a:t> resolver en </a:t>
            </a:r>
            <a:r>
              <a:rPr lang="en-GB" dirty="0" err="1"/>
              <a:t>comparación</a:t>
            </a:r>
            <a:r>
              <a:rPr lang="en-GB" dirty="0"/>
              <a:t> con SPDX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3436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Las </a:t>
            </a:r>
            <a:r>
              <a:rPr lang="en-GB" dirty="0" err="1"/>
              <a:t>áreas</a:t>
            </a:r>
            <a:r>
              <a:rPr lang="en-GB" dirty="0"/>
              <a:t> de </a:t>
            </a:r>
            <a:r>
              <a:rPr lang="en-GB" dirty="0" err="1"/>
              <a:t>mejora</a:t>
            </a:r>
            <a:r>
              <a:rPr lang="en-GB" dirty="0"/>
              <a:t> no solo </a:t>
            </a:r>
            <a:r>
              <a:rPr lang="en-GB" dirty="0" err="1"/>
              <a:t>dependen</a:t>
            </a:r>
            <a:r>
              <a:rPr lang="en-GB" dirty="0"/>
              <a:t> del </a:t>
            </a:r>
            <a:r>
              <a:rPr lang="en-GB" dirty="0" err="1"/>
              <a:t>tipo</a:t>
            </a:r>
            <a:r>
              <a:rPr lang="en-GB" dirty="0"/>
              <a:t> de </a:t>
            </a:r>
            <a:r>
              <a:rPr lang="en-GB" dirty="0" err="1"/>
              <a:t>problema</a:t>
            </a:r>
            <a:r>
              <a:rPr lang="en-GB" dirty="0"/>
              <a:t>, </a:t>
            </a:r>
            <a:r>
              <a:rPr lang="en-GB" dirty="0" err="1"/>
              <a:t>sino</a:t>
            </a:r>
            <a:r>
              <a:rPr lang="en-GB" dirty="0"/>
              <a:t> también de </a:t>
            </a:r>
            <a:r>
              <a:rPr lang="en-GB" dirty="0" err="1"/>
              <a:t>su</a:t>
            </a:r>
            <a:r>
              <a:rPr lang="en-GB" dirty="0"/>
              <a:t> </a:t>
            </a:r>
            <a:r>
              <a:rPr lang="en-GB" dirty="0" err="1"/>
              <a:t>complejidad</a:t>
            </a:r>
            <a:r>
              <a:rPr lang="en-GB" dirty="0"/>
              <a:t>, y </a:t>
            </a:r>
            <a:r>
              <a:rPr lang="en-GB" dirty="0" err="1"/>
              <a:t>como</a:t>
            </a:r>
            <a:r>
              <a:rPr lang="en-GB" dirty="0"/>
              <a:t> </a:t>
            </a:r>
            <a:r>
              <a:rPr lang="en-GB" dirty="0" err="1"/>
              <a:t>muestra</a:t>
            </a:r>
            <a:r>
              <a:rPr lang="en-GB" dirty="0"/>
              <a:t> la </a:t>
            </a:r>
            <a:r>
              <a:rPr lang="en-GB" dirty="0" err="1"/>
              <a:t>figura</a:t>
            </a:r>
            <a:r>
              <a:rPr lang="en-GB" dirty="0"/>
              <a:t>, las </a:t>
            </a:r>
            <a:r>
              <a:rPr lang="en-GB" dirty="0" err="1"/>
              <a:t>herramientas</a:t>
            </a:r>
            <a:r>
              <a:rPr lang="en-GB" dirty="0"/>
              <a:t> </a:t>
            </a:r>
            <a:r>
              <a:rPr lang="en-GB" dirty="0" err="1"/>
              <a:t>CycloneDX</a:t>
            </a:r>
            <a:r>
              <a:rPr lang="en-GB" dirty="0"/>
              <a:t> </a:t>
            </a:r>
            <a:r>
              <a:rPr lang="en-GB" dirty="0" err="1"/>
              <a:t>tienden</a:t>
            </a:r>
            <a:r>
              <a:rPr lang="en-GB" dirty="0"/>
              <a:t> a resolver issues </a:t>
            </a:r>
            <a:r>
              <a:rPr lang="en-GB" dirty="0" err="1"/>
              <a:t>más</a:t>
            </a:r>
            <a:r>
              <a:rPr lang="en-GB" dirty="0"/>
              <a:t> </a:t>
            </a:r>
            <a:r>
              <a:rPr lang="en-GB" dirty="0" err="1"/>
              <a:t>rápido</a:t>
            </a:r>
            <a:r>
              <a:rPr lang="en-GB" dirty="0"/>
              <a:t> y de forma </a:t>
            </a:r>
            <a:r>
              <a:rPr lang="en-GB" dirty="0" err="1"/>
              <a:t>más</a:t>
            </a:r>
            <a:r>
              <a:rPr lang="en-GB" dirty="0"/>
              <a:t> </a:t>
            </a:r>
            <a:r>
              <a:rPr lang="en-GB" dirty="0" err="1"/>
              <a:t>consistente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las </a:t>
            </a:r>
            <a:r>
              <a:rPr lang="en-GB" dirty="0" err="1"/>
              <a:t>herramientas</a:t>
            </a:r>
            <a:r>
              <a:rPr lang="en-GB" dirty="0"/>
              <a:t> SPDX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716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Las </a:t>
            </a:r>
            <a:r>
              <a:rPr lang="en-GB" dirty="0" err="1"/>
              <a:t>áreas</a:t>
            </a:r>
            <a:r>
              <a:rPr lang="en-GB" dirty="0"/>
              <a:t> de </a:t>
            </a:r>
            <a:r>
              <a:rPr lang="en-GB" dirty="0" err="1"/>
              <a:t>mejora</a:t>
            </a:r>
            <a:r>
              <a:rPr lang="en-GB" dirty="0"/>
              <a:t> </a:t>
            </a:r>
            <a:r>
              <a:rPr lang="en-GB" dirty="0" err="1"/>
              <a:t>evolucionan</a:t>
            </a:r>
            <a:r>
              <a:rPr lang="en-GB" dirty="0"/>
              <a:t> en </a:t>
            </a:r>
            <a:r>
              <a:rPr lang="en-GB" dirty="0" err="1"/>
              <a:t>el</a:t>
            </a:r>
            <a:r>
              <a:rPr lang="en-GB" dirty="0"/>
              <a:t> </a:t>
            </a:r>
            <a:r>
              <a:rPr lang="en-GB" dirty="0" err="1"/>
              <a:t>tiempo</a:t>
            </a:r>
            <a:r>
              <a:rPr lang="en-GB" dirty="0"/>
              <a:t> y, </a:t>
            </a:r>
            <a:r>
              <a:rPr lang="en-GB" dirty="0" err="1"/>
              <a:t>como</a:t>
            </a:r>
            <a:r>
              <a:rPr lang="en-GB" dirty="0"/>
              <a:t> </a:t>
            </a:r>
            <a:r>
              <a:rPr lang="en-GB" dirty="0" err="1"/>
              <a:t>muestra</a:t>
            </a:r>
            <a:r>
              <a:rPr lang="en-GB" dirty="0"/>
              <a:t> la </a:t>
            </a:r>
            <a:r>
              <a:rPr lang="en-GB" dirty="0" err="1"/>
              <a:t>figura</a:t>
            </a:r>
            <a:r>
              <a:rPr lang="en-GB" dirty="0"/>
              <a:t>, ambos </a:t>
            </a:r>
            <a:r>
              <a:rPr lang="en-GB" dirty="0" err="1"/>
              <a:t>ecosistemas</a:t>
            </a:r>
            <a:r>
              <a:rPr lang="en-GB" dirty="0"/>
              <a:t> </a:t>
            </a:r>
            <a:r>
              <a:rPr lang="en-GB" dirty="0" err="1"/>
              <a:t>incrementan</a:t>
            </a:r>
            <a:r>
              <a:rPr lang="en-GB" dirty="0"/>
              <a:t> la </a:t>
            </a:r>
            <a:r>
              <a:rPr lang="en-GB" dirty="0" err="1"/>
              <a:t>cantidad</a:t>
            </a:r>
            <a:r>
              <a:rPr lang="en-GB" dirty="0"/>
              <a:t> de issues </a:t>
            </a:r>
            <a:r>
              <a:rPr lang="en-GB" dirty="0" err="1"/>
              <a:t>reportados</a:t>
            </a:r>
            <a:r>
              <a:rPr lang="en-GB" dirty="0"/>
              <a:t>, </a:t>
            </a:r>
            <a:r>
              <a:rPr lang="en-GB" dirty="0" err="1"/>
              <a:t>pero</a:t>
            </a:r>
            <a:r>
              <a:rPr lang="en-GB" dirty="0"/>
              <a:t> </a:t>
            </a:r>
            <a:r>
              <a:rPr lang="en-GB" dirty="0" err="1"/>
              <a:t>CycloneDX</a:t>
            </a:r>
            <a:r>
              <a:rPr lang="en-GB" dirty="0"/>
              <a:t> </a:t>
            </a:r>
            <a:r>
              <a:rPr lang="en-GB" dirty="0" err="1"/>
              <a:t>mantiene</a:t>
            </a:r>
            <a:r>
              <a:rPr lang="en-GB" dirty="0"/>
              <a:t> </a:t>
            </a:r>
            <a:r>
              <a:rPr lang="en-GB" dirty="0" err="1"/>
              <a:t>tiempos</a:t>
            </a:r>
            <a:r>
              <a:rPr lang="en-GB" dirty="0"/>
              <a:t> de </a:t>
            </a:r>
            <a:r>
              <a:rPr lang="en-GB" dirty="0" err="1"/>
              <a:t>resolución</a:t>
            </a:r>
            <a:r>
              <a:rPr lang="en-GB" dirty="0"/>
              <a:t> </a:t>
            </a:r>
            <a:r>
              <a:rPr lang="en-GB" dirty="0" err="1"/>
              <a:t>más</a:t>
            </a:r>
            <a:r>
              <a:rPr lang="en-GB" dirty="0"/>
              <a:t> </a:t>
            </a:r>
            <a:r>
              <a:rPr lang="en-GB" dirty="0" err="1"/>
              <a:t>bajos</a:t>
            </a:r>
            <a:r>
              <a:rPr lang="en-GB" dirty="0"/>
              <a:t> y </a:t>
            </a:r>
            <a:r>
              <a:rPr lang="en-GB" dirty="0" err="1"/>
              <a:t>estables</a:t>
            </a:r>
            <a:r>
              <a:rPr lang="en-GB" dirty="0"/>
              <a:t>, </a:t>
            </a:r>
            <a:r>
              <a:rPr lang="en-GB" dirty="0" err="1"/>
              <a:t>mientras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SPDX </a:t>
            </a:r>
            <a:r>
              <a:rPr lang="en-GB" dirty="0" err="1"/>
              <a:t>presenta</a:t>
            </a:r>
            <a:r>
              <a:rPr lang="en-GB" dirty="0"/>
              <a:t> mayor </a:t>
            </a:r>
            <a:r>
              <a:rPr lang="en-GB" dirty="0" err="1"/>
              <a:t>variabilidad</a:t>
            </a:r>
            <a:r>
              <a:rPr lang="en-GB" dirty="0"/>
              <a:t> y </a:t>
            </a:r>
            <a:r>
              <a:rPr lang="en-GB" dirty="0" err="1"/>
              <a:t>tendencia</a:t>
            </a:r>
            <a:r>
              <a:rPr lang="en-GB" dirty="0"/>
              <a:t> a </a:t>
            </a:r>
            <a:r>
              <a:rPr lang="en-GB" dirty="0" err="1"/>
              <a:t>tiempos</a:t>
            </a:r>
            <a:r>
              <a:rPr lang="en-GB" dirty="0"/>
              <a:t> </a:t>
            </a:r>
            <a:r>
              <a:rPr lang="en-GB" dirty="0" err="1"/>
              <a:t>más</a:t>
            </a:r>
            <a:r>
              <a:rPr lang="en-GB" dirty="0"/>
              <a:t> altos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6705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Las </a:t>
            </a:r>
            <a:r>
              <a:rPr lang="en-GB" dirty="0" err="1"/>
              <a:t>áreas</a:t>
            </a:r>
            <a:r>
              <a:rPr lang="en-GB" dirty="0"/>
              <a:t> de </a:t>
            </a:r>
            <a:r>
              <a:rPr lang="en-GB" dirty="0" err="1"/>
              <a:t>mejora</a:t>
            </a:r>
            <a:r>
              <a:rPr lang="en-GB" dirty="0"/>
              <a:t> son </a:t>
            </a:r>
            <a:r>
              <a:rPr lang="en-GB" dirty="0" err="1"/>
              <a:t>distintas</a:t>
            </a:r>
            <a:r>
              <a:rPr lang="en-GB" dirty="0"/>
              <a:t> </a:t>
            </a:r>
            <a:r>
              <a:rPr lang="en-GB" dirty="0" err="1"/>
              <a:t>por</a:t>
            </a:r>
            <a:r>
              <a:rPr lang="en-GB" dirty="0"/>
              <a:t> </a:t>
            </a:r>
            <a:r>
              <a:rPr lang="en-GB" dirty="0" err="1"/>
              <a:t>ecosistema</a:t>
            </a:r>
            <a:r>
              <a:rPr lang="en-GB" dirty="0"/>
              <a:t>: en </a:t>
            </a:r>
            <a:r>
              <a:rPr lang="en-GB" dirty="0" err="1"/>
              <a:t>CycloneDX</a:t>
            </a:r>
            <a:r>
              <a:rPr lang="en-GB" dirty="0"/>
              <a:t> </a:t>
            </a:r>
            <a:r>
              <a:rPr lang="en-GB" dirty="0" err="1"/>
              <a:t>predominan</a:t>
            </a:r>
            <a:r>
              <a:rPr lang="en-GB" dirty="0"/>
              <a:t> </a:t>
            </a:r>
            <a:r>
              <a:rPr lang="en-GB" dirty="0" err="1"/>
              <a:t>los</a:t>
            </a:r>
            <a:r>
              <a:rPr lang="en-GB" dirty="0"/>
              <a:t> bugs y </a:t>
            </a:r>
            <a:r>
              <a:rPr lang="en-GB" dirty="0" err="1"/>
              <a:t>defectos</a:t>
            </a:r>
            <a:r>
              <a:rPr lang="en-GB" dirty="0"/>
              <a:t>, </a:t>
            </a:r>
            <a:r>
              <a:rPr lang="en-GB" dirty="0" err="1"/>
              <a:t>mientras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en SPDX </a:t>
            </a:r>
            <a:r>
              <a:rPr lang="en-GB" dirty="0" err="1"/>
              <a:t>aparecen</a:t>
            </a:r>
            <a:r>
              <a:rPr lang="en-GB" dirty="0"/>
              <a:t> con </a:t>
            </a:r>
            <a:r>
              <a:rPr lang="en-GB" dirty="0" err="1"/>
              <a:t>más</a:t>
            </a:r>
            <a:r>
              <a:rPr lang="en-GB" dirty="0"/>
              <a:t> </a:t>
            </a:r>
            <a:r>
              <a:rPr lang="en-GB" dirty="0" err="1"/>
              <a:t>fuerza</a:t>
            </a:r>
            <a:r>
              <a:rPr lang="en-GB" dirty="0"/>
              <a:t> las </a:t>
            </a:r>
            <a:r>
              <a:rPr lang="en-GB" dirty="0" err="1"/>
              <a:t>mejoras</a:t>
            </a:r>
            <a:r>
              <a:rPr lang="en-GB" dirty="0"/>
              <a:t> </a:t>
            </a:r>
            <a:r>
              <a:rPr lang="en-GB" dirty="0" err="1"/>
              <a:t>funcionales</a:t>
            </a:r>
            <a:r>
              <a:rPr lang="en-GB" dirty="0"/>
              <a:t>, </a:t>
            </a:r>
            <a:r>
              <a:rPr lang="en-GB" dirty="0" err="1"/>
              <a:t>los</a:t>
            </a:r>
            <a:r>
              <a:rPr lang="en-GB" dirty="0"/>
              <a:t> </a:t>
            </a:r>
            <a:r>
              <a:rPr lang="en-GB" dirty="0" err="1"/>
              <a:t>componentes</a:t>
            </a:r>
            <a:r>
              <a:rPr lang="en-GB" dirty="0"/>
              <a:t> de </a:t>
            </a:r>
            <a:r>
              <a:rPr lang="en-GB" dirty="0" err="1"/>
              <a:t>código</a:t>
            </a:r>
            <a:r>
              <a:rPr lang="en-GB" dirty="0"/>
              <a:t> y </a:t>
            </a:r>
            <a:r>
              <a:rPr lang="en-GB" dirty="0" err="1"/>
              <a:t>el</a:t>
            </a:r>
            <a:r>
              <a:rPr lang="en-GB" dirty="0"/>
              <a:t> </a:t>
            </a:r>
            <a:r>
              <a:rPr lang="en-GB" dirty="0" err="1"/>
              <a:t>licenciamiento</a:t>
            </a:r>
            <a:r>
              <a:rPr lang="en-GB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618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La </a:t>
            </a:r>
            <a:r>
              <a:rPr lang="en-GB" dirty="0" err="1"/>
              <a:t>figura</a:t>
            </a:r>
            <a:r>
              <a:rPr lang="en-GB" dirty="0"/>
              <a:t> </a:t>
            </a:r>
            <a:r>
              <a:rPr lang="en-GB" dirty="0" err="1"/>
              <a:t>muestra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no hay un </a:t>
            </a:r>
            <a:r>
              <a:rPr lang="en-GB" dirty="0" err="1"/>
              <a:t>ecosistema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resuelva</a:t>
            </a:r>
            <a:r>
              <a:rPr lang="en-GB" dirty="0"/>
              <a:t> </a:t>
            </a:r>
            <a:r>
              <a:rPr lang="en-GB" dirty="0" err="1"/>
              <a:t>todo</a:t>
            </a:r>
            <a:r>
              <a:rPr lang="en-GB" dirty="0"/>
              <a:t> </a:t>
            </a:r>
            <a:r>
              <a:rPr lang="en-GB" dirty="0" err="1"/>
              <a:t>mejor</a:t>
            </a:r>
            <a:r>
              <a:rPr lang="en-GB" dirty="0"/>
              <a:t>: </a:t>
            </a:r>
            <a:r>
              <a:rPr lang="en-GB" dirty="0" err="1"/>
              <a:t>CycloneDX</a:t>
            </a:r>
            <a:r>
              <a:rPr lang="en-GB" dirty="0"/>
              <a:t> </a:t>
            </a:r>
            <a:r>
              <a:rPr lang="en-GB" dirty="0" err="1"/>
              <a:t>resuelve</a:t>
            </a:r>
            <a:r>
              <a:rPr lang="en-GB" dirty="0"/>
              <a:t> </a:t>
            </a:r>
            <a:r>
              <a:rPr lang="en-GB" dirty="0" err="1"/>
              <a:t>más</a:t>
            </a:r>
            <a:r>
              <a:rPr lang="en-GB" dirty="0"/>
              <a:t> </a:t>
            </a:r>
            <a:r>
              <a:rPr lang="en-GB" dirty="0" err="1"/>
              <a:t>rápido</a:t>
            </a:r>
            <a:r>
              <a:rPr lang="en-GB" dirty="0"/>
              <a:t> bugs, CI/CD, </a:t>
            </a:r>
            <a:r>
              <a:rPr lang="en-GB" dirty="0" err="1"/>
              <a:t>funcionalidades</a:t>
            </a:r>
            <a:r>
              <a:rPr lang="en-GB" dirty="0"/>
              <a:t> e </a:t>
            </a:r>
            <a:r>
              <a:rPr lang="en-GB" dirty="0" err="1"/>
              <a:t>interfaz</a:t>
            </a:r>
            <a:r>
              <a:rPr lang="en-GB" dirty="0"/>
              <a:t>, </a:t>
            </a:r>
            <a:r>
              <a:rPr lang="en-GB" dirty="0" err="1"/>
              <a:t>mientras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SPDX </a:t>
            </a:r>
            <a:r>
              <a:rPr lang="en-GB" dirty="0" err="1"/>
              <a:t>resuelve</a:t>
            </a:r>
            <a:r>
              <a:rPr lang="en-GB" dirty="0"/>
              <a:t> </a:t>
            </a:r>
            <a:r>
              <a:rPr lang="en-GB" dirty="0" err="1"/>
              <a:t>más</a:t>
            </a:r>
            <a:r>
              <a:rPr lang="en-GB" dirty="0"/>
              <a:t> </a:t>
            </a:r>
            <a:r>
              <a:rPr lang="en-GB" dirty="0" err="1"/>
              <a:t>rápido</a:t>
            </a:r>
            <a:r>
              <a:rPr lang="en-GB" dirty="0"/>
              <a:t> </a:t>
            </a:r>
            <a:r>
              <a:rPr lang="en-GB" dirty="0" err="1"/>
              <a:t>licenciamiento</a:t>
            </a:r>
            <a:r>
              <a:rPr lang="en-GB" dirty="0"/>
              <a:t>, </a:t>
            </a:r>
            <a:r>
              <a:rPr lang="en-GB" dirty="0" err="1"/>
              <a:t>librerías</a:t>
            </a:r>
            <a:r>
              <a:rPr lang="en-GB" dirty="0"/>
              <a:t> y </a:t>
            </a:r>
            <a:r>
              <a:rPr lang="en-GB" dirty="0" err="1"/>
              <a:t>componentes</a:t>
            </a:r>
            <a:r>
              <a:rPr lang="en-GB" dirty="0"/>
              <a:t> de </a:t>
            </a:r>
            <a:r>
              <a:rPr lang="en-GB" dirty="0" err="1"/>
              <a:t>código</a:t>
            </a:r>
            <a:r>
              <a:rPr lang="en-GB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4317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La </a:t>
            </a:r>
            <a:r>
              <a:rPr lang="en-GB" dirty="0" err="1"/>
              <a:t>figura</a:t>
            </a:r>
            <a:r>
              <a:rPr lang="en-GB" dirty="0"/>
              <a:t> </a:t>
            </a:r>
            <a:r>
              <a:rPr lang="en-GB" dirty="0" err="1"/>
              <a:t>muestra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los</a:t>
            </a:r>
            <a:r>
              <a:rPr lang="en-GB" dirty="0"/>
              <a:t> </a:t>
            </a:r>
            <a:r>
              <a:rPr lang="en-GB" dirty="0" err="1"/>
              <a:t>proyectos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usan</a:t>
            </a:r>
            <a:r>
              <a:rPr lang="en-GB" dirty="0"/>
              <a:t> </a:t>
            </a:r>
            <a:r>
              <a:rPr lang="en-GB" dirty="0" err="1"/>
              <a:t>herramientas</a:t>
            </a:r>
            <a:r>
              <a:rPr lang="en-GB" dirty="0"/>
              <a:t> </a:t>
            </a:r>
            <a:r>
              <a:rPr lang="en-GB" dirty="0" err="1"/>
              <a:t>CycloneDX</a:t>
            </a:r>
            <a:r>
              <a:rPr lang="en-GB" dirty="0"/>
              <a:t> </a:t>
            </a:r>
            <a:r>
              <a:rPr lang="en-GB" dirty="0" err="1"/>
              <a:t>presentan</a:t>
            </a:r>
            <a:r>
              <a:rPr lang="en-GB" dirty="0"/>
              <a:t> </a:t>
            </a:r>
            <a:r>
              <a:rPr lang="en-GB" dirty="0" err="1"/>
              <a:t>consistentemente</a:t>
            </a:r>
            <a:r>
              <a:rPr lang="en-GB" dirty="0"/>
              <a:t> </a:t>
            </a:r>
            <a:r>
              <a:rPr lang="en-GB" dirty="0" err="1"/>
              <a:t>mayores</a:t>
            </a:r>
            <a:r>
              <a:rPr lang="en-GB" dirty="0"/>
              <a:t> </a:t>
            </a:r>
            <a:r>
              <a:rPr lang="en-GB" dirty="0" err="1"/>
              <a:t>niveles</a:t>
            </a:r>
            <a:r>
              <a:rPr lang="en-GB" dirty="0"/>
              <a:t> de </a:t>
            </a:r>
            <a:r>
              <a:rPr lang="en-GB" dirty="0" err="1"/>
              <a:t>actividad</a:t>
            </a:r>
            <a:r>
              <a:rPr lang="en-GB" dirty="0"/>
              <a:t> y engagement, con </a:t>
            </a:r>
            <a:r>
              <a:rPr lang="en-GB" dirty="0" err="1"/>
              <a:t>más</a:t>
            </a:r>
            <a:r>
              <a:rPr lang="en-GB" dirty="0"/>
              <a:t> pull requests, commits, contributors, stars y forks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los</a:t>
            </a:r>
            <a:r>
              <a:rPr lang="en-GB" dirty="0"/>
              <a:t> </a:t>
            </a:r>
            <a:r>
              <a:rPr lang="en-GB" dirty="0" err="1"/>
              <a:t>proyectos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usan</a:t>
            </a:r>
            <a:r>
              <a:rPr lang="en-GB" dirty="0"/>
              <a:t> SPDX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0215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7032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73773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20007B-74B6-7545-B924-98D6D24D215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8408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6E543-96B1-D4B3-E4DB-885DDEC639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C48DD7-62D0-7471-2E58-5F301DF5DE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292780-0C28-1008-AD38-CE9D825FB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0F0A66-B975-7049-ACD1-7940555CB459}" type="datetime1">
              <a:rPr lang="de-CH" smtClean="0"/>
              <a:t>04.05.26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D1AE3-E729-C4E3-CF9C-C4CC9314E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83B70-1E59-6A4A-B209-99EE710A9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241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62756-B2D7-05EB-A56E-B7C755923C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F0AB6-948B-4051-4B44-E8AB291CB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E900B1-B869-F7CC-7F85-808FA4A3E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A4375-7BF5-A44C-974D-8B589BCF9DB6}" type="datetime1">
              <a:rPr lang="de-CH" smtClean="0"/>
              <a:t>04.05.26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82226-0895-45B7-75F5-0E9B26491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E59E0-0E33-164F-8A36-36E2F5470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145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C109D-150F-E5B4-52BB-6D4F9574F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47A666-0167-54A5-FB82-6C500700B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52B2D-5A6C-D64B-1F4F-BFC144488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FDE0D-CED3-3F4D-9954-5F5435DC157F}" type="datetime1">
              <a:rPr lang="de-CH" smtClean="0"/>
              <a:t>04.05.26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35C6C-3E48-093C-4F6C-25A4B71AB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84CC1-4721-F74A-8B32-84087E087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520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2A5E3-2CDD-175D-7E0A-C86FF2D75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504024-45FA-11F5-D4A3-83499B7203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63FDB4-523C-DD22-B261-B7C7DE347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DFD904-3966-1353-6A3A-E31A055B1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64C842-9741-A148-B8F4-FDD5A76AF874}" type="datetime1">
              <a:rPr lang="de-CH" smtClean="0"/>
              <a:t>04.05.26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A11BD8-17F5-C923-82CF-2FE57279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C67ED6-3305-6D48-8F59-0CF2467A6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162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65211-A8FA-3636-3AC9-8D16F6606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E3E5B3-B44C-2ACA-5161-C6C1BC70F5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BA2802-FC2B-CBCE-144F-71AE01D48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22FDE3-9BAE-8599-364E-D425A40ECD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193ABC-23FD-5B76-F7E9-9B8E4766F3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36AA57-8B5F-E347-061B-CB37C9E34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9C0BC-53B6-DE40-A7FD-9252039E0E16}" type="datetime1">
              <a:rPr lang="de-CH" smtClean="0"/>
              <a:t>04.05.26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CA6418-F392-A7F7-080A-A49ACAEBF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6E6286-0E1A-F3C4-4F12-014758609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018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A64E7-1956-F5B2-9BDE-659186A4A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C3DF30-1355-D62B-C031-B510B82ECC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4842F-B2A2-2A45-8E45-68D4C71C989C}" type="datetime1">
              <a:rPr lang="de-CH" smtClean="0"/>
              <a:t>04.05.26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7750E8-3E7C-4459-2D8D-76DE0E9A2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998C38-3A7E-7EA4-649B-2F8B4D71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231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42184E-B896-C832-5DE8-E2765AB4F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D6AD2-5AAB-B24C-A2FA-09DF5A91DEBC}" type="datetime1">
              <a:rPr lang="de-CH" smtClean="0"/>
              <a:t>04.05.26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5EA6E8-3EBF-6DC0-6924-66B296CF4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6DBDE8-E773-BE2D-A312-635996340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204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21EFD-AF17-7431-FF92-6A4EBC1F6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BEEFB-0C20-4928-A274-B492E1D18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8BBF22-5286-E95A-AA89-FD75F8A71F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45430D-F25F-F840-0F01-76DFD8CAC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E1904-7D9E-9542-9EDA-D99FD446851A}" type="datetime1">
              <a:rPr lang="de-CH" smtClean="0"/>
              <a:t>04.05.26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71F496-4086-BAEE-036E-EC1A16ECF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BBBD4D-AC77-A2F9-968B-9C71539D0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8213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31D656-2AC3-9423-6351-21F4B15DB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7413E0-35DC-327A-0E36-BD8753EF33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C93139-B52D-FADD-61E1-5D83A6ED68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072D68-839C-6D91-8DAB-586BC5378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40CBA-00C3-454A-9E3C-0BF75F4A52E7}" type="datetime1">
              <a:rPr lang="de-CH" smtClean="0"/>
              <a:t>04.05.26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8D9704-E98E-8E5A-007B-7E479E75E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7E358-178D-67B8-980B-D0D2E9669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445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7F7A0-032A-7A77-E1FC-82FEBD71A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C79680-88D0-C41F-BEF7-10CECED394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45B369-0265-DE20-823D-BCE1BCAFF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D2EDE5-8D27-9E4E-80C3-5B9C418987DC}" type="datetime1">
              <a:rPr lang="de-CH" smtClean="0"/>
              <a:t>04.05.26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F6FBC7-DBB4-0637-3D7E-E9866A55A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3D2D4-B8FD-2522-201E-DEABD6FF0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773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83F2BB-9B80-CCA0-8DC7-0318BE665A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5653B9-DF95-9646-47F5-A7FB13A13E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316C3-1247-CA60-2B53-8E3589392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95308-1835-9B4D-B335-3C427449A7BD}" type="datetime1">
              <a:rPr lang="de-CH" smtClean="0"/>
              <a:t>04.05.26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E9FCF-4B09-D1F8-1E2A-3E1458280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B07E6-CBA4-9C2A-3B56-8E0A1124E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927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DB2A47-1032-B976-7ACD-5F8FD079B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E3C394-B033-B704-B1ED-ECA032BEC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C96A5-9E61-F999-25FF-394583D014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D5C4B0-6281-4242-BB76-58DF8477EB26}" type="datetime1">
              <a:rPr lang="de-CH" smtClean="0"/>
              <a:t>04.05.26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FEC72-7879-4A00-B34C-38E3D6E4D0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29A7E-DC66-031E-0DDA-7A58416A3A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F8B382-0C32-8B4F-B89D-CA91991BD1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24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05997-A283-B1A5-CA3C-FA789F4A77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Producción</a:t>
            </a:r>
            <a:r>
              <a:rPr lang="en-US" dirty="0"/>
              <a:t> de Software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061AC4-3B0E-0B00-B477-952C5CF3E7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Pablo Valenzuela</a:t>
            </a:r>
          </a:p>
          <a:p>
            <a:r>
              <a:rPr lang="en-US" dirty="0"/>
              <a:t>4 Mayo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A295B-25A6-0FA2-CA73-D314CAFCA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678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469D7-28CB-24A2-F03F-6BA110595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F861D-ECB2-2C9E-D3D4-208AC21A6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The State of the SBOM Tool Ecosystems: A Comparative Analysis of SPDX and </a:t>
            </a:r>
            <a:r>
              <a:rPr lang="en-US" dirty="0" err="1"/>
              <a:t>CycloneDX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1DF66-6577-6079-77DB-AB17DDC58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8819"/>
            <a:ext cx="10515600" cy="4188143"/>
          </a:xfrm>
        </p:spPr>
        <p:txBody>
          <a:bodyPr anchor="ctr">
            <a:normAutofit/>
          </a:bodyPr>
          <a:lstStyle/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GB" b="1" dirty="0"/>
              <a:t>RQ1:</a:t>
            </a:r>
            <a:r>
              <a:rPr lang="en-GB" dirty="0"/>
              <a:t> ¿</a:t>
            </a:r>
            <a:r>
              <a:rPr lang="en-GB" dirty="0" err="1"/>
              <a:t>Qué</a:t>
            </a:r>
            <a:r>
              <a:rPr lang="en-GB" dirty="0"/>
              <a:t> </a:t>
            </a:r>
            <a:r>
              <a:rPr lang="en-GB" dirty="0" err="1"/>
              <a:t>casos</a:t>
            </a:r>
            <a:r>
              <a:rPr lang="en-GB" dirty="0"/>
              <a:t> de </a:t>
            </a:r>
            <a:r>
              <a:rPr lang="en-GB" dirty="0" err="1"/>
              <a:t>uso</a:t>
            </a:r>
            <a:r>
              <a:rPr lang="en-GB" dirty="0"/>
              <a:t> </a:t>
            </a:r>
            <a:r>
              <a:rPr lang="en-GB" dirty="0" err="1"/>
              <a:t>soportan</a:t>
            </a:r>
            <a:r>
              <a:rPr lang="en-GB" dirty="0"/>
              <a:t> las </a:t>
            </a:r>
            <a:r>
              <a:rPr lang="en-GB" dirty="0" err="1"/>
              <a:t>herramientas</a:t>
            </a:r>
            <a:r>
              <a:rPr lang="en-GB" dirty="0"/>
              <a:t> SBOM </a:t>
            </a:r>
            <a:r>
              <a:rPr lang="en-GB" dirty="0" err="1"/>
              <a:t>actuales</a:t>
            </a:r>
            <a:r>
              <a:rPr lang="en-GB" dirty="0"/>
              <a:t>?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GB" b="1" dirty="0"/>
              <a:t>RQ2:</a:t>
            </a:r>
            <a:r>
              <a:rPr lang="en-GB" dirty="0"/>
              <a:t> ¿</a:t>
            </a:r>
            <a:r>
              <a:rPr lang="en-GB" dirty="0" err="1"/>
              <a:t>Cómo</a:t>
            </a:r>
            <a:r>
              <a:rPr lang="en-GB" dirty="0"/>
              <a:t> se </a:t>
            </a:r>
            <a:r>
              <a:rPr lang="en-GB" dirty="0" err="1"/>
              <a:t>distribuye</a:t>
            </a:r>
            <a:r>
              <a:rPr lang="en-GB" dirty="0"/>
              <a:t> la </a:t>
            </a:r>
            <a:r>
              <a:rPr lang="en-GB" dirty="0" err="1"/>
              <a:t>salud</a:t>
            </a:r>
            <a:r>
              <a:rPr lang="en-GB" dirty="0"/>
              <a:t> de las </a:t>
            </a:r>
            <a:r>
              <a:rPr lang="en-GB" dirty="0" err="1"/>
              <a:t>herramientas</a:t>
            </a:r>
            <a:r>
              <a:rPr lang="en-GB" dirty="0"/>
              <a:t> SBOM de </a:t>
            </a:r>
            <a:r>
              <a:rPr lang="en-GB" dirty="0" err="1"/>
              <a:t>código</a:t>
            </a:r>
            <a:r>
              <a:rPr lang="en-GB" dirty="0"/>
              <a:t> </a:t>
            </a:r>
            <a:r>
              <a:rPr lang="en-GB" dirty="0" err="1"/>
              <a:t>abierto</a:t>
            </a:r>
            <a:r>
              <a:rPr lang="en-GB" dirty="0"/>
              <a:t> </a:t>
            </a:r>
            <a:r>
              <a:rPr lang="en-GB" dirty="0" err="1"/>
              <a:t>actuales</a:t>
            </a:r>
            <a:r>
              <a:rPr lang="en-GB" dirty="0"/>
              <a:t>?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GB" b="1" dirty="0"/>
              <a:t>RQ3:</a:t>
            </a:r>
            <a:r>
              <a:rPr lang="en-GB" dirty="0"/>
              <a:t> ¿</a:t>
            </a:r>
            <a:r>
              <a:rPr lang="en-GB" dirty="0" err="1"/>
              <a:t>Cuáles</a:t>
            </a:r>
            <a:r>
              <a:rPr lang="en-GB" dirty="0"/>
              <a:t> son las </a:t>
            </a:r>
            <a:r>
              <a:rPr lang="en-GB" dirty="0" err="1"/>
              <a:t>áreas</a:t>
            </a:r>
            <a:r>
              <a:rPr lang="en-GB" dirty="0"/>
              <a:t> de </a:t>
            </a:r>
            <a:r>
              <a:rPr lang="en-GB" dirty="0" err="1"/>
              <a:t>mejora</a:t>
            </a:r>
            <a:r>
              <a:rPr lang="en-GB" dirty="0"/>
              <a:t> en las </a:t>
            </a:r>
            <a:r>
              <a:rPr lang="en-GB" dirty="0" err="1"/>
              <a:t>herramientas</a:t>
            </a:r>
            <a:r>
              <a:rPr lang="en-GB" dirty="0"/>
              <a:t> SBOM de </a:t>
            </a:r>
            <a:r>
              <a:rPr lang="en-GB" dirty="0" err="1"/>
              <a:t>código</a:t>
            </a:r>
            <a:r>
              <a:rPr lang="en-GB" dirty="0"/>
              <a:t> </a:t>
            </a:r>
            <a:r>
              <a:rPr lang="en-GB" dirty="0" err="1"/>
              <a:t>abierto</a:t>
            </a:r>
            <a:r>
              <a:rPr lang="en-GB" dirty="0"/>
              <a:t>?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en-GB" b="1" dirty="0"/>
              <a:t>RQ4:</a:t>
            </a:r>
            <a:r>
              <a:rPr lang="en-GB" dirty="0"/>
              <a:t> ¿</a:t>
            </a:r>
            <a:r>
              <a:rPr lang="en-GB" dirty="0" err="1"/>
              <a:t>Cómo</a:t>
            </a:r>
            <a:r>
              <a:rPr lang="en-GB" dirty="0"/>
              <a:t> se </a:t>
            </a:r>
            <a:r>
              <a:rPr lang="en-GB" dirty="0" err="1"/>
              <a:t>distribuye</a:t>
            </a:r>
            <a:r>
              <a:rPr lang="en-GB" dirty="0"/>
              <a:t> la </a:t>
            </a:r>
            <a:r>
              <a:rPr lang="en-GB" dirty="0" err="1"/>
              <a:t>salud</a:t>
            </a:r>
            <a:r>
              <a:rPr lang="en-GB" dirty="0"/>
              <a:t> de </a:t>
            </a:r>
            <a:r>
              <a:rPr lang="en-GB" dirty="0" err="1"/>
              <a:t>los</a:t>
            </a:r>
            <a:r>
              <a:rPr lang="en-GB" dirty="0"/>
              <a:t> </a:t>
            </a:r>
            <a:r>
              <a:rPr lang="en-GB" dirty="0" err="1"/>
              <a:t>proyectos</a:t>
            </a:r>
            <a:r>
              <a:rPr lang="en-GB" dirty="0"/>
              <a:t> de GitHub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usan</a:t>
            </a:r>
            <a:r>
              <a:rPr lang="en-GB" dirty="0"/>
              <a:t> </a:t>
            </a:r>
            <a:r>
              <a:rPr lang="en-GB" dirty="0" err="1"/>
              <a:t>herramientas</a:t>
            </a:r>
            <a:r>
              <a:rPr lang="en-GB" dirty="0"/>
              <a:t> SBOM?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6E42F-C158-65E3-17D3-D04C48A51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656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17933-4A48-025B-FEDF-A3C2E1DE3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The State of the SBOM Tool Ecosystems: A Comparative Analysis of SPDX and </a:t>
            </a:r>
            <a:r>
              <a:rPr lang="en-GB" b="1" dirty="0" err="1"/>
              <a:t>CycloneDX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0937E-1FFC-8F94-6799-F776588F7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3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3C7087-3CCE-582C-A6BC-7747A96D9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13" y="1690688"/>
            <a:ext cx="10061574" cy="503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032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3F6A9-0296-F8B9-44BC-957AC11DE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CFDD2-B4BC-5E21-F167-1695822DD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365125"/>
            <a:ext cx="11521440" cy="1325563"/>
          </a:xfrm>
        </p:spPr>
        <p:txBody>
          <a:bodyPr>
            <a:normAutofit/>
          </a:bodyPr>
          <a:lstStyle/>
          <a:p>
            <a:r>
              <a:rPr lang="en-GB" sz="3600" b="1" dirty="0"/>
              <a:t>RQ1:</a:t>
            </a:r>
            <a:r>
              <a:rPr lang="en-GB" sz="3600" dirty="0"/>
              <a:t> ¿</a:t>
            </a:r>
            <a:r>
              <a:rPr lang="en-GB" sz="3600" dirty="0" err="1"/>
              <a:t>Qué</a:t>
            </a:r>
            <a:r>
              <a:rPr lang="en-GB" sz="3600" dirty="0"/>
              <a:t> </a:t>
            </a:r>
            <a:r>
              <a:rPr lang="en-GB" sz="3600" dirty="0" err="1"/>
              <a:t>casos</a:t>
            </a:r>
            <a:r>
              <a:rPr lang="en-GB" sz="3600" dirty="0"/>
              <a:t> de </a:t>
            </a:r>
            <a:r>
              <a:rPr lang="en-GB" sz="3600" dirty="0" err="1"/>
              <a:t>uso</a:t>
            </a:r>
            <a:r>
              <a:rPr lang="en-GB" sz="3600" dirty="0"/>
              <a:t> </a:t>
            </a:r>
            <a:r>
              <a:rPr lang="en-GB" sz="3600" dirty="0" err="1"/>
              <a:t>soportan</a:t>
            </a:r>
            <a:r>
              <a:rPr lang="en-GB" sz="3600" dirty="0"/>
              <a:t> las </a:t>
            </a:r>
            <a:r>
              <a:rPr lang="en-GB" sz="3600" dirty="0" err="1"/>
              <a:t>herramientas</a:t>
            </a:r>
            <a:r>
              <a:rPr lang="en-GB" sz="3600" dirty="0"/>
              <a:t> SBOM </a:t>
            </a:r>
            <a:r>
              <a:rPr lang="en-GB" sz="3600" dirty="0" err="1"/>
              <a:t>actuales</a:t>
            </a:r>
            <a:r>
              <a:rPr lang="en-GB" sz="3600" dirty="0"/>
              <a:t>?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21FD29-89AB-C6CE-E163-A6BE504A8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E0BC2D-DBE8-5A6A-B038-3823C95BF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0787" y="1504010"/>
            <a:ext cx="7772400" cy="492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650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07F42-05FC-456D-6CDE-86DE5BDD2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6FD50B-E3D2-932E-1299-A42898B6C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8598E2-490D-027C-A458-C322F1065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640" y="1251335"/>
            <a:ext cx="7772400" cy="5544368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AFAFC2B-AD1D-F2ED-A286-4CF964791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365125"/>
            <a:ext cx="11521440" cy="1325563"/>
          </a:xfrm>
        </p:spPr>
        <p:txBody>
          <a:bodyPr>
            <a:normAutofit/>
          </a:bodyPr>
          <a:lstStyle/>
          <a:p>
            <a:r>
              <a:rPr lang="en-GB" sz="3600" b="1" dirty="0"/>
              <a:t>RQ1:</a:t>
            </a:r>
            <a:r>
              <a:rPr lang="en-GB" sz="3600" dirty="0"/>
              <a:t> ¿</a:t>
            </a:r>
            <a:r>
              <a:rPr lang="en-GB" sz="3600" dirty="0" err="1"/>
              <a:t>Qué</a:t>
            </a:r>
            <a:r>
              <a:rPr lang="en-GB" sz="3600" dirty="0"/>
              <a:t> </a:t>
            </a:r>
            <a:r>
              <a:rPr lang="en-GB" sz="3600" dirty="0" err="1"/>
              <a:t>casos</a:t>
            </a:r>
            <a:r>
              <a:rPr lang="en-GB" sz="3600" dirty="0"/>
              <a:t> de </a:t>
            </a:r>
            <a:r>
              <a:rPr lang="en-GB" sz="3600" dirty="0" err="1"/>
              <a:t>uso</a:t>
            </a:r>
            <a:r>
              <a:rPr lang="en-GB" sz="3600" dirty="0"/>
              <a:t> </a:t>
            </a:r>
            <a:r>
              <a:rPr lang="en-GB" sz="3600" dirty="0" err="1"/>
              <a:t>soportan</a:t>
            </a:r>
            <a:r>
              <a:rPr lang="en-GB" sz="3600" dirty="0"/>
              <a:t> las </a:t>
            </a:r>
            <a:r>
              <a:rPr lang="en-GB" sz="3600" dirty="0" err="1"/>
              <a:t>herramientas</a:t>
            </a:r>
            <a:r>
              <a:rPr lang="en-GB" sz="3600" dirty="0"/>
              <a:t> SBOM </a:t>
            </a:r>
            <a:r>
              <a:rPr lang="en-GB" sz="3600" dirty="0" err="1"/>
              <a:t>actuales</a:t>
            </a:r>
            <a:r>
              <a:rPr lang="en-GB" sz="3600" dirty="0"/>
              <a:t>?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3860543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586F2-E0D5-BFB9-2935-EFB19AC1C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BD6BE-769D-F90B-2453-50E1F1727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B66BFF-A99F-7E73-8153-5C5550C02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640" y="1229346"/>
            <a:ext cx="7772400" cy="558834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0E59B86-1454-51A0-80A8-9609E2FF1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365125"/>
            <a:ext cx="11521440" cy="1325563"/>
          </a:xfrm>
        </p:spPr>
        <p:txBody>
          <a:bodyPr>
            <a:normAutofit/>
          </a:bodyPr>
          <a:lstStyle/>
          <a:p>
            <a:r>
              <a:rPr lang="en-GB" sz="3600" b="1" dirty="0"/>
              <a:t>RQ1:</a:t>
            </a:r>
            <a:r>
              <a:rPr lang="en-GB" sz="3600" dirty="0"/>
              <a:t> ¿</a:t>
            </a:r>
            <a:r>
              <a:rPr lang="en-GB" sz="3600" dirty="0" err="1"/>
              <a:t>Qué</a:t>
            </a:r>
            <a:r>
              <a:rPr lang="en-GB" sz="3600" dirty="0"/>
              <a:t> </a:t>
            </a:r>
            <a:r>
              <a:rPr lang="en-GB" sz="3600" dirty="0" err="1"/>
              <a:t>casos</a:t>
            </a:r>
            <a:r>
              <a:rPr lang="en-GB" sz="3600" dirty="0"/>
              <a:t> de </a:t>
            </a:r>
            <a:r>
              <a:rPr lang="en-GB" sz="3600" dirty="0" err="1"/>
              <a:t>uso</a:t>
            </a:r>
            <a:r>
              <a:rPr lang="en-GB" sz="3600" dirty="0"/>
              <a:t> </a:t>
            </a:r>
            <a:r>
              <a:rPr lang="en-GB" sz="3600" dirty="0" err="1"/>
              <a:t>soportan</a:t>
            </a:r>
            <a:r>
              <a:rPr lang="en-GB" sz="3600" dirty="0"/>
              <a:t> las </a:t>
            </a:r>
            <a:r>
              <a:rPr lang="en-GB" sz="3600" dirty="0" err="1"/>
              <a:t>herramientas</a:t>
            </a:r>
            <a:r>
              <a:rPr lang="en-GB" sz="3600" dirty="0"/>
              <a:t> SBOM </a:t>
            </a:r>
            <a:r>
              <a:rPr lang="en-GB" sz="3600" dirty="0" err="1"/>
              <a:t>actuales</a:t>
            </a:r>
            <a:r>
              <a:rPr lang="en-GB" sz="3600" dirty="0"/>
              <a:t>?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3619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B0532-7ACC-8E7B-AE55-1E1CC2D18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47F56-3144-90A1-EF2B-1DD0EAE60F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The State of the SBOM Tool Ecosystems: A Comparative Analysis of SPDX and </a:t>
            </a:r>
            <a:r>
              <a:rPr lang="en-GB" b="1" dirty="0" err="1"/>
              <a:t>CycloneDX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66A46-3F78-25A4-E71A-1B8DEA872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F42313-7008-2376-35C8-0E760231F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460" y="1690688"/>
            <a:ext cx="10061574" cy="503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579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BE65D-92A4-173C-BB4A-5312B6A4CA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D3740-E39E-E3D9-E35A-208945BE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8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713E523-D04A-13FC-25C5-0AD1C94CA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365125"/>
            <a:ext cx="11521440" cy="1325563"/>
          </a:xfrm>
        </p:spPr>
        <p:txBody>
          <a:bodyPr>
            <a:normAutofit fontScale="90000"/>
          </a:bodyPr>
          <a:lstStyle/>
          <a:p>
            <a:r>
              <a:rPr lang="en-GB" sz="3600" b="1" dirty="0"/>
              <a:t>RQ2:</a:t>
            </a:r>
            <a:r>
              <a:rPr lang="en-GB" sz="3600" dirty="0"/>
              <a:t> ¿</a:t>
            </a:r>
            <a:r>
              <a:rPr lang="en-GB" sz="3600" dirty="0" err="1"/>
              <a:t>Cómo</a:t>
            </a:r>
            <a:r>
              <a:rPr lang="en-GB" sz="3600" dirty="0"/>
              <a:t> se </a:t>
            </a:r>
            <a:r>
              <a:rPr lang="en-GB" sz="3600" dirty="0" err="1"/>
              <a:t>distribuye</a:t>
            </a:r>
            <a:r>
              <a:rPr lang="en-GB" sz="3600" dirty="0"/>
              <a:t> la </a:t>
            </a:r>
            <a:r>
              <a:rPr lang="en-GB" sz="3600" dirty="0" err="1"/>
              <a:t>salud</a:t>
            </a:r>
            <a:r>
              <a:rPr lang="en-GB" sz="3600" dirty="0"/>
              <a:t> de las </a:t>
            </a:r>
            <a:r>
              <a:rPr lang="en-GB" sz="3600" dirty="0" err="1"/>
              <a:t>herramientas</a:t>
            </a:r>
            <a:r>
              <a:rPr lang="en-GB" sz="3600" dirty="0"/>
              <a:t> SBOM de </a:t>
            </a:r>
            <a:r>
              <a:rPr lang="en-GB" sz="3600" dirty="0" err="1"/>
              <a:t>código</a:t>
            </a:r>
            <a:r>
              <a:rPr lang="en-GB" sz="3600" dirty="0"/>
              <a:t> </a:t>
            </a:r>
            <a:r>
              <a:rPr lang="en-GB" sz="3600" dirty="0" err="1"/>
              <a:t>abierto</a:t>
            </a:r>
            <a:r>
              <a:rPr lang="en-GB" sz="3600" dirty="0"/>
              <a:t> </a:t>
            </a:r>
            <a:r>
              <a:rPr lang="en-GB" sz="3600" dirty="0" err="1"/>
              <a:t>actuales</a:t>
            </a:r>
            <a:r>
              <a:rPr lang="en-GB" sz="3600" dirty="0"/>
              <a:t>?</a:t>
            </a:r>
            <a:br>
              <a:rPr lang="en-GB" sz="3600" dirty="0"/>
            </a:br>
            <a:endParaRPr lang="en-US"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2F1088-FCA9-67C1-E337-DFFFBF645F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7099" y="1335620"/>
            <a:ext cx="5697801" cy="5385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885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8297B-93C1-A203-DDB6-CAC627CA5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A605C-6040-A31C-1A57-5EB6ACB89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9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1C6E259-65ED-2F94-0A7A-805F54A70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365125"/>
            <a:ext cx="11521440" cy="1325563"/>
          </a:xfrm>
        </p:spPr>
        <p:txBody>
          <a:bodyPr>
            <a:normAutofit fontScale="90000"/>
          </a:bodyPr>
          <a:lstStyle/>
          <a:p>
            <a:r>
              <a:rPr lang="en-GB" sz="3600" b="1"/>
              <a:t>RQ2:</a:t>
            </a:r>
            <a:r>
              <a:rPr lang="en-GB" sz="3600"/>
              <a:t> ¿Cómo se distribuye la salud de las herramientas SBOM de código abierto actuales?</a:t>
            </a:r>
            <a:br>
              <a:rPr lang="en-GB" sz="3600"/>
            </a:br>
            <a:endParaRPr lang="en-US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38E55E-9B4D-4142-211C-D5AC82C2E1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4244" y="1439863"/>
            <a:ext cx="6403512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4840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CF594-9ABE-0449-79A2-FDCEAD5B5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01AEB-855C-C4AE-497C-D6994909B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The State of the SBOM Tool Ecosystems: A Comparative Analysis of SPDX and </a:t>
            </a:r>
            <a:r>
              <a:rPr lang="en-GB" b="1" dirty="0" err="1"/>
              <a:t>CycloneDX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29D66-53B6-B578-8545-295A2C6C1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E4BE129-2E12-F61C-7B31-49F5CF598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460" y="1690688"/>
            <a:ext cx="10061574" cy="503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253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5C85B-DC8F-E424-D00C-4EC3C635A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296C76-A544-B651-720A-33356BD1F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11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CB3289A-F3F1-3133-D52D-04F1CC24D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365125"/>
            <a:ext cx="11521440" cy="1325563"/>
          </a:xfrm>
        </p:spPr>
        <p:txBody>
          <a:bodyPr>
            <a:normAutofit/>
          </a:bodyPr>
          <a:lstStyle/>
          <a:p>
            <a:r>
              <a:rPr lang="en-GB" sz="3600" b="1" dirty="0"/>
              <a:t>RQ3:</a:t>
            </a:r>
            <a:r>
              <a:rPr lang="en-GB" sz="3600" dirty="0"/>
              <a:t> ¿</a:t>
            </a:r>
            <a:r>
              <a:rPr lang="en-GB" sz="3600" dirty="0" err="1"/>
              <a:t>Cuáles</a:t>
            </a:r>
            <a:r>
              <a:rPr lang="en-GB" sz="3600" dirty="0"/>
              <a:t> son las </a:t>
            </a:r>
            <a:r>
              <a:rPr lang="en-GB" sz="3600" dirty="0" err="1"/>
              <a:t>áreas</a:t>
            </a:r>
            <a:r>
              <a:rPr lang="en-GB" sz="3600" dirty="0"/>
              <a:t> de </a:t>
            </a:r>
            <a:r>
              <a:rPr lang="en-GB" sz="3600" dirty="0" err="1"/>
              <a:t>mejora</a:t>
            </a:r>
            <a:r>
              <a:rPr lang="en-GB" sz="3600" dirty="0"/>
              <a:t> en las </a:t>
            </a:r>
            <a:r>
              <a:rPr lang="en-GB" sz="3600" dirty="0" err="1"/>
              <a:t>herramientas</a:t>
            </a:r>
            <a:r>
              <a:rPr lang="en-GB" sz="3600" dirty="0"/>
              <a:t> SBOM de </a:t>
            </a:r>
            <a:r>
              <a:rPr lang="en-GB" sz="3600" dirty="0" err="1"/>
              <a:t>código</a:t>
            </a:r>
            <a:r>
              <a:rPr lang="en-GB" sz="3600" dirty="0"/>
              <a:t> </a:t>
            </a:r>
            <a:r>
              <a:rPr lang="en-GB" sz="3600" dirty="0" err="1"/>
              <a:t>abierto</a:t>
            </a:r>
            <a:r>
              <a:rPr lang="en-GB" sz="3600" dirty="0"/>
              <a:t>?</a:t>
            </a:r>
            <a:endParaRPr lang="en-US"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0EA723-28BF-B7CC-4B5D-CE8E40A9D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988820"/>
            <a:ext cx="7772400" cy="3656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976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6FBF4-B5BB-D150-C385-734E8B046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69214B-F3D5-AD91-47E4-D32CA71C5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12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3D6D33D-60D2-CCD5-9A00-B03708D73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365125"/>
            <a:ext cx="11521440" cy="1325563"/>
          </a:xfrm>
        </p:spPr>
        <p:txBody>
          <a:bodyPr>
            <a:normAutofit/>
          </a:bodyPr>
          <a:lstStyle/>
          <a:p>
            <a:r>
              <a:rPr lang="en-GB" sz="3600" b="1" dirty="0"/>
              <a:t>RQ3:</a:t>
            </a:r>
            <a:r>
              <a:rPr lang="en-GB" sz="3600" dirty="0"/>
              <a:t> ¿</a:t>
            </a:r>
            <a:r>
              <a:rPr lang="en-GB" sz="3600" dirty="0" err="1"/>
              <a:t>Cuáles</a:t>
            </a:r>
            <a:r>
              <a:rPr lang="en-GB" sz="3600" dirty="0"/>
              <a:t> son las </a:t>
            </a:r>
            <a:r>
              <a:rPr lang="en-GB" sz="3600" dirty="0" err="1"/>
              <a:t>áreas</a:t>
            </a:r>
            <a:r>
              <a:rPr lang="en-GB" sz="3600" dirty="0"/>
              <a:t> de </a:t>
            </a:r>
            <a:r>
              <a:rPr lang="en-GB" sz="3600" dirty="0" err="1"/>
              <a:t>mejora</a:t>
            </a:r>
            <a:r>
              <a:rPr lang="en-GB" sz="3600" dirty="0"/>
              <a:t> en las </a:t>
            </a:r>
            <a:r>
              <a:rPr lang="en-GB" sz="3600" dirty="0" err="1"/>
              <a:t>herramientas</a:t>
            </a:r>
            <a:r>
              <a:rPr lang="en-GB" sz="3600" dirty="0"/>
              <a:t> SBOM de </a:t>
            </a:r>
            <a:r>
              <a:rPr lang="en-GB" sz="3600" dirty="0" err="1"/>
              <a:t>código</a:t>
            </a:r>
            <a:r>
              <a:rPr lang="en-GB" sz="3600" dirty="0"/>
              <a:t> </a:t>
            </a:r>
            <a:r>
              <a:rPr lang="en-GB" sz="3600" dirty="0" err="1"/>
              <a:t>abierto</a:t>
            </a:r>
            <a:r>
              <a:rPr lang="en-GB" sz="3600" dirty="0"/>
              <a:t>?</a:t>
            </a:r>
            <a:endParaRPr lang="en-US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2085C2-0BA8-A0B5-ED61-D18D617BFB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166971"/>
            <a:ext cx="7772400" cy="3713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919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F32BCD-1EC2-7D6D-F208-F91602243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4BD4BA-7F3D-19AE-5977-5017CE93C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13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40203B1-9C95-29D9-5313-EC27F2A42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365125"/>
            <a:ext cx="11521440" cy="1325563"/>
          </a:xfrm>
        </p:spPr>
        <p:txBody>
          <a:bodyPr>
            <a:normAutofit/>
          </a:bodyPr>
          <a:lstStyle/>
          <a:p>
            <a:r>
              <a:rPr lang="en-GB" sz="3600" b="1" dirty="0"/>
              <a:t>RQ3:</a:t>
            </a:r>
            <a:r>
              <a:rPr lang="en-GB" sz="3600" dirty="0"/>
              <a:t> ¿</a:t>
            </a:r>
            <a:r>
              <a:rPr lang="en-GB" sz="3600" dirty="0" err="1"/>
              <a:t>Cuáles</a:t>
            </a:r>
            <a:r>
              <a:rPr lang="en-GB" sz="3600" dirty="0"/>
              <a:t> son las </a:t>
            </a:r>
            <a:r>
              <a:rPr lang="en-GB" sz="3600" dirty="0" err="1"/>
              <a:t>áreas</a:t>
            </a:r>
            <a:r>
              <a:rPr lang="en-GB" sz="3600" dirty="0"/>
              <a:t> de </a:t>
            </a:r>
            <a:r>
              <a:rPr lang="en-GB" sz="3600" dirty="0" err="1"/>
              <a:t>mejora</a:t>
            </a:r>
            <a:r>
              <a:rPr lang="en-GB" sz="3600" dirty="0"/>
              <a:t> en las </a:t>
            </a:r>
            <a:r>
              <a:rPr lang="en-GB" sz="3600" dirty="0" err="1"/>
              <a:t>herramientas</a:t>
            </a:r>
            <a:r>
              <a:rPr lang="en-GB" sz="3600" dirty="0"/>
              <a:t> SBOM de </a:t>
            </a:r>
            <a:r>
              <a:rPr lang="en-GB" sz="3600" dirty="0" err="1"/>
              <a:t>código</a:t>
            </a:r>
            <a:r>
              <a:rPr lang="en-GB" sz="3600" dirty="0"/>
              <a:t> </a:t>
            </a:r>
            <a:r>
              <a:rPr lang="en-GB" sz="3600" dirty="0" err="1"/>
              <a:t>abierto</a:t>
            </a:r>
            <a:r>
              <a:rPr lang="en-GB" sz="3600" dirty="0"/>
              <a:t>?</a:t>
            </a:r>
            <a:endParaRPr lang="en-US"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46C8E6-CA7F-3EAF-1150-FA45BE7D5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988820"/>
            <a:ext cx="7772400" cy="455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2972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78C8B-0545-A15A-0425-1DFAC26D1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A6A54B-5436-8E72-35F2-2C41765A1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14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6712299-0B31-849C-5DCF-9315A5712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365125"/>
            <a:ext cx="11521440" cy="1325563"/>
          </a:xfrm>
        </p:spPr>
        <p:txBody>
          <a:bodyPr>
            <a:normAutofit/>
          </a:bodyPr>
          <a:lstStyle/>
          <a:p>
            <a:r>
              <a:rPr lang="en-GB" sz="3600" b="1" dirty="0"/>
              <a:t>RQ3:</a:t>
            </a:r>
            <a:r>
              <a:rPr lang="en-GB" sz="3600" dirty="0"/>
              <a:t> ¿</a:t>
            </a:r>
            <a:r>
              <a:rPr lang="en-GB" sz="3600" dirty="0" err="1"/>
              <a:t>Cuáles</a:t>
            </a:r>
            <a:r>
              <a:rPr lang="en-GB" sz="3600" dirty="0"/>
              <a:t> son las </a:t>
            </a:r>
            <a:r>
              <a:rPr lang="en-GB" sz="3600" dirty="0" err="1"/>
              <a:t>áreas</a:t>
            </a:r>
            <a:r>
              <a:rPr lang="en-GB" sz="3600" dirty="0"/>
              <a:t> de </a:t>
            </a:r>
            <a:r>
              <a:rPr lang="en-GB" sz="3600" dirty="0" err="1"/>
              <a:t>mejora</a:t>
            </a:r>
            <a:r>
              <a:rPr lang="en-GB" sz="3600" dirty="0"/>
              <a:t> en las </a:t>
            </a:r>
            <a:r>
              <a:rPr lang="en-GB" sz="3600" dirty="0" err="1"/>
              <a:t>herramientas</a:t>
            </a:r>
            <a:r>
              <a:rPr lang="en-GB" sz="3600" dirty="0"/>
              <a:t> SBOM de </a:t>
            </a:r>
            <a:r>
              <a:rPr lang="en-GB" sz="3600" dirty="0" err="1"/>
              <a:t>código</a:t>
            </a:r>
            <a:r>
              <a:rPr lang="en-GB" sz="3600" dirty="0"/>
              <a:t> </a:t>
            </a:r>
            <a:r>
              <a:rPr lang="en-GB" sz="3600" dirty="0" err="1"/>
              <a:t>abierto</a:t>
            </a:r>
            <a:r>
              <a:rPr lang="en-GB" sz="3600" dirty="0"/>
              <a:t>?</a:t>
            </a:r>
            <a:endParaRPr lang="en-US"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BC0798-C6A4-559E-02F0-37CB766E0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777" y="1988820"/>
            <a:ext cx="9028445" cy="4504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6729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D4533-8DA3-88F7-53F2-AA4A68F79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720E8F-9DF5-057A-2FC4-CA6619955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15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E633595-8F07-4A22-F550-4F7B4DD6D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365125"/>
            <a:ext cx="11521440" cy="1325563"/>
          </a:xfrm>
        </p:spPr>
        <p:txBody>
          <a:bodyPr>
            <a:normAutofit/>
          </a:bodyPr>
          <a:lstStyle/>
          <a:p>
            <a:r>
              <a:rPr lang="en-GB" sz="3600" b="1" dirty="0"/>
              <a:t>RQ3:</a:t>
            </a:r>
            <a:r>
              <a:rPr lang="en-GB" sz="3600" dirty="0"/>
              <a:t> ¿</a:t>
            </a:r>
            <a:r>
              <a:rPr lang="en-GB" sz="3600" dirty="0" err="1"/>
              <a:t>Cuáles</a:t>
            </a:r>
            <a:r>
              <a:rPr lang="en-GB" sz="3600" dirty="0"/>
              <a:t> son las </a:t>
            </a:r>
            <a:r>
              <a:rPr lang="en-GB" sz="3600" dirty="0" err="1"/>
              <a:t>áreas</a:t>
            </a:r>
            <a:r>
              <a:rPr lang="en-GB" sz="3600" dirty="0"/>
              <a:t> de </a:t>
            </a:r>
            <a:r>
              <a:rPr lang="en-GB" sz="3600" dirty="0" err="1"/>
              <a:t>mejora</a:t>
            </a:r>
            <a:r>
              <a:rPr lang="en-GB" sz="3600" dirty="0"/>
              <a:t> en las </a:t>
            </a:r>
            <a:r>
              <a:rPr lang="en-GB" sz="3600" dirty="0" err="1"/>
              <a:t>herramientas</a:t>
            </a:r>
            <a:r>
              <a:rPr lang="en-GB" sz="3600" dirty="0"/>
              <a:t> SBOM de </a:t>
            </a:r>
            <a:r>
              <a:rPr lang="en-GB" sz="3600" dirty="0" err="1"/>
              <a:t>código</a:t>
            </a:r>
            <a:r>
              <a:rPr lang="en-GB" sz="3600" dirty="0"/>
              <a:t> </a:t>
            </a:r>
            <a:r>
              <a:rPr lang="en-GB" sz="3600" dirty="0" err="1"/>
              <a:t>abierto</a:t>
            </a:r>
            <a:r>
              <a:rPr lang="en-GB" sz="3600" dirty="0"/>
              <a:t>?</a:t>
            </a:r>
            <a:endParaRPr lang="en-US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F5355D-42EC-EFDB-9418-7030712A2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460" y="1859407"/>
            <a:ext cx="7772400" cy="4862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860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A8EB52-7D00-C95D-5834-68A592215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EEA1C7-FC9D-5595-D454-4F26E1CB8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16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C9243D7-E2FC-F08E-3DC5-455A049F9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365125"/>
            <a:ext cx="11521440" cy="1325563"/>
          </a:xfrm>
        </p:spPr>
        <p:txBody>
          <a:bodyPr>
            <a:normAutofit/>
          </a:bodyPr>
          <a:lstStyle/>
          <a:p>
            <a:r>
              <a:rPr lang="en-GB" sz="3600" b="1" dirty="0"/>
              <a:t>RQ3:</a:t>
            </a:r>
            <a:r>
              <a:rPr lang="en-GB" sz="3600" dirty="0"/>
              <a:t> ¿</a:t>
            </a:r>
            <a:r>
              <a:rPr lang="en-GB" sz="3600" dirty="0" err="1"/>
              <a:t>Cuáles</a:t>
            </a:r>
            <a:r>
              <a:rPr lang="en-GB" sz="3600" dirty="0"/>
              <a:t> son las </a:t>
            </a:r>
            <a:r>
              <a:rPr lang="en-GB" sz="3600" dirty="0" err="1"/>
              <a:t>áreas</a:t>
            </a:r>
            <a:r>
              <a:rPr lang="en-GB" sz="3600" dirty="0"/>
              <a:t> de </a:t>
            </a:r>
            <a:r>
              <a:rPr lang="en-GB" sz="3600" dirty="0" err="1"/>
              <a:t>mejora</a:t>
            </a:r>
            <a:r>
              <a:rPr lang="en-GB" sz="3600" dirty="0"/>
              <a:t> en las </a:t>
            </a:r>
            <a:r>
              <a:rPr lang="en-GB" sz="3600" dirty="0" err="1"/>
              <a:t>herramientas</a:t>
            </a:r>
            <a:r>
              <a:rPr lang="en-GB" sz="3600" dirty="0"/>
              <a:t> SBOM de </a:t>
            </a:r>
            <a:r>
              <a:rPr lang="en-GB" sz="3600" dirty="0" err="1"/>
              <a:t>código</a:t>
            </a:r>
            <a:r>
              <a:rPr lang="en-GB" sz="3600" dirty="0"/>
              <a:t> </a:t>
            </a:r>
            <a:r>
              <a:rPr lang="en-GB" sz="3600" dirty="0" err="1"/>
              <a:t>abierto</a:t>
            </a:r>
            <a:r>
              <a:rPr lang="en-GB" sz="3600" dirty="0"/>
              <a:t>?</a:t>
            </a:r>
            <a:endParaRPr lang="en-US" sz="36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62C6B9-3772-780E-79CA-9C242E66A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640" y="1690688"/>
            <a:ext cx="5477758" cy="5137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8381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BBD37-DD0F-B03C-72BE-CC7F1F9F3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0AC94-988B-25EE-5533-843835B8B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The State of the SBOM Tool Ecosystems: A Comparative Analysis of SPDX and </a:t>
            </a:r>
            <a:r>
              <a:rPr lang="en-GB" b="1" dirty="0" err="1"/>
              <a:t>CycloneDX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B775B3-4A12-B12B-C322-6BF1FDF1B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E22558-55E9-8CFD-FDC8-3ECEAB1085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460" y="1690688"/>
            <a:ext cx="10061574" cy="503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0600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74515-1C39-F7DB-1B72-F4FBB469E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7EF183-DC93-C342-963C-AD59DCA47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18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F75D170-8CCE-A23A-E4E8-B6BD5DEB2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365125"/>
            <a:ext cx="11521440" cy="1325563"/>
          </a:xfrm>
        </p:spPr>
        <p:txBody>
          <a:bodyPr>
            <a:normAutofit/>
          </a:bodyPr>
          <a:lstStyle/>
          <a:p>
            <a:r>
              <a:rPr lang="en-GB" sz="3600" b="1" dirty="0"/>
              <a:t>RQ4:</a:t>
            </a:r>
            <a:r>
              <a:rPr lang="en-GB" sz="3600" dirty="0"/>
              <a:t> ¿</a:t>
            </a:r>
            <a:r>
              <a:rPr lang="en-GB" sz="3600" dirty="0" err="1"/>
              <a:t>Cómo</a:t>
            </a:r>
            <a:r>
              <a:rPr lang="en-GB" sz="3600" dirty="0"/>
              <a:t> se </a:t>
            </a:r>
            <a:r>
              <a:rPr lang="en-GB" sz="3600" dirty="0" err="1"/>
              <a:t>distribuye</a:t>
            </a:r>
            <a:r>
              <a:rPr lang="en-GB" sz="3600" dirty="0"/>
              <a:t> la </a:t>
            </a:r>
            <a:r>
              <a:rPr lang="en-GB" sz="3600" dirty="0" err="1"/>
              <a:t>salud</a:t>
            </a:r>
            <a:r>
              <a:rPr lang="en-GB" sz="3600" dirty="0"/>
              <a:t> de </a:t>
            </a:r>
            <a:r>
              <a:rPr lang="en-GB" sz="3600" dirty="0" err="1"/>
              <a:t>los</a:t>
            </a:r>
            <a:r>
              <a:rPr lang="en-GB" sz="3600" dirty="0"/>
              <a:t> </a:t>
            </a:r>
            <a:r>
              <a:rPr lang="en-GB" sz="3600" dirty="0" err="1"/>
              <a:t>proyectos</a:t>
            </a:r>
            <a:r>
              <a:rPr lang="en-GB" sz="3600" dirty="0"/>
              <a:t> de GitHub </a:t>
            </a:r>
            <a:r>
              <a:rPr lang="en-GB" sz="3600" dirty="0" err="1"/>
              <a:t>que</a:t>
            </a:r>
            <a:r>
              <a:rPr lang="en-GB" sz="3600" dirty="0"/>
              <a:t> </a:t>
            </a:r>
            <a:r>
              <a:rPr lang="en-GB" sz="3600" dirty="0" err="1"/>
              <a:t>usan</a:t>
            </a:r>
            <a:r>
              <a:rPr lang="en-GB" sz="3600" dirty="0"/>
              <a:t> </a:t>
            </a:r>
            <a:r>
              <a:rPr lang="en-GB" sz="3600" dirty="0" err="1"/>
              <a:t>herramientas</a:t>
            </a:r>
            <a:r>
              <a:rPr lang="en-GB" sz="3600" dirty="0"/>
              <a:t> SBOM?</a:t>
            </a:r>
            <a:endParaRPr lang="en-US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54ADCC-A278-FF5C-681E-679767D31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" y="1988820"/>
            <a:ext cx="5444057" cy="33673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573CA3-18B7-58D6-4340-68A9D14B1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337" y="1988820"/>
            <a:ext cx="5760721" cy="35016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77AA970-F291-B094-2814-B4C5A3BBA2C0}"/>
              </a:ext>
            </a:extLst>
          </p:cNvPr>
          <p:cNvSpPr txBox="1"/>
          <p:nvPr/>
        </p:nvSpPr>
        <p:spPr>
          <a:xfrm>
            <a:off x="481143" y="5760454"/>
            <a:ext cx="110185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Los </a:t>
            </a:r>
            <a:r>
              <a:rPr lang="en-GB" dirty="0" err="1"/>
              <a:t>proyectos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adoptan</a:t>
            </a:r>
            <a:r>
              <a:rPr lang="en-GB" dirty="0"/>
              <a:t> </a:t>
            </a:r>
            <a:r>
              <a:rPr lang="en-GB" dirty="0" err="1"/>
              <a:t>herramientas</a:t>
            </a:r>
            <a:r>
              <a:rPr lang="en-GB" dirty="0"/>
              <a:t> SBOM no son </a:t>
            </a:r>
            <a:r>
              <a:rPr lang="en-GB" dirty="0" err="1"/>
              <a:t>homogéneos</a:t>
            </a:r>
            <a:r>
              <a:rPr lang="en-GB" dirty="0"/>
              <a:t>, </a:t>
            </a:r>
            <a:r>
              <a:rPr lang="en-GB" dirty="0" err="1"/>
              <a:t>ya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su</a:t>
            </a:r>
            <a:r>
              <a:rPr lang="en-GB" dirty="0"/>
              <a:t> </a:t>
            </a:r>
            <a:r>
              <a:rPr lang="en-GB" dirty="0" err="1"/>
              <a:t>elección</a:t>
            </a:r>
            <a:r>
              <a:rPr lang="en-GB" dirty="0"/>
              <a:t> se </a:t>
            </a:r>
            <a:r>
              <a:rPr lang="en-GB" dirty="0" err="1"/>
              <a:t>asocia</a:t>
            </a:r>
            <a:r>
              <a:rPr lang="en-GB" dirty="0"/>
              <a:t> a </a:t>
            </a:r>
            <a:r>
              <a:rPr lang="en-GB" dirty="0" err="1"/>
              <a:t>distintos</a:t>
            </a:r>
            <a:r>
              <a:rPr lang="en-GB" dirty="0"/>
              <a:t> </a:t>
            </a:r>
            <a:r>
              <a:rPr lang="en-GB" dirty="0" err="1"/>
              <a:t>tipos</a:t>
            </a:r>
            <a:r>
              <a:rPr lang="en-GB" dirty="0"/>
              <a:t> de </a:t>
            </a:r>
            <a:r>
              <a:rPr lang="en-GB" dirty="0" err="1"/>
              <a:t>proyectos</a:t>
            </a:r>
            <a:r>
              <a:rPr lang="en-GB" dirty="0"/>
              <a:t>, </a:t>
            </a:r>
            <a:r>
              <a:rPr lang="en-GB" dirty="0" err="1"/>
              <a:t>donde</a:t>
            </a:r>
            <a:r>
              <a:rPr lang="en-GB" dirty="0"/>
              <a:t> </a:t>
            </a:r>
            <a:r>
              <a:rPr lang="en-GB" dirty="0" err="1"/>
              <a:t>CycloneDX</a:t>
            </a:r>
            <a:r>
              <a:rPr lang="en-GB" dirty="0"/>
              <a:t> </a:t>
            </a:r>
            <a:r>
              <a:rPr lang="en-GB" dirty="0" err="1"/>
              <a:t>aparece</a:t>
            </a:r>
            <a:r>
              <a:rPr lang="en-GB" dirty="0"/>
              <a:t> </a:t>
            </a:r>
            <a:r>
              <a:rPr lang="en-GB" dirty="0" err="1"/>
              <a:t>más</a:t>
            </a:r>
            <a:r>
              <a:rPr lang="en-GB" dirty="0"/>
              <a:t> en </a:t>
            </a:r>
            <a:r>
              <a:rPr lang="en-GB" dirty="0" err="1"/>
              <a:t>entornos</a:t>
            </a:r>
            <a:r>
              <a:rPr lang="en-GB" dirty="0"/>
              <a:t> </a:t>
            </a:r>
            <a:r>
              <a:rPr lang="en-GB" dirty="0" err="1"/>
              <a:t>modernos</a:t>
            </a:r>
            <a:r>
              <a:rPr lang="en-GB" dirty="0"/>
              <a:t> y </a:t>
            </a:r>
            <a:r>
              <a:rPr lang="en-GB" dirty="0" err="1"/>
              <a:t>activos</a:t>
            </a:r>
            <a:r>
              <a:rPr lang="en-GB" dirty="0"/>
              <a:t>, </a:t>
            </a:r>
            <a:r>
              <a:rPr lang="en-GB" dirty="0" err="1"/>
              <a:t>mientras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SPDX se vincula </a:t>
            </a:r>
            <a:r>
              <a:rPr lang="en-GB" dirty="0" err="1"/>
              <a:t>más</a:t>
            </a:r>
            <a:r>
              <a:rPr lang="en-GB" dirty="0"/>
              <a:t> a </a:t>
            </a:r>
            <a:r>
              <a:rPr lang="en-GB" dirty="0" err="1"/>
              <a:t>contextos</a:t>
            </a:r>
            <a:r>
              <a:rPr lang="en-GB" dirty="0"/>
              <a:t> </a:t>
            </a:r>
            <a:r>
              <a:rPr lang="en-GB" dirty="0" err="1"/>
              <a:t>tradicionales</a:t>
            </a:r>
            <a:r>
              <a:rPr lang="en-GB" dirty="0"/>
              <a:t> y </a:t>
            </a:r>
            <a:r>
              <a:rPr lang="en-GB" dirty="0" err="1"/>
              <a:t>orientados</a:t>
            </a:r>
            <a:r>
              <a:rPr lang="en-GB" dirty="0"/>
              <a:t> a </a:t>
            </a:r>
            <a:r>
              <a:rPr lang="en-GB" dirty="0" err="1"/>
              <a:t>cumplimiento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16087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1824C-6E8F-97C8-3812-A97A8FA0B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59003B-FA3E-E106-7037-86697BC7F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19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FAFCC27-CC48-8DF8-A432-11A851746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365125"/>
            <a:ext cx="11521440" cy="1325563"/>
          </a:xfrm>
        </p:spPr>
        <p:txBody>
          <a:bodyPr>
            <a:normAutofit/>
          </a:bodyPr>
          <a:lstStyle/>
          <a:p>
            <a:r>
              <a:rPr lang="en-GB" sz="3600" b="1" dirty="0" err="1"/>
              <a:t>Implicancias</a:t>
            </a:r>
            <a:endParaRPr lang="en-US" sz="360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B30A5AA-538D-E296-27DC-9EA8EC9DB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3825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000" dirty="0"/>
              <a:t>Las </a:t>
            </a:r>
            <a:r>
              <a:rPr lang="en-GB" sz="2000" dirty="0" err="1"/>
              <a:t>herramientas</a:t>
            </a:r>
            <a:r>
              <a:rPr lang="en-GB" sz="2000" dirty="0"/>
              <a:t> SBOM open-source </a:t>
            </a:r>
            <a:r>
              <a:rPr lang="en-GB" sz="2000" dirty="0" err="1"/>
              <a:t>deben</a:t>
            </a:r>
            <a:r>
              <a:rPr lang="en-GB" sz="2000" dirty="0"/>
              <a:t> </a:t>
            </a:r>
            <a:r>
              <a:rPr lang="en-GB" sz="2000" dirty="0" err="1"/>
              <a:t>mejorar</a:t>
            </a:r>
            <a:r>
              <a:rPr lang="en-GB" sz="2000" dirty="0"/>
              <a:t> sus </a:t>
            </a:r>
            <a:r>
              <a:rPr lang="en-GB" sz="2000" dirty="0" err="1"/>
              <a:t>capacidades</a:t>
            </a:r>
            <a:r>
              <a:rPr lang="en-GB" sz="2000" dirty="0"/>
              <a:t> de </a:t>
            </a:r>
            <a:r>
              <a:rPr lang="en-GB" sz="2000" dirty="0" err="1"/>
              <a:t>análisis</a:t>
            </a:r>
            <a:r>
              <a:rPr lang="en-GB" sz="2000" dirty="0"/>
              <a:t> y </a:t>
            </a:r>
            <a:r>
              <a:rPr lang="en-GB" sz="2000" dirty="0" err="1"/>
              <a:t>visualización</a:t>
            </a:r>
            <a:r>
              <a:rPr lang="en-GB" sz="2000" dirty="0"/>
              <a:t> para </a:t>
            </a:r>
            <a:r>
              <a:rPr lang="en-GB" sz="2000" dirty="0" err="1"/>
              <a:t>cerrar</a:t>
            </a:r>
            <a:r>
              <a:rPr lang="en-GB" sz="2000" dirty="0"/>
              <a:t> la </a:t>
            </a:r>
            <a:r>
              <a:rPr lang="en-GB" sz="2000" dirty="0" err="1"/>
              <a:t>brecha</a:t>
            </a:r>
            <a:r>
              <a:rPr lang="en-GB" sz="2000" dirty="0"/>
              <a:t> con las </a:t>
            </a:r>
            <a:r>
              <a:rPr lang="en-GB" sz="2000" dirty="0" err="1"/>
              <a:t>soluciones</a:t>
            </a:r>
            <a:r>
              <a:rPr lang="en-GB" sz="2000" dirty="0"/>
              <a:t> </a:t>
            </a:r>
            <a:r>
              <a:rPr lang="en-GB" sz="2000" dirty="0" err="1"/>
              <a:t>propietarias</a:t>
            </a:r>
            <a:r>
              <a:rPr lang="en-GB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022201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E442A-33BB-3B2F-F37E-228C17B22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9C208-E1B8-AB15-BB59-8CB07DC64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20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89E5D3C-72BB-693F-42A4-76437ED9D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365125"/>
            <a:ext cx="11521440" cy="1325563"/>
          </a:xfrm>
        </p:spPr>
        <p:txBody>
          <a:bodyPr>
            <a:normAutofit/>
          </a:bodyPr>
          <a:lstStyle/>
          <a:p>
            <a:r>
              <a:rPr lang="en-GB" sz="3600" b="1" dirty="0" err="1"/>
              <a:t>Implicancias</a:t>
            </a:r>
            <a:endParaRPr lang="en-US" sz="360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9AF2828-6369-A330-63D7-86AB90FF8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3825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000" dirty="0"/>
              <a:t>Las </a:t>
            </a:r>
            <a:r>
              <a:rPr lang="en-GB" sz="2000" dirty="0" err="1"/>
              <a:t>herramientas</a:t>
            </a:r>
            <a:r>
              <a:rPr lang="en-GB" sz="2000" dirty="0"/>
              <a:t> SBOM open-source </a:t>
            </a:r>
            <a:r>
              <a:rPr lang="en-GB" sz="2000" dirty="0" err="1"/>
              <a:t>deben</a:t>
            </a:r>
            <a:r>
              <a:rPr lang="en-GB" sz="2000" dirty="0"/>
              <a:t> </a:t>
            </a:r>
            <a:r>
              <a:rPr lang="en-GB" sz="2000" dirty="0" err="1"/>
              <a:t>mejorar</a:t>
            </a:r>
            <a:r>
              <a:rPr lang="en-GB" sz="2000" dirty="0"/>
              <a:t> sus </a:t>
            </a:r>
            <a:r>
              <a:rPr lang="en-GB" sz="2000" dirty="0" err="1"/>
              <a:t>capacidades</a:t>
            </a:r>
            <a:r>
              <a:rPr lang="en-GB" sz="2000" dirty="0"/>
              <a:t> de </a:t>
            </a:r>
            <a:r>
              <a:rPr lang="en-GB" sz="2000" dirty="0" err="1"/>
              <a:t>análisis</a:t>
            </a:r>
            <a:r>
              <a:rPr lang="en-GB" sz="2000" dirty="0"/>
              <a:t> y </a:t>
            </a:r>
            <a:r>
              <a:rPr lang="en-GB" sz="2000" dirty="0" err="1"/>
              <a:t>visualización</a:t>
            </a:r>
            <a:r>
              <a:rPr lang="en-GB" sz="2000" dirty="0"/>
              <a:t> para </a:t>
            </a:r>
            <a:r>
              <a:rPr lang="en-GB" sz="2000" dirty="0" err="1"/>
              <a:t>cerrar</a:t>
            </a:r>
            <a:r>
              <a:rPr lang="en-GB" sz="2000" dirty="0"/>
              <a:t> la </a:t>
            </a:r>
            <a:r>
              <a:rPr lang="en-GB" sz="2000" dirty="0" err="1"/>
              <a:t>brecha</a:t>
            </a:r>
            <a:r>
              <a:rPr lang="en-GB" sz="2000" dirty="0"/>
              <a:t> con las </a:t>
            </a:r>
            <a:r>
              <a:rPr lang="en-GB" sz="2000" dirty="0" err="1"/>
              <a:t>soluciones</a:t>
            </a:r>
            <a:r>
              <a:rPr lang="en-GB" sz="2000" dirty="0"/>
              <a:t> </a:t>
            </a:r>
            <a:r>
              <a:rPr lang="en-GB" sz="2000" dirty="0" err="1"/>
              <a:t>propietarias</a:t>
            </a:r>
            <a:r>
              <a:rPr lang="en-GB" sz="2000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4CF3D6-9B78-DF11-FBDF-F8BF5BE9F249}"/>
              </a:ext>
            </a:extLst>
          </p:cNvPr>
          <p:cNvSpPr txBox="1">
            <a:spLocks/>
          </p:cNvSpPr>
          <p:nvPr/>
        </p:nvSpPr>
        <p:spPr>
          <a:xfrm>
            <a:off x="838200" y="3198812"/>
            <a:ext cx="10515600" cy="12382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2000" dirty="0"/>
              <a:t>La </a:t>
            </a:r>
            <a:r>
              <a:rPr lang="en-GB" sz="2000" dirty="0" err="1"/>
              <a:t>elección</a:t>
            </a:r>
            <a:r>
              <a:rPr lang="en-GB" sz="2000" dirty="0"/>
              <a:t> de </a:t>
            </a:r>
            <a:r>
              <a:rPr lang="en-GB" sz="2000" dirty="0" err="1"/>
              <a:t>herramientas</a:t>
            </a:r>
            <a:r>
              <a:rPr lang="en-GB" sz="2000" dirty="0"/>
              <a:t> SBOM </a:t>
            </a:r>
            <a:r>
              <a:rPr lang="en-GB" sz="2000" dirty="0" err="1"/>
              <a:t>debe</a:t>
            </a:r>
            <a:r>
              <a:rPr lang="en-GB" sz="2000" dirty="0"/>
              <a:t> </a:t>
            </a:r>
            <a:r>
              <a:rPr lang="en-GB" sz="2000" dirty="0" err="1"/>
              <a:t>considerar</a:t>
            </a:r>
            <a:r>
              <a:rPr lang="en-GB" sz="2000" dirty="0"/>
              <a:t> </a:t>
            </a:r>
            <a:r>
              <a:rPr lang="en-GB" sz="2000" dirty="0" err="1"/>
              <a:t>el</a:t>
            </a:r>
            <a:r>
              <a:rPr lang="en-GB" sz="2000" dirty="0"/>
              <a:t> </a:t>
            </a:r>
            <a:r>
              <a:rPr lang="en-GB" sz="2000" dirty="0" err="1"/>
              <a:t>ecosistema</a:t>
            </a:r>
            <a:r>
              <a:rPr lang="en-GB" sz="2000" dirty="0"/>
              <a:t> </a:t>
            </a:r>
            <a:r>
              <a:rPr lang="en-GB" sz="2000" dirty="0" err="1"/>
              <a:t>completo</a:t>
            </a:r>
            <a:r>
              <a:rPr lang="en-GB" sz="2000" dirty="0"/>
              <a:t> (</a:t>
            </a:r>
            <a:r>
              <a:rPr lang="en-GB" sz="2000" dirty="0" err="1"/>
              <a:t>integración</a:t>
            </a:r>
            <a:r>
              <a:rPr lang="en-GB" sz="2000" dirty="0"/>
              <a:t>, </a:t>
            </a:r>
            <a:r>
              <a:rPr lang="en-GB" sz="2000" dirty="0" err="1"/>
              <a:t>actividad</a:t>
            </a:r>
            <a:r>
              <a:rPr lang="en-GB" sz="2000" dirty="0"/>
              <a:t> y </a:t>
            </a:r>
            <a:r>
              <a:rPr lang="en-GB" sz="2000" dirty="0" err="1"/>
              <a:t>casos</a:t>
            </a:r>
            <a:r>
              <a:rPr lang="en-GB" sz="2000" dirty="0"/>
              <a:t> de </a:t>
            </a:r>
            <a:r>
              <a:rPr lang="en-GB" sz="2000" dirty="0" err="1"/>
              <a:t>uso</a:t>
            </a:r>
            <a:r>
              <a:rPr lang="en-GB" sz="2000" dirty="0"/>
              <a:t>), no solo </a:t>
            </a:r>
            <a:r>
              <a:rPr lang="en-GB" sz="2000" dirty="0" err="1"/>
              <a:t>el</a:t>
            </a:r>
            <a:r>
              <a:rPr lang="en-GB" sz="2000" dirty="0"/>
              <a:t> </a:t>
            </a:r>
            <a:r>
              <a:rPr lang="en-GB" sz="2000" dirty="0" err="1"/>
              <a:t>formato</a:t>
            </a:r>
            <a:r>
              <a:rPr lang="en-GB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909223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61A87-D9F9-CD02-1027-F39E96FC2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D8C4D-18E7-8FC5-7AE3-4AACBDA5B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21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4B48615-8D59-0B82-B731-078100237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365125"/>
            <a:ext cx="11521440" cy="1325563"/>
          </a:xfrm>
        </p:spPr>
        <p:txBody>
          <a:bodyPr>
            <a:normAutofit/>
          </a:bodyPr>
          <a:lstStyle/>
          <a:p>
            <a:r>
              <a:rPr lang="en-GB" sz="3600" b="1" dirty="0" err="1"/>
              <a:t>Implicancias</a:t>
            </a:r>
            <a:endParaRPr lang="en-US" sz="360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1E61D0E-347A-ADE0-5007-C81861CCE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3825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000" dirty="0"/>
              <a:t>Las </a:t>
            </a:r>
            <a:r>
              <a:rPr lang="en-GB" sz="2000" dirty="0" err="1"/>
              <a:t>herramientas</a:t>
            </a:r>
            <a:r>
              <a:rPr lang="en-GB" sz="2000" dirty="0"/>
              <a:t> SBOM open-source </a:t>
            </a:r>
            <a:r>
              <a:rPr lang="en-GB" sz="2000" dirty="0" err="1"/>
              <a:t>deben</a:t>
            </a:r>
            <a:r>
              <a:rPr lang="en-GB" sz="2000" dirty="0"/>
              <a:t> </a:t>
            </a:r>
            <a:r>
              <a:rPr lang="en-GB" sz="2000" dirty="0" err="1"/>
              <a:t>mejorar</a:t>
            </a:r>
            <a:r>
              <a:rPr lang="en-GB" sz="2000" dirty="0"/>
              <a:t> sus </a:t>
            </a:r>
            <a:r>
              <a:rPr lang="en-GB" sz="2000" dirty="0" err="1"/>
              <a:t>capacidades</a:t>
            </a:r>
            <a:r>
              <a:rPr lang="en-GB" sz="2000" dirty="0"/>
              <a:t> de </a:t>
            </a:r>
            <a:r>
              <a:rPr lang="en-GB" sz="2000" dirty="0" err="1"/>
              <a:t>análisis</a:t>
            </a:r>
            <a:r>
              <a:rPr lang="en-GB" sz="2000" dirty="0"/>
              <a:t> y </a:t>
            </a:r>
            <a:r>
              <a:rPr lang="en-GB" sz="2000" dirty="0" err="1"/>
              <a:t>visualización</a:t>
            </a:r>
            <a:r>
              <a:rPr lang="en-GB" sz="2000" dirty="0"/>
              <a:t> para </a:t>
            </a:r>
            <a:r>
              <a:rPr lang="en-GB" sz="2000" dirty="0" err="1"/>
              <a:t>cerrar</a:t>
            </a:r>
            <a:r>
              <a:rPr lang="en-GB" sz="2000" dirty="0"/>
              <a:t> la </a:t>
            </a:r>
            <a:r>
              <a:rPr lang="en-GB" sz="2000" dirty="0" err="1"/>
              <a:t>brecha</a:t>
            </a:r>
            <a:r>
              <a:rPr lang="en-GB" sz="2000" dirty="0"/>
              <a:t> con las </a:t>
            </a:r>
            <a:r>
              <a:rPr lang="en-GB" sz="2000" dirty="0" err="1"/>
              <a:t>soluciones</a:t>
            </a:r>
            <a:r>
              <a:rPr lang="en-GB" sz="2000" dirty="0"/>
              <a:t> </a:t>
            </a:r>
            <a:r>
              <a:rPr lang="en-GB" sz="2000" dirty="0" err="1"/>
              <a:t>propietarias</a:t>
            </a:r>
            <a:r>
              <a:rPr lang="en-GB" sz="2000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E6885-F54F-5862-8B96-41981C4AA3E5}"/>
              </a:ext>
            </a:extLst>
          </p:cNvPr>
          <p:cNvSpPr txBox="1">
            <a:spLocks/>
          </p:cNvSpPr>
          <p:nvPr/>
        </p:nvSpPr>
        <p:spPr>
          <a:xfrm>
            <a:off x="838200" y="3198812"/>
            <a:ext cx="10515600" cy="12382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2000" dirty="0"/>
              <a:t>La </a:t>
            </a:r>
            <a:r>
              <a:rPr lang="en-GB" sz="2000" dirty="0" err="1"/>
              <a:t>elección</a:t>
            </a:r>
            <a:r>
              <a:rPr lang="en-GB" sz="2000" dirty="0"/>
              <a:t> de </a:t>
            </a:r>
            <a:r>
              <a:rPr lang="en-GB" sz="2000" dirty="0" err="1"/>
              <a:t>herramientas</a:t>
            </a:r>
            <a:r>
              <a:rPr lang="en-GB" sz="2000" dirty="0"/>
              <a:t> SBOM </a:t>
            </a:r>
            <a:r>
              <a:rPr lang="en-GB" sz="2000" dirty="0" err="1"/>
              <a:t>debe</a:t>
            </a:r>
            <a:r>
              <a:rPr lang="en-GB" sz="2000" dirty="0"/>
              <a:t> </a:t>
            </a:r>
            <a:r>
              <a:rPr lang="en-GB" sz="2000" dirty="0" err="1"/>
              <a:t>considerar</a:t>
            </a:r>
            <a:r>
              <a:rPr lang="en-GB" sz="2000" dirty="0"/>
              <a:t> </a:t>
            </a:r>
            <a:r>
              <a:rPr lang="en-GB" sz="2000" dirty="0" err="1"/>
              <a:t>el</a:t>
            </a:r>
            <a:r>
              <a:rPr lang="en-GB" sz="2000" dirty="0"/>
              <a:t> </a:t>
            </a:r>
            <a:r>
              <a:rPr lang="en-GB" sz="2000" dirty="0" err="1"/>
              <a:t>ecosistema</a:t>
            </a:r>
            <a:r>
              <a:rPr lang="en-GB" sz="2000" dirty="0"/>
              <a:t> </a:t>
            </a:r>
            <a:r>
              <a:rPr lang="en-GB" sz="2000" dirty="0" err="1"/>
              <a:t>completo</a:t>
            </a:r>
            <a:r>
              <a:rPr lang="en-GB" sz="2000" dirty="0"/>
              <a:t> (</a:t>
            </a:r>
            <a:r>
              <a:rPr lang="en-GB" sz="2000" dirty="0" err="1"/>
              <a:t>integración</a:t>
            </a:r>
            <a:r>
              <a:rPr lang="en-GB" sz="2000" dirty="0"/>
              <a:t>, </a:t>
            </a:r>
            <a:r>
              <a:rPr lang="en-GB" sz="2000" dirty="0" err="1"/>
              <a:t>actividad</a:t>
            </a:r>
            <a:r>
              <a:rPr lang="en-GB" sz="2000" dirty="0"/>
              <a:t> y </a:t>
            </a:r>
            <a:r>
              <a:rPr lang="en-GB" sz="2000" dirty="0" err="1"/>
              <a:t>casos</a:t>
            </a:r>
            <a:r>
              <a:rPr lang="en-GB" sz="2000" dirty="0"/>
              <a:t> de </a:t>
            </a:r>
            <a:r>
              <a:rPr lang="en-GB" sz="2000" dirty="0" err="1"/>
              <a:t>uso</a:t>
            </a:r>
            <a:r>
              <a:rPr lang="en-GB" sz="2000" dirty="0"/>
              <a:t>), no solo </a:t>
            </a:r>
            <a:r>
              <a:rPr lang="en-GB" sz="2000" dirty="0" err="1"/>
              <a:t>el</a:t>
            </a:r>
            <a:r>
              <a:rPr lang="en-GB" sz="2000" dirty="0"/>
              <a:t> </a:t>
            </a:r>
            <a:r>
              <a:rPr lang="en-GB" sz="2000" dirty="0" err="1"/>
              <a:t>formato</a:t>
            </a:r>
            <a:r>
              <a:rPr lang="en-GB" sz="2000" dirty="0"/>
              <a:t>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AFAF0E6-B57D-EFFA-5250-9F26A917AD85}"/>
              </a:ext>
            </a:extLst>
          </p:cNvPr>
          <p:cNvSpPr txBox="1">
            <a:spLocks/>
          </p:cNvSpPr>
          <p:nvPr/>
        </p:nvSpPr>
        <p:spPr>
          <a:xfrm>
            <a:off x="838200" y="4571999"/>
            <a:ext cx="10515600" cy="12382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2000" dirty="0"/>
              <a:t>La </a:t>
            </a:r>
            <a:r>
              <a:rPr lang="en-GB" sz="2000" dirty="0" err="1"/>
              <a:t>elección</a:t>
            </a:r>
            <a:r>
              <a:rPr lang="en-GB" sz="2000" dirty="0"/>
              <a:t> de </a:t>
            </a:r>
            <a:r>
              <a:rPr lang="en-GB" sz="2000" dirty="0" err="1"/>
              <a:t>herramientas</a:t>
            </a:r>
            <a:r>
              <a:rPr lang="en-GB" sz="2000" dirty="0"/>
              <a:t> SBOM </a:t>
            </a:r>
            <a:r>
              <a:rPr lang="en-GB" sz="2000" dirty="0" err="1"/>
              <a:t>debe</a:t>
            </a:r>
            <a:r>
              <a:rPr lang="en-GB" sz="2000" dirty="0"/>
              <a:t> </a:t>
            </a:r>
            <a:r>
              <a:rPr lang="en-GB" sz="2000" dirty="0" err="1"/>
              <a:t>considerar</a:t>
            </a:r>
            <a:r>
              <a:rPr lang="en-GB" sz="2000" dirty="0"/>
              <a:t> </a:t>
            </a:r>
            <a:r>
              <a:rPr lang="en-GB" sz="2000" dirty="0" err="1"/>
              <a:t>el</a:t>
            </a:r>
            <a:r>
              <a:rPr lang="en-GB" sz="2000" dirty="0"/>
              <a:t> </a:t>
            </a:r>
            <a:r>
              <a:rPr lang="en-GB" sz="2000" dirty="0" err="1"/>
              <a:t>ecosistema</a:t>
            </a:r>
            <a:r>
              <a:rPr lang="en-GB" sz="2000" dirty="0"/>
              <a:t> </a:t>
            </a:r>
            <a:r>
              <a:rPr lang="en-GB" sz="2000" dirty="0" err="1"/>
              <a:t>completo</a:t>
            </a:r>
            <a:r>
              <a:rPr lang="en-GB" sz="2000" dirty="0"/>
              <a:t> (</a:t>
            </a:r>
            <a:r>
              <a:rPr lang="en-GB" sz="2000" dirty="0" err="1"/>
              <a:t>integración</a:t>
            </a:r>
            <a:r>
              <a:rPr lang="en-GB" sz="2000" dirty="0"/>
              <a:t>, </a:t>
            </a:r>
            <a:r>
              <a:rPr lang="en-GB" sz="2000" dirty="0" err="1"/>
              <a:t>actividad</a:t>
            </a:r>
            <a:r>
              <a:rPr lang="en-GB" sz="2000" dirty="0"/>
              <a:t> y </a:t>
            </a:r>
            <a:r>
              <a:rPr lang="en-GB" sz="2000" dirty="0" err="1"/>
              <a:t>casos</a:t>
            </a:r>
            <a:r>
              <a:rPr lang="en-GB" sz="2000" dirty="0"/>
              <a:t> de </a:t>
            </a:r>
            <a:r>
              <a:rPr lang="en-GB" sz="2000" dirty="0" err="1"/>
              <a:t>uso</a:t>
            </a:r>
            <a:r>
              <a:rPr lang="en-GB" sz="2000" dirty="0"/>
              <a:t>), no solo </a:t>
            </a:r>
            <a:r>
              <a:rPr lang="en-GB" sz="2000" dirty="0" err="1"/>
              <a:t>el</a:t>
            </a:r>
            <a:r>
              <a:rPr lang="en-GB" sz="2000" dirty="0"/>
              <a:t> </a:t>
            </a:r>
            <a:r>
              <a:rPr lang="en-GB" sz="2000" dirty="0" err="1"/>
              <a:t>formato</a:t>
            </a:r>
            <a:r>
              <a:rPr lang="en-GB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76388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ADDBE-FA11-CD79-0F1E-FEBA912CB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4A274B-F7A0-3701-7435-3B533C60D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22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F6A86CB-D0BD-2DAB-8DFE-017B36095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280" y="365125"/>
            <a:ext cx="11521440" cy="1325563"/>
          </a:xfrm>
        </p:spPr>
        <p:txBody>
          <a:bodyPr>
            <a:normAutofit/>
          </a:bodyPr>
          <a:lstStyle/>
          <a:p>
            <a:r>
              <a:rPr lang="en-GB" sz="3600" b="1" dirty="0" err="1"/>
              <a:t>Implicancias</a:t>
            </a:r>
            <a:endParaRPr lang="en-US" sz="3600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0FBD549-FA8D-CCA5-7408-E1296EFB2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751" y="1389561"/>
            <a:ext cx="10515600" cy="1238250"/>
          </a:xfr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GB" sz="2000" dirty="0"/>
              <a:t>Las </a:t>
            </a:r>
            <a:r>
              <a:rPr lang="en-GB" sz="2000" dirty="0" err="1"/>
              <a:t>herramientas</a:t>
            </a:r>
            <a:r>
              <a:rPr lang="en-GB" sz="2000" dirty="0"/>
              <a:t> SBOM open-source </a:t>
            </a:r>
            <a:r>
              <a:rPr lang="en-GB" sz="2000" dirty="0" err="1"/>
              <a:t>deben</a:t>
            </a:r>
            <a:r>
              <a:rPr lang="en-GB" sz="2000" dirty="0"/>
              <a:t> </a:t>
            </a:r>
            <a:r>
              <a:rPr lang="en-GB" sz="2000" dirty="0" err="1"/>
              <a:t>mejorar</a:t>
            </a:r>
            <a:r>
              <a:rPr lang="en-GB" sz="2000" dirty="0"/>
              <a:t> sus </a:t>
            </a:r>
            <a:r>
              <a:rPr lang="en-GB" sz="2000" dirty="0" err="1"/>
              <a:t>capacidades</a:t>
            </a:r>
            <a:r>
              <a:rPr lang="en-GB" sz="2000" dirty="0"/>
              <a:t> de </a:t>
            </a:r>
            <a:r>
              <a:rPr lang="en-GB" sz="2000" dirty="0" err="1"/>
              <a:t>análisis</a:t>
            </a:r>
            <a:r>
              <a:rPr lang="en-GB" sz="2000" dirty="0"/>
              <a:t> y </a:t>
            </a:r>
            <a:r>
              <a:rPr lang="en-GB" sz="2000" dirty="0" err="1"/>
              <a:t>visualización</a:t>
            </a:r>
            <a:r>
              <a:rPr lang="en-GB" sz="2000" dirty="0"/>
              <a:t> para </a:t>
            </a:r>
            <a:r>
              <a:rPr lang="en-GB" sz="2000" dirty="0" err="1"/>
              <a:t>cerrar</a:t>
            </a:r>
            <a:r>
              <a:rPr lang="en-GB" sz="2000" dirty="0"/>
              <a:t> la </a:t>
            </a:r>
            <a:r>
              <a:rPr lang="en-GB" sz="2000" dirty="0" err="1"/>
              <a:t>brecha</a:t>
            </a:r>
            <a:r>
              <a:rPr lang="en-GB" sz="2000" dirty="0"/>
              <a:t> con las </a:t>
            </a:r>
            <a:r>
              <a:rPr lang="en-GB" sz="2000" dirty="0" err="1"/>
              <a:t>soluciones</a:t>
            </a:r>
            <a:r>
              <a:rPr lang="en-GB" sz="2000" dirty="0"/>
              <a:t> </a:t>
            </a:r>
            <a:r>
              <a:rPr lang="en-GB" sz="2000" dirty="0" err="1"/>
              <a:t>propietarias</a:t>
            </a:r>
            <a:r>
              <a:rPr lang="en-GB" sz="2000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01AD2-E1D9-A72C-0115-4C83E86CD457}"/>
              </a:ext>
            </a:extLst>
          </p:cNvPr>
          <p:cNvSpPr txBox="1">
            <a:spLocks/>
          </p:cNvSpPr>
          <p:nvPr/>
        </p:nvSpPr>
        <p:spPr>
          <a:xfrm>
            <a:off x="838200" y="2745286"/>
            <a:ext cx="10515600" cy="12382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2000" dirty="0"/>
              <a:t>La </a:t>
            </a:r>
            <a:r>
              <a:rPr lang="en-GB" sz="2000" dirty="0" err="1"/>
              <a:t>elección</a:t>
            </a:r>
            <a:r>
              <a:rPr lang="en-GB" sz="2000" dirty="0"/>
              <a:t> de </a:t>
            </a:r>
            <a:r>
              <a:rPr lang="en-GB" sz="2000" dirty="0" err="1"/>
              <a:t>herramientas</a:t>
            </a:r>
            <a:r>
              <a:rPr lang="en-GB" sz="2000" dirty="0"/>
              <a:t> SBOM </a:t>
            </a:r>
            <a:r>
              <a:rPr lang="en-GB" sz="2000" dirty="0" err="1"/>
              <a:t>debe</a:t>
            </a:r>
            <a:r>
              <a:rPr lang="en-GB" sz="2000" dirty="0"/>
              <a:t> </a:t>
            </a:r>
            <a:r>
              <a:rPr lang="en-GB" sz="2000" dirty="0" err="1"/>
              <a:t>considerar</a:t>
            </a:r>
            <a:r>
              <a:rPr lang="en-GB" sz="2000" dirty="0"/>
              <a:t> </a:t>
            </a:r>
            <a:r>
              <a:rPr lang="en-GB" sz="2000" dirty="0" err="1"/>
              <a:t>el</a:t>
            </a:r>
            <a:r>
              <a:rPr lang="en-GB" sz="2000" dirty="0"/>
              <a:t> </a:t>
            </a:r>
            <a:r>
              <a:rPr lang="en-GB" sz="2000" dirty="0" err="1"/>
              <a:t>ecosistema</a:t>
            </a:r>
            <a:r>
              <a:rPr lang="en-GB" sz="2000" dirty="0"/>
              <a:t> </a:t>
            </a:r>
            <a:r>
              <a:rPr lang="en-GB" sz="2000" dirty="0" err="1"/>
              <a:t>completo</a:t>
            </a:r>
            <a:r>
              <a:rPr lang="en-GB" sz="2000" dirty="0"/>
              <a:t> (</a:t>
            </a:r>
            <a:r>
              <a:rPr lang="en-GB" sz="2000" dirty="0" err="1"/>
              <a:t>integración</a:t>
            </a:r>
            <a:r>
              <a:rPr lang="en-GB" sz="2000" dirty="0"/>
              <a:t>, </a:t>
            </a:r>
            <a:r>
              <a:rPr lang="en-GB" sz="2000" dirty="0" err="1"/>
              <a:t>actividad</a:t>
            </a:r>
            <a:r>
              <a:rPr lang="en-GB" sz="2000" dirty="0"/>
              <a:t> y </a:t>
            </a:r>
            <a:r>
              <a:rPr lang="en-GB" sz="2000" dirty="0" err="1"/>
              <a:t>casos</a:t>
            </a:r>
            <a:r>
              <a:rPr lang="en-GB" sz="2000" dirty="0"/>
              <a:t> de </a:t>
            </a:r>
            <a:r>
              <a:rPr lang="en-GB" sz="2000" dirty="0" err="1"/>
              <a:t>uso</a:t>
            </a:r>
            <a:r>
              <a:rPr lang="en-GB" sz="2000" dirty="0"/>
              <a:t>), no solo </a:t>
            </a:r>
            <a:r>
              <a:rPr lang="en-GB" sz="2000" dirty="0" err="1"/>
              <a:t>el</a:t>
            </a:r>
            <a:r>
              <a:rPr lang="en-GB" sz="2000" dirty="0"/>
              <a:t> </a:t>
            </a:r>
            <a:r>
              <a:rPr lang="en-GB" sz="2000" dirty="0" err="1"/>
              <a:t>formato</a:t>
            </a:r>
            <a:r>
              <a:rPr lang="en-GB" sz="2000" dirty="0"/>
              <a:t>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6D77CF2-3A57-C443-967D-41820EAAAAB0}"/>
              </a:ext>
            </a:extLst>
          </p:cNvPr>
          <p:cNvSpPr txBox="1">
            <a:spLocks/>
          </p:cNvSpPr>
          <p:nvPr/>
        </p:nvSpPr>
        <p:spPr>
          <a:xfrm>
            <a:off x="838200" y="4101011"/>
            <a:ext cx="10515600" cy="12382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2000" dirty="0"/>
              <a:t>La </a:t>
            </a:r>
            <a:r>
              <a:rPr lang="en-GB" sz="2000" dirty="0" err="1"/>
              <a:t>elección</a:t>
            </a:r>
            <a:r>
              <a:rPr lang="en-GB" sz="2000" dirty="0"/>
              <a:t> de </a:t>
            </a:r>
            <a:r>
              <a:rPr lang="en-GB" sz="2000" dirty="0" err="1"/>
              <a:t>herramientas</a:t>
            </a:r>
            <a:r>
              <a:rPr lang="en-GB" sz="2000" dirty="0"/>
              <a:t> SBOM </a:t>
            </a:r>
            <a:r>
              <a:rPr lang="en-GB" sz="2000" dirty="0" err="1"/>
              <a:t>debe</a:t>
            </a:r>
            <a:r>
              <a:rPr lang="en-GB" sz="2000" dirty="0"/>
              <a:t> </a:t>
            </a:r>
            <a:r>
              <a:rPr lang="en-GB" sz="2000" dirty="0" err="1"/>
              <a:t>considerar</a:t>
            </a:r>
            <a:r>
              <a:rPr lang="en-GB" sz="2000" dirty="0"/>
              <a:t> </a:t>
            </a:r>
            <a:r>
              <a:rPr lang="en-GB" sz="2000" dirty="0" err="1"/>
              <a:t>el</a:t>
            </a:r>
            <a:r>
              <a:rPr lang="en-GB" sz="2000" dirty="0"/>
              <a:t> </a:t>
            </a:r>
            <a:r>
              <a:rPr lang="en-GB" sz="2000" dirty="0" err="1"/>
              <a:t>ecosistema</a:t>
            </a:r>
            <a:r>
              <a:rPr lang="en-GB" sz="2000" dirty="0"/>
              <a:t> </a:t>
            </a:r>
            <a:r>
              <a:rPr lang="en-GB" sz="2000" dirty="0" err="1"/>
              <a:t>completo</a:t>
            </a:r>
            <a:r>
              <a:rPr lang="en-GB" sz="2000" dirty="0"/>
              <a:t> (</a:t>
            </a:r>
            <a:r>
              <a:rPr lang="en-GB" sz="2000" dirty="0" err="1"/>
              <a:t>integración</a:t>
            </a:r>
            <a:r>
              <a:rPr lang="en-GB" sz="2000" dirty="0"/>
              <a:t>, </a:t>
            </a:r>
            <a:r>
              <a:rPr lang="en-GB" sz="2000" dirty="0" err="1"/>
              <a:t>actividad</a:t>
            </a:r>
            <a:r>
              <a:rPr lang="en-GB" sz="2000" dirty="0"/>
              <a:t> y </a:t>
            </a:r>
            <a:r>
              <a:rPr lang="en-GB" sz="2000" dirty="0" err="1"/>
              <a:t>casos</a:t>
            </a:r>
            <a:r>
              <a:rPr lang="en-GB" sz="2000" dirty="0"/>
              <a:t> de </a:t>
            </a:r>
            <a:r>
              <a:rPr lang="en-GB" sz="2000" dirty="0" err="1"/>
              <a:t>uso</a:t>
            </a:r>
            <a:r>
              <a:rPr lang="en-GB" sz="2000" dirty="0"/>
              <a:t>), no solo </a:t>
            </a:r>
            <a:r>
              <a:rPr lang="en-GB" sz="2000" dirty="0" err="1"/>
              <a:t>el</a:t>
            </a:r>
            <a:r>
              <a:rPr lang="en-GB" sz="2000" dirty="0"/>
              <a:t> </a:t>
            </a:r>
            <a:r>
              <a:rPr lang="en-GB" sz="2000" dirty="0" err="1"/>
              <a:t>formato</a:t>
            </a:r>
            <a:r>
              <a:rPr lang="en-GB" sz="2000" dirty="0"/>
              <a:t>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EEE8872-4013-A8BA-27FD-53D05B84BAC1}"/>
              </a:ext>
            </a:extLst>
          </p:cNvPr>
          <p:cNvSpPr txBox="1">
            <a:spLocks/>
          </p:cNvSpPr>
          <p:nvPr/>
        </p:nvSpPr>
        <p:spPr>
          <a:xfrm>
            <a:off x="838200" y="5456736"/>
            <a:ext cx="10515600" cy="12382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GB" sz="2000" dirty="0"/>
              <a:t>La </a:t>
            </a:r>
            <a:r>
              <a:rPr lang="en-GB" sz="2000" dirty="0" err="1"/>
              <a:t>elección</a:t>
            </a:r>
            <a:r>
              <a:rPr lang="en-GB" sz="2000" dirty="0"/>
              <a:t> de </a:t>
            </a:r>
            <a:r>
              <a:rPr lang="en-GB" sz="2000" dirty="0" err="1"/>
              <a:t>herramientas</a:t>
            </a:r>
            <a:r>
              <a:rPr lang="en-GB" sz="2000" dirty="0"/>
              <a:t> SBOM </a:t>
            </a:r>
            <a:r>
              <a:rPr lang="en-GB" sz="2000" dirty="0" err="1"/>
              <a:t>debe</a:t>
            </a:r>
            <a:r>
              <a:rPr lang="en-GB" sz="2000" dirty="0"/>
              <a:t> </a:t>
            </a:r>
            <a:r>
              <a:rPr lang="en-GB" sz="2000" dirty="0" err="1"/>
              <a:t>considerar</a:t>
            </a:r>
            <a:r>
              <a:rPr lang="en-GB" sz="2000" dirty="0"/>
              <a:t> </a:t>
            </a:r>
            <a:r>
              <a:rPr lang="en-GB" sz="2000" dirty="0" err="1"/>
              <a:t>el</a:t>
            </a:r>
            <a:r>
              <a:rPr lang="en-GB" sz="2000" dirty="0"/>
              <a:t> </a:t>
            </a:r>
            <a:r>
              <a:rPr lang="en-GB" sz="2000" dirty="0" err="1"/>
              <a:t>ecosistema</a:t>
            </a:r>
            <a:r>
              <a:rPr lang="en-GB" sz="2000" dirty="0"/>
              <a:t> </a:t>
            </a:r>
            <a:r>
              <a:rPr lang="en-GB" sz="2000" dirty="0" err="1"/>
              <a:t>completo</a:t>
            </a:r>
            <a:r>
              <a:rPr lang="en-GB" sz="2000" dirty="0"/>
              <a:t> (</a:t>
            </a:r>
            <a:r>
              <a:rPr lang="en-GB" sz="2000" dirty="0" err="1"/>
              <a:t>integración</a:t>
            </a:r>
            <a:r>
              <a:rPr lang="en-GB" sz="2000" dirty="0"/>
              <a:t>, </a:t>
            </a:r>
            <a:r>
              <a:rPr lang="en-GB" sz="2000" dirty="0" err="1"/>
              <a:t>actividad</a:t>
            </a:r>
            <a:r>
              <a:rPr lang="en-GB" sz="2000" dirty="0"/>
              <a:t> y </a:t>
            </a:r>
            <a:r>
              <a:rPr lang="en-GB" sz="2000" dirty="0" err="1"/>
              <a:t>casos</a:t>
            </a:r>
            <a:r>
              <a:rPr lang="en-GB" sz="2000" dirty="0"/>
              <a:t> de </a:t>
            </a:r>
            <a:r>
              <a:rPr lang="en-GB" sz="2000" dirty="0" err="1"/>
              <a:t>uso</a:t>
            </a:r>
            <a:r>
              <a:rPr lang="en-GB" sz="2000" dirty="0"/>
              <a:t>), no solo </a:t>
            </a:r>
            <a:r>
              <a:rPr lang="en-GB" sz="2000" dirty="0" err="1"/>
              <a:t>el</a:t>
            </a:r>
            <a:r>
              <a:rPr lang="en-GB" sz="2000" dirty="0"/>
              <a:t> </a:t>
            </a:r>
            <a:r>
              <a:rPr lang="en-GB" sz="2000" dirty="0" err="1"/>
              <a:t>formato</a:t>
            </a:r>
            <a:r>
              <a:rPr lang="en-GB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16315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1A6CB-BD5A-3326-8F74-2EDFF901DD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8819"/>
            <a:ext cx="10515600" cy="4188143"/>
          </a:xfrm>
        </p:spPr>
        <p:txBody>
          <a:bodyPr anchor="ctr">
            <a:normAutofit fontScale="92500"/>
          </a:bodyPr>
          <a:lstStyle/>
          <a:p>
            <a:pPr lvl="1">
              <a:lnSpc>
                <a:spcPct val="150000"/>
              </a:lnSpc>
            </a:pPr>
            <a:r>
              <a:rPr lang="en-GB" b="1" dirty="0"/>
              <a:t>La </a:t>
            </a:r>
            <a:r>
              <a:rPr lang="en-GB" b="1" dirty="0" err="1"/>
              <a:t>elección</a:t>
            </a:r>
            <a:r>
              <a:rPr lang="en-GB" b="1" dirty="0"/>
              <a:t> de </a:t>
            </a:r>
            <a:r>
              <a:rPr lang="en-GB" b="1" dirty="0" err="1"/>
              <a:t>una</a:t>
            </a:r>
            <a:r>
              <a:rPr lang="en-GB" b="1" dirty="0"/>
              <a:t> </a:t>
            </a:r>
            <a:r>
              <a:rPr lang="en-GB" b="1" dirty="0" err="1"/>
              <a:t>herramienta</a:t>
            </a:r>
            <a:r>
              <a:rPr lang="en-GB" b="1" dirty="0"/>
              <a:t> SBOM no es </a:t>
            </a:r>
            <a:r>
              <a:rPr lang="en-GB" b="1" dirty="0" err="1"/>
              <a:t>una</a:t>
            </a:r>
            <a:r>
              <a:rPr lang="en-GB" b="1" dirty="0"/>
              <a:t> </a:t>
            </a:r>
            <a:r>
              <a:rPr lang="en-GB" b="1" dirty="0" err="1"/>
              <a:t>decisión</a:t>
            </a:r>
            <a:r>
              <a:rPr lang="en-GB" b="1" dirty="0"/>
              <a:t> </a:t>
            </a:r>
            <a:r>
              <a:rPr lang="en-GB" b="1" dirty="0" err="1"/>
              <a:t>técnica</a:t>
            </a:r>
            <a:r>
              <a:rPr lang="en-GB" b="1" dirty="0"/>
              <a:t> </a:t>
            </a:r>
            <a:r>
              <a:rPr lang="en-GB" b="1" dirty="0" err="1"/>
              <a:t>aislada</a:t>
            </a:r>
            <a:r>
              <a:rPr lang="en-GB" b="1" dirty="0"/>
              <a:t>, </a:t>
            </a:r>
            <a:r>
              <a:rPr lang="en-GB" b="1" dirty="0" err="1"/>
              <a:t>sino</a:t>
            </a:r>
            <a:r>
              <a:rPr lang="en-GB" b="1" dirty="0"/>
              <a:t> </a:t>
            </a:r>
            <a:r>
              <a:rPr lang="en-GB" b="1" dirty="0" err="1"/>
              <a:t>una</a:t>
            </a:r>
            <a:r>
              <a:rPr lang="en-GB" b="1" dirty="0"/>
              <a:t> </a:t>
            </a:r>
            <a:r>
              <a:rPr lang="en-GB" b="1" dirty="0" err="1"/>
              <a:t>decisión</a:t>
            </a:r>
            <a:r>
              <a:rPr lang="en-GB" b="1" dirty="0"/>
              <a:t> </a:t>
            </a:r>
            <a:r>
              <a:rPr lang="en-GB" b="1" dirty="0" err="1"/>
              <a:t>sobre</a:t>
            </a:r>
            <a:r>
              <a:rPr lang="en-GB" b="1" dirty="0"/>
              <a:t> </a:t>
            </a:r>
            <a:r>
              <a:rPr lang="en-GB" b="1" dirty="0" err="1"/>
              <a:t>el</a:t>
            </a:r>
            <a:r>
              <a:rPr lang="en-GB" b="1" dirty="0"/>
              <a:t> </a:t>
            </a:r>
            <a:r>
              <a:rPr lang="en-GB" b="1" dirty="0" err="1"/>
              <a:t>ecosistema</a:t>
            </a:r>
            <a:r>
              <a:rPr lang="en-GB" b="1" dirty="0"/>
              <a:t> </a:t>
            </a:r>
            <a:r>
              <a:rPr lang="en-GB" b="1" dirty="0" err="1"/>
              <a:t>completo</a:t>
            </a:r>
            <a:r>
              <a:rPr lang="en-GB" b="1" dirty="0"/>
              <a:t> en </a:t>
            </a:r>
            <a:r>
              <a:rPr lang="en-GB" b="1" dirty="0" err="1"/>
              <a:t>el</a:t>
            </a:r>
            <a:r>
              <a:rPr lang="en-GB" b="1" dirty="0"/>
              <a:t> </a:t>
            </a:r>
            <a:r>
              <a:rPr lang="en-GB" b="1" dirty="0" err="1"/>
              <a:t>que</a:t>
            </a:r>
            <a:r>
              <a:rPr lang="en-GB" b="1" dirty="0"/>
              <a:t> vas a </a:t>
            </a:r>
            <a:r>
              <a:rPr lang="en-GB" b="1" dirty="0" err="1"/>
              <a:t>operar</a:t>
            </a:r>
            <a:endParaRPr lang="en-GB" b="1" dirty="0"/>
          </a:p>
          <a:p>
            <a:pPr lvl="2">
              <a:lnSpc>
                <a:spcPct val="150000"/>
              </a:lnSpc>
            </a:pPr>
            <a:r>
              <a:rPr lang="en-GB" dirty="0" err="1"/>
              <a:t>distintas</a:t>
            </a:r>
            <a:r>
              <a:rPr lang="en-GB" dirty="0"/>
              <a:t> </a:t>
            </a:r>
            <a:r>
              <a:rPr lang="en-GB" dirty="0" err="1"/>
              <a:t>herramientas</a:t>
            </a:r>
            <a:r>
              <a:rPr lang="en-GB" dirty="0"/>
              <a:t> no solo </a:t>
            </a:r>
            <a:r>
              <a:rPr lang="en-GB" dirty="0" err="1"/>
              <a:t>hacen</a:t>
            </a:r>
            <a:r>
              <a:rPr lang="en-GB" dirty="0"/>
              <a:t> </a:t>
            </a:r>
            <a:r>
              <a:rPr lang="en-GB" dirty="0" err="1"/>
              <a:t>cosas</a:t>
            </a:r>
            <a:r>
              <a:rPr lang="en-GB" dirty="0"/>
              <a:t> </a:t>
            </a:r>
            <a:r>
              <a:rPr lang="en-GB" dirty="0" err="1"/>
              <a:t>diferentes</a:t>
            </a:r>
            <a:r>
              <a:rPr lang="en-GB" dirty="0"/>
              <a:t> (RQ1), </a:t>
            </a:r>
          </a:p>
          <a:p>
            <a:pPr lvl="2">
              <a:lnSpc>
                <a:spcPct val="150000"/>
              </a:lnSpc>
            </a:pPr>
            <a:r>
              <a:rPr lang="en-GB" dirty="0" err="1"/>
              <a:t>sino</a:t>
            </a:r>
            <a:r>
              <a:rPr lang="en-GB" dirty="0"/>
              <a:t>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viven</a:t>
            </a:r>
            <a:r>
              <a:rPr lang="en-GB" dirty="0"/>
              <a:t> en comunidades con </a:t>
            </a:r>
            <a:r>
              <a:rPr lang="en-GB" dirty="0" err="1"/>
              <a:t>distintos</a:t>
            </a:r>
            <a:r>
              <a:rPr lang="en-GB" dirty="0"/>
              <a:t> </a:t>
            </a:r>
            <a:r>
              <a:rPr lang="en-GB" dirty="0" err="1"/>
              <a:t>niveles</a:t>
            </a:r>
            <a:r>
              <a:rPr lang="en-GB" dirty="0"/>
              <a:t> de </a:t>
            </a:r>
            <a:r>
              <a:rPr lang="en-GB" dirty="0" err="1"/>
              <a:t>actividad</a:t>
            </a:r>
            <a:r>
              <a:rPr lang="en-GB" dirty="0"/>
              <a:t> (RQ2), </a:t>
            </a:r>
          </a:p>
          <a:p>
            <a:pPr lvl="2">
              <a:lnSpc>
                <a:spcPct val="150000"/>
              </a:lnSpc>
            </a:pPr>
            <a:r>
              <a:rPr lang="en-GB" dirty="0" err="1"/>
              <a:t>tienen</a:t>
            </a:r>
            <a:r>
              <a:rPr lang="en-GB" dirty="0"/>
              <a:t> </a:t>
            </a:r>
            <a:r>
              <a:rPr lang="en-GB" dirty="0" err="1"/>
              <a:t>problemas</a:t>
            </a:r>
            <a:r>
              <a:rPr lang="en-GB" dirty="0"/>
              <a:t> </a:t>
            </a:r>
            <a:r>
              <a:rPr lang="en-GB" dirty="0" err="1"/>
              <a:t>distintos</a:t>
            </a:r>
            <a:r>
              <a:rPr lang="en-GB" dirty="0"/>
              <a:t> (RQ3), </a:t>
            </a:r>
          </a:p>
          <a:p>
            <a:pPr lvl="2">
              <a:lnSpc>
                <a:spcPct val="150000"/>
              </a:lnSpc>
            </a:pPr>
            <a:r>
              <a:rPr lang="en-GB" dirty="0"/>
              <a:t>y </a:t>
            </a:r>
            <a:r>
              <a:rPr lang="en-GB" dirty="0" err="1"/>
              <a:t>terminan</a:t>
            </a:r>
            <a:r>
              <a:rPr lang="en-GB" dirty="0"/>
              <a:t> </a:t>
            </a:r>
            <a:r>
              <a:rPr lang="en-GB" dirty="0" err="1"/>
              <a:t>siendo</a:t>
            </a:r>
            <a:r>
              <a:rPr lang="en-GB" dirty="0"/>
              <a:t> </a:t>
            </a:r>
            <a:r>
              <a:rPr lang="en-GB" dirty="0" err="1"/>
              <a:t>adoptadas</a:t>
            </a:r>
            <a:r>
              <a:rPr lang="en-GB" dirty="0"/>
              <a:t> </a:t>
            </a:r>
            <a:r>
              <a:rPr lang="en-GB" dirty="0" err="1"/>
              <a:t>por</a:t>
            </a:r>
            <a:r>
              <a:rPr lang="en-GB" dirty="0"/>
              <a:t> </a:t>
            </a:r>
            <a:r>
              <a:rPr lang="en-GB" dirty="0" err="1"/>
              <a:t>proyectos</a:t>
            </a:r>
            <a:r>
              <a:rPr lang="en-GB" dirty="0"/>
              <a:t> con </a:t>
            </a:r>
            <a:r>
              <a:rPr lang="en-GB" dirty="0" err="1"/>
              <a:t>dinámicas</a:t>
            </a:r>
            <a:r>
              <a:rPr lang="en-GB" dirty="0"/>
              <a:t> </a:t>
            </a:r>
            <a:r>
              <a:rPr lang="en-GB" dirty="0" err="1"/>
              <a:t>muy</a:t>
            </a:r>
            <a:r>
              <a:rPr lang="en-GB" dirty="0"/>
              <a:t> </a:t>
            </a:r>
            <a:r>
              <a:rPr lang="en-GB" dirty="0" err="1"/>
              <a:t>diferentes</a:t>
            </a:r>
            <a:r>
              <a:rPr lang="en-GB" dirty="0"/>
              <a:t> (RQ4), </a:t>
            </a:r>
          </a:p>
          <a:p>
            <a:pPr lvl="1">
              <a:lnSpc>
                <a:spcPct val="150000"/>
              </a:lnSpc>
            </a:pPr>
            <a:r>
              <a:rPr lang="en-GB" dirty="0" err="1"/>
              <a:t>Entocnes</a:t>
            </a:r>
            <a:r>
              <a:rPr lang="en-GB" dirty="0"/>
              <a:t>, </a:t>
            </a:r>
            <a:r>
              <a:rPr lang="en-GB" dirty="0" err="1"/>
              <a:t>si</a:t>
            </a:r>
            <a:r>
              <a:rPr lang="en-GB" dirty="0"/>
              <a:t> </a:t>
            </a:r>
            <a:r>
              <a:rPr lang="en-GB" dirty="0" err="1"/>
              <a:t>eliges</a:t>
            </a:r>
            <a:r>
              <a:rPr lang="en-GB" dirty="0"/>
              <a:t> solo </a:t>
            </a:r>
            <a:r>
              <a:rPr lang="en-GB" dirty="0" err="1"/>
              <a:t>por</a:t>
            </a:r>
            <a:r>
              <a:rPr lang="en-GB" dirty="0"/>
              <a:t> </a:t>
            </a:r>
            <a:r>
              <a:rPr lang="en-GB" dirty="0" err="1"/>
              <a:t>el</a:t>
            </a:r>
            <a:r>
              <a:rPr lang="en-GB" dirty="0"/>
              <a:t> </a:t>
            </a:r>
            <a:r>
              <a:rPr lang="en-GB" dirty="0" err="1"/>
              <a:t>formato</a:t>
            </a:r>
            <a:r>
              <a:rPr lang="en-GB" dirty="0"/>
              <a:t> o la </a:t>
            </a:r>
            <a:r>
              <a:rPr lang="en-GB" dirty="0" err="1"/>
              <a:t>funcionalidad</a:t>
            </a:r>
            <a:r>
              <a:rPr lang="en-GB" dirty="0"/>
              <a:t>, </a:t>
            </a:r>
            <a:r>
              <a:rPr lang="en-GB" dirty="0" err="1"/>
              <a:t>estás</a:t>
            </a:r>
            <a:r>
              <a:rPr lang="en-GB" dirty="0"/>
              <a:t> </a:t>
            </a:r>
            <a:r>
              <a:rPr lang="en-GB" dirty="0" err="1"/>
              <a:t>ignorando</a:t>
            </a:r>
            <a:r>
              <a:rPr lang="en-GB" dirty="0"/>
              <a:t> </a:t>
            </a:r>
            <a:r>
              <a:rPr lang="en-GB" dirty="0" err="1"/>
              <a:t>el</a:t>
            </a:r>
            <a:r>
              <a:rPr lang="en-GB" dirty="0"/>
              <a:t> factor </a:t>
            </a:r>
            <a:r>
              <a:rPr lang="en-GB" dirty="0" err="1"/>
              <a:t>que</a:t>
            </a:r>
            <a:r>
              <a:rPr lang="en-GB" dirty="0"/>
              <a:t> </a:t>
            </a:r>
            <a:r>
              <a:rPr lang="en-GB" dirty="0" err="1"/>
              <a:t>realmente</a:t>
            </a:r>
            <a:r>
              <a:rPr lang="en-GB" dirty="0"/>
              <a:t> </a:t>
            </a:r>
            <a:r>
              <a:rPr lang="en-GB" dirty="0" err="1"/>
              <a:t>determina</a:t>
            </a:r>
            <a:r>
              <a:rPr lang="en-GB" dirty="0"/>
              <a:t> </a:t>
            </a:r>
            <a:r>
              <a:rPr lang="en-GB" dirty="0" err="1"/>
              <a:t>el</a:t>
            </a:r>
            <a:r>
              <a:rPr lang="en-GB" dirty="0"/>
              <a:t> </a:t>
            </a:r>
            <a:r>
              <a:rPr lang="en-GB" dirty="0" err="1"/>
              <a:t>éxito</a:t>
            </a:r>
            <a:r>
              <a:rPr lang="en-GB" dirty="0"/>
              <a:t> en la </a:t>
            </a:r>
            <a:r>
              <a:rPr lang="en-GB" dirty="0" err="1"/>
              <a:t>práctica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7D1D78-58CC-3EF4-A7FF-4E07E6555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23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F1285E1-C69A-9DE7-B6F7-1FAAED803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dirty="0"/>
              <a:t>The State of the SBOM Tool Ecosystems: A Comparative Analysis of SPDX and </a:t>
            </a:r>
            <a:r>
              <a:rPr lang="en-US" dirty="0" err="1"/>
              <a:t>CycloneDX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6845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5C56A-F378-9B6B-5AEA-FD5380B6E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Referencias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29557-BB1A-A739-3AA9-63615DC15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Bangash, A. A., Ge, T., Zhao, Z., Singh, A., Wang, Z., &amp; Adams, B. (2025). The State of the SBOM Tool Ecosystems: A Comparative Analysis of SPDX and </a:t>
            </a:r>
            <a:r>
              <a:rPr lang="en-GB" dirty="0" err="1"/>
              <a:t>CycloneDX</a:t>
            </a:r>
            <a:r>
              <a:rPr lang="en-GB" dirty="0"/>
              <a:t>. </a:t>
            </a:r>
            <a:r>
              <a:rPr lang="en-GB" i="1" dirty="0" err="1"/>
              <a:t>arXiv</a:t>
            </a:r>
            <a:r>
              <a:rPr lang="en-GB" i="1" dirty="0"/>
              <a:t> preprint arXiv:2512.21781</a:t>
            </a:r>
            <a:r>
              <a:rPr lang="en-GB" dirty="0"/>
              <a:t>.</a:t>
            </a:r>
          </a:p>
          <a:p>
            <a:pPr>
              <a:lnSpc>
                <a:spcPct val="150000"/>
              </a:lnSpc>
            </a:pPr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</a:t>
            </a:r>
            <a:r>
              <a:rPr lang="en-US" dirty="0" err="1"/>
              <a:t>SAILResearch</a:t>
            </a:r>
            <a:r>
              <a:rPr lang="en-US" dirty="0"/>
              <a:t>/wip-24-ali-sbom-emse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15D9C4-F141-EE09-728E-409A1127B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F8B382-0C32-8B4F-B89D-CA91991BD1B7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938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</TotalTime>
  <Words>1349</Words>
  <Application>Microsoft Macintosh PowerPoint</Application>
  <PresentationFormat>Widescreen</PresentationFormat>
  <Paragraphs>100</Paragraphs>
  <Slides>24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Producción de Software</vt:lpstr>
      <vt:lpstr>The State of the SBOM Tool Ecosystems: A Comparative Analysis of SPDX and CycloneDX</vt:lpstr>
      <vt:lpstr>The State of the SBOM Tool Ecosystems: A Comparative Analysis of SPDX and CycloneDX</vt:lpstr>
      <vt:lpstr>RQ1: ¿Qué casos de uso soportan las herramientas SBOM actuales?</vt:lpstr>
      <vt:lpstr>RQ1: ¿Qué casos de uso soportan las herramientas SBOM actuales?</vt:lpstr>
      <vt:lpstr>RQ1: ¿Qué casos de uso soportan las herramientas SBOM actuales?</vt:lpstr>
      <vt:lpstr>The State of the SBOM Tool Ecosystems: A Comparative Analysis of SPDX and CycloneDX</vt:lpstr>
      <vt:lpstr>RQ2: ¿Cómo se distribuye la salud de las herramientas SBOM de código abierto actuales? </vt:lpstr>
      <vt:lpstr>RQ2: ¿Cómo se distribuye la salud de las herramientas SBOM de código abierto actuales? </vt:lpstr>
      <vt:lpstr>The State of the SBOM Tool Ecosystems: A Comparative Analysis of SPDX and CycloneDX</vt:lpstr>
      <vt:lpstr>RQ3: ¿Cuáles son las áreas de mejora en las herramientas SBOM de código abierto?</vt:lpstr>
      <vt:lpstr>RQ3: ¿Cuáles son las áreas de mejora en las herramientas SBOM de código abierto?</vt:lpstr>
      <vt:lpstr>RQ3: ¿Cuáles son las áreas de mejora en las herramientas SBOM de código abierto?</vt:lpstr>
      <vt:lpstr>RQ3: ¿Cuáles son las áreas de mejora en las herramientas SBOM de código abierto?</vt:lpstr>
      <vt:lpstr>RQ3: ¿Cuáles son las áreas de mejora en las herramientas SBOM de código abierto?</vt:lpstr>
      <vt:lpstr>RQ3: ¿Cuáles son las áreas de mejora en las herramientas SBOM de código abierto?</vt:lpstr>
      <vt:lpstr>The State of the SBOM Tool Ecosystems: A Comparative Analysis of SPDX and CycloneDX</vt:lpstr>
      <vt:lpstr>RQ4: ¿Cómo se distribuye la salud de los proyectos de GitHub que usan herramientas SBOM?</vt:lpstr>
      <vt:lpstr>Implicancias</vt:lpstr>
      <vt:lpstr>Implicancias</vt:lpstr>
      <vt:lpstr>Implicancias</vt:lpstr>
      <vt:lpstr>Implicancias</vt:lpstr>
      <vt:lpstr>The State of the SBOM Tool Ecosystems: A Comparative Analysis of SPDX and CycloneDX</vt:lpstr>
      <vt:lpstr>Referencias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Valenzuela, Pablo Andrés (INF)</dc:creator>
  <cp:lastModifiedBy>Valenzuela, Pablo Andrés (INF)</cp:lastModifiedBy>
  <cp:revision>10</cp:revision>
  <dcterms:created xsi:type="dcterms:W3CDTF">2026-04-27T15:47:00Z</dcterms:created>
  <dcterms:modified xsi:type="dcterms:W3CDTF">2026-05-04T19:48:37Z</dcterms:modified>
</cp:coreProperties>
</file>