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99" r:id="rId3"/>
    <p:sldId id="260" r:id="rId4"/>
    <p:sldId id="301" r:id="rId5"/>
    <p:sldId id="281" r:id="rId6"/>
    <p:sldId id="302" r:id="rId7"/>
    <p:sldId id="303" r:id="rId8"/>
    <p:sldId id="295" r:id="rId9"/>
    <p:sldId id="304" r:id="rId10"/>
    <p:sldId id="305" r:id="rId11"/>
    <p:sldId id="257" r:id="rId12"/>
    <p:sldId id="300" r:id="rId13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/>
    <p:restoredTop sz="75510"/>
  </p:normalViewPr>
  <p:slideViewPr>
    <p:cSldViewPr>
      <p:cViewPr varScale="1">
        <p:scale>
          <a:sx n="95" d="100"/>
          <a:sy n="95" d="100"/>
        </p:scale>
        <p:origin x="1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D8CB8-51A0-1D49-8FDA-A8DBBAFB532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0007B-74B6-7545-B924-98D6D24D2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7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07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47A5-00B3-1CE3-46E9-F128A729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68106-4517-8512-66EC-4BAA9A07C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9D8F1-73F5-4905-5F0B-EE3CC4C03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EEA29-7905-899A-6705-979D9FA1B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9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26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160AA-3FCC-EC7C-8399-4925FD28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6E8F2-51B8-2FBE-3861-0C8FB4A53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222BB-C2DC-1B5A-16E2-889EF55F3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GitHub CI </a:t>
            </a:r>
            <a:r>
              <a:rPr lang="en-GB" dirty="0" err="1"/>
              <a:t>presenta</a:t>
            </a:r>
            <a:r>
              <a:rPr lang="en-GB" dirty="0"/>
              <a:t> </a:t>
            </a:r>
            <a:r>
              <a:rPr lang="en-GB" dirty="0" err="1"/>
              <a:t>debilidades</a:t>
            </a:r>
            <a:r>
              <a:rPr lang="en-GB" dirty="0"/>
              <a:t> </a:t>
            </a:r>
            <a:r>
              <a:rPr lang="en-GB" dirty="0" err="1"/>
              <a:t>frente</a:t>
            </a:r>
            <a:r>
              <a:rPr lang="en-GB" dirty="0"/>
              <a:t> a </a:t>
            </a:r>
            <a:r>
              <a:rPr lang="en-GB" dirty="0" err="1"/>
              <a:t>otras</a:t>
            </a:r>
            <a:r>
              <a:rPr lang="en-GB" dirty="0"/>
              <a:t> </a:t>
            </a:r>
            <a:r>
              <a:rPr lang="en-GB" dirty="0" err="1"/>
              <a:t>plataformas</a:t>
            </a:r>
            <a:r>
              <a:rPr lang="en-GB" dirty="0"/>
              <a:t> al no </a:t>
            </a:r>
            <a:r>
              <a:rPr lang="en-GB" dirty="0" err="1"/>
              <a:t>cumplir</a:t>
            </a:r>
            <a:r>
              <a:rPr lang="en-GB" dirty="0"/>
              <a:t> </a:t>
            </a:r>
            <a:r>
              <a:rPr lang="en-GB" dirty="0" err="1"/>
              <a:t>consistentemente</a:t>
            </a:r>
            <a:r>
              <a:rPr lang="en-GB" dirty="0"/>
              <a:t> </a:t>
            </a:r>
            <a:r>
              <a:rPr lang="en-GB" dirty="0" err="1"/>
              <a:t>estas</a:t>
            </a:r>
            <a:r>
              <a:rPr lang="en-GB" dirty="0"/>
              <a:t> </a:t>
            </a:r>
            <a:r>
              <a:rPr lang="en-GB" dirty="0" err="1"/>
              <a:t>propiedades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, </a:t>
            </a:r>
            <a:r>
              <a:rPr lang="en-GB" dirty="0" err="1"/>
              <a:t>especialmente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permisos</a:t>
            </a:r>
            <a:r>
              <a:rPr lang="en-GB" dirty="0"/>
              <a:t> </a:t>
            </a:r>
            <a:r>
              <a:rPr lang="en-GB" dirty="0" err="1"/>
              <a:t>excesivos</a:t>
            </a:r>
            <a:r>
              <a:rPr lang="en-GB" dirty="0"/>
              <a:t> y </a:t>
            </a:r>
            <a:r>
              <a:rPr lang="en-GB" dirty="0" err="1"/>
              <a:t>uso</a:t>
            </a:r>
            <a:r>
              <a:rPr lang="en-GB" dirty="0"/>
              <a:t> de plugins </a:t>
            </a:r>
            <a:r>
              <a:rPr lang="en-GB" dirty="0" err="1"/>
              <a:t>mutables</a:t>
            </a:r>
            <a:r>
              <a:rPr lang="en-GB" dirty="0"/>
              <a:t>, lo </a:t>
            </a:r>
            <a:r>
              <a:rPr lang="en-GB" dirty="0" err="1"/>
              <a:t>que</a:t>
            </a:r>
            <a:r>
              <a:rPr lang="en-GB" dirty="0"/>
              <a:t> lo </a:t>
            </a:r>
            <a:r>
              <a:rPr lang="en-GB" dirty="0" err="1"/>
              <a:t>hace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propenso</a:t>
            </a:r>
            <a:r>
              <a:rPr lang="en-GB" dirty="0"/>
              <a:t> a </a:t>
            </a:r>
            <a:r>
              <a:rPr lang="en-GB" dirty="0" err="1"/>
              <a:t>vulnerabilidades</a:t>
            </a:r>
            <a:r>
              <a:rPr lang="en-GB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 </a:t>
            </a:r>
            <a:r>
              <a:rPr lang="en-GB" dirty="0" err="1"/>
              <a:t>tabla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GitHub CI no </a:t>
            </a:r>
            <a:r>
              <a:rPr lang="en-GB" dirty="0" err="1"/>
              <a:t>cumple</a:t>
            </a:r>
            <a:r>
              <a:rPr lang="en-GB" dirty="0"/>
              <a:t> </a:t>
            </a:r>
            <a:r>
              <a:rPr lang="en-GB" dirty="0" err="1"/>
              <a:t>consistentemente</a:t>
            </a:r>
            <a:r>
              <a:rPr lang="en-GB" dirty="0"/>
              <a:t> las </a:t>
            </a:r>
            <a:r>
              <a:rPr lang="en-GB" dirty="0" err="1"/>
              <a:t>propiedades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, </a:t>
            </a:r>
            <a:r>
              <a:rPr lang="en-GB" dirty="0" err="1"/>
              <a:t>presentando</a:t>
            </a:r>
            <a:r>
              <a:rPr lang="en-GB" dirty="0"/>
              <a:t> </a:t>
            </a:r>
            <a:r>
              <a:rPr lang="en-GB" dirty="0" err="1"/>
              <a:t>múltiples</a:t>
            </a:r>
            <a:r>
              <a:rPr lang="en-GB" dirty="0"/>
              <a:t> </a:t>
            </a:r>
            <a:r>
              <a:rPr lang="en-GB" dirty="0" err="1"/>
              <a:t>violaciones</a:t>
            </a:r>
            <a:r>
              <a:rPr lang="en-GB" dirty="0"/>
              <a:t> en </a:t>
            </a:r>
            <a:r>
              <a:rPr lang="en-GB" dirty="0" err="1"/>
              <a:t>comparación</a:t>
            </a:r>
            <a:r>
              <a:rPr lang="en-GB" dirty="0"/>
              <a:t> con </a:t>
            </a:r>
            <a:r>
              <a:rPr lang="en-GB" dirty="0" err="1"/>
              <a:t>otras</a:t>
            </a:r>
            <a:r>
              <a:rPr lang="en-GB" dirty="0"/>
              <a:t> </a:t>
            </a:r>
            <a:r>
              <a:rPr lang="en-GB" dirty="0" err="1"/>
              <a:t>plataformas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3F9F0-FE70-56CC-770C-E9187CC64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38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0E42-E1DF-8FBB-4CC9-611743BC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4A023-EE7D-300E-C6A4-7E2F8369D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D17AB-4B53-D45E-421C-F3BB82219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16D55-68EC-9C61-21E1-BE17DDF70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25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E543-96B1-D4B3-E4DB-885DDEC6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8DD7-62D0-7471-2E58-5F301DF5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780-0C28-1008-AD38-CE9D825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0A66-B975-7049-ACD1-7940555CB459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1AE3-E729-C4E3-CF9C-C4CC931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3B70-1E59-6A4A-B209-99EE710A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2756-B2D7-05EB-A56E-B7C7559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0AB6-948B-4051-4B44-E8AB291C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00B1-B869-F7CC-7F85-808FA4A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4375-7BF5-A44C-974D-8B589BCF9DB6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2226-0895-45B7-75F5-0E9B2649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E59E0-0E33-164F-8A36-36E2F547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109D-150F-E5B4-52BB-6D4F957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A666-0167-54A5-FB82-6C500700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2B2D-5A6C-D64B-1F4F-BFC14448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E0D-CED3-3F4D-9954-5F5435DC157F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5C6C-3E48-093C-4F6C-25A4B71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4CC1-4721-F74A-8B32-84087E08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A5E3-2CDD-175D-7E0A-C86FF2D7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4024-45FA-11F5-D4A3-83499B720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FDB4-523C-DD22-B261-B7C7DE34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D904-3966-1353-6A3A-E31A055B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C842-9741-A148-B8F4-FDD5A76AF874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1BD8-17F5-C923-82CF-2FE5727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ED6-3305-6D48-8F59-0CF2467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211-A8FA-3636-3AC9-8D16F66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E5B3-B44C-2ACA-5161-C6C1BC70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2802-FC2B-CBCE-144F-71AE01D4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2FDE3-9BAE-8599-364E-D425A40E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93ABC-23FD-5B76-F7E9-9B8E4766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AA57-8B5F-E347-061B-CB37C9E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C0BC-53B6-DE40-A7FD-9252039E0E16}" type="datetime1">
              <a:rPr lang="de-CH" smtClean="0"/>
              <a:t>04.05.26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6418-F392-A7F7-080A-A49ACAEB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E6286-0E1A-F3C4-4F12-01475860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64E7-1956-F5B2-9BDE-659186A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3DF30-1355-D62B-C031-B510B8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842F-B2A2-2A45-8E45-68D4C71C989C}" type="datetime1">
              <a:rPr lang="de-CH" smtClean="0"/>
              <a:t>04.05.26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750E8-3E7C-4459-2D8D-76DE0E9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98C38-3A7E-7EA4-649B-2F8B4D7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2184E-B896-C832-5DE8-E2765AB4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6AD2-5AAB-B24C-A2FA-09DF5A91DEBC}" type="datetime1">
              <a:rPr lang="de-CH" smtClean="0"/>
              <a:t>04.05.26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EA6E8-3EBF-6DC0-6924-66B296CF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DBDE8-E773-BE2D-A312-6359963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1EFD-AF17-7431-FF92-6A4EBC1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EEFB-0C20-4928-A274-B492E1D1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BF22-5286-E95A-AA89-FD75F8A71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430D-F25F-F840-0F01-76DFD8CA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1904-7D9E-9542-9EDA-D99FD446851A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F496-4086-BAEE-036E-EC1A16EC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BBD4D-AC77-A2F9-968B-9C71539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D656-2AC3-9423-6351-21F4B15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413E0-35DC-327A-0E36-BD8753EF3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3139-B52D-FADD-61E1-5D83A6ED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2D68-839C-6D91-8DAB-586BC53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0CBA-00C3-454A-9E3C-0BF75F4A52E7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D9704-E98E-8E5A-007B-7E479E75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E358-178D-67B8-980B-D0D2E966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F7A0-032A-7A77-E1FC-82FEBD7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9680-88D0-C41F-BEF7-10CECED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B369-0265-DE20-823D-BCE1BCAF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EDE5-8D27-9E4E-80C3-5B9C418987DC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BC7-DBB4-0637-3D7E-E9866A55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D2D4-B8FD-2522-201E-DEABD6FF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F2BB-9B80-CCA0-8DC7-0318BE66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653B9-DF95-9646-47F5-A7FB13A13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16C3-1247-CA60-2B53-8E358939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5308-1835-9B4D-B335-3C427449A7BD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9FCF-4B09-D1F8-1E2A-3E14582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07E6-CBA4-9C2A-3B56-8E0A112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B2A47-1032-B976-7ACD-5F8FD079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C394-B033-B704-B1ED-ECA032BEC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96A5-9E61-F999-25FF-394583D0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C4B0-6281-4242-BB76-58DF8477EB26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EC72-7879-4A00-B34C-38E3D6E4D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A7E-DC66-031E-0DDA-7A58416A3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997-A283-B1A5-CA3C-FA789F4A7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1AC4-3B0E-0B00-B477-952C5CF3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Pablo Valenzuela</a:t>
            </a:r>
          </a:p>
          <a:p>
            <a:r>
              <a:rPr lang="en-US" dirty="0"/>
              <a:t>4 Mayo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A295B-25A6-0FA2-CA73-D314CAFC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69D7-28CB-24A2-F03F-6BA11059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861D-ECB2-2C9E-D3D4-208AC21A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Characterizing the Security of </a:t>
            </a:r>
            <a:r>
              <a:rPr lang="en-US" dirty="0" err="1"/>
              <a:t>Github</a:t>
            </a:r>
            <a:r>
              <a:rPr lang="en-US" dirty="0"/>
              <a:t> CI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1DF66-6577-6079-77DB-AB17DDC58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819"/>
            <a:ext cx="10515600" cy="4188143"/>
          </a:xfrm>
        </p:spPr>
        <p:txBody>
          <a:bodyPr anchor="ctr">
            <a:norm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RQ1</a:t>
            </a:r>
            <a:r>
              <a:rPr lang="en-GB" dirty="0"/>
              <a:t>: ¿</a:t>
            </a:r>
            <a:r>
              <a:rPr lang="en-GB" dirty="0" err="1"/>
              <a:t>Cuáles</a:t>
            </a:r>
            <a:r>
              <a:rPr lang="en-GB" dirty="0"/>
              <a:t> son las </a:t>
            </a:r>
            <a:r>
              <a:rPr lang="en-GB" dirty="0" err="1"/>
              <a:t>propiedades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deben</a:t>
            </a:r>
            <a:r>
              <a:rPr lang="en-GB" dirty="0"/>
              <a:t> </a:t>
            </a:r>
            <a:r>
              <a:rPr lang="en-GB" dirty="0" err="1"/>
              <a:t>cumplirse</a:t>
            </a:r>
            <a:r>
              <a:rPr lang="en-GB" dirty="0"/>
              <a:t> para </a:t>
            </a:r>
            <a:r>
              <a:rPr lang="en-GB" dirty="0" err="1"/>
              <a:t>tener</a:t>
            </a:r>
            <a:r>
              <a:rPr lang="en-GB" dirty="0"/>
              <a:t> un CI/CD </a:t>
            </a:r>
            <a:r>
              <a:rPr lang="en-GB" dirty="0" err="1"/>
              <a:t>seguro</a:t>
            </a:r>
            <a:r>
              <a:rPr lang="en-GB" dirty="0"/>
              <a:t>?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RQ2</a:t>
            </a:r>
            <a:r>
              <a:rPr lang="en-GB" dirty="0"/>
              <a:t>: ¿</a:t>
            </a:r>
            <a:r>
              <a:rPr lang="en-GB" dirty="0" err="1"/>
              <a:t>Cómo</a:t>
            </a:r>
            <a:r>
              <a:rPr lang="en-GB" dirty="0"/>
              <a:t> se </a:t>
            </a:r>
            <a:r>
              <a:rPr lang="en-GB" dirty="0" err="1"/>
              <a:t>compara</a:t>
            </a:r>
            <a:r>
              <a:rPr lang="en-GB" dirty="0"/>
              <a:t> GitHub CI con </a:t>
            </a:r>
            <a:r>
              <a:rPr lang="en-GB" dirty="0" err="1"/>
              <a:t>otras</a:t>
            </a:r>
            <a:r>
              <a:rPr lang="en-GB" dirty="0"/>
              <a:t> </a:t>
            </a:r>
            <a:r>
              <a:rPr lang="en-GB" dirty="0" err="1"/>
              <a:t>plataformas</a:t>
            </a:r>
            <a:r>
              <a:rPr lang="en-GB" dirty="0"/>
              <a:t> CI/CD </a:t>
            </a:r>
            <a:r>
              <a:rPr lang="en-GB" dirty="0" err="1"/>
              <a:t>respecto</a:t>
            </a:r>
            <a:r>
              <a:rPr lang="en-GB" dirty="0"/>
              <a:t> a </a:t>
            </a:r>
            <a:r>
              <a:rPr lang="en-GB" dirty="0" err="1"/>
              <a:t>estas</a:t>
            </a:r>
            <a:r>
              <a:rPr lang="en-GB" dirty="0"/>
              <a:t> </a:t>
            </a:r>
            <a:r>
              <a:rPr lang="en-GB" dirty="0" err="1"/>
              <a:t>propiedades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RQ3</a:t>
            </a:r>
            <a:r>
              <a:rPr lang="en-GB" dirty="0"/>
              <a:t>: ¿</a:t>
            </a:r>
            <a:r>
              <a:rPr lang="en-GB" dirty="0" err="1"/>
              <a:t>Cómo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uso</a:t>
            </a:r>
            <a:r>
              <a:rPr lang="en-GB" dirty="0"/>
              <a:t> de workflows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desarrolladores</a:t>
            </a:r>
            <a:r>
              <a:rPr lang="en-GB" dirty="0"/>
              <a:t> </a:t>
            </a:r>
            <a:r>
              <a:rPr lang="en-GB" dirty="0" err="1"/>
              <a:t>afecta</a:t>
            </a:r>
            <a:r>
              <a:rPr lang="en-GB" dirty="0"/>
              <a:t> </a:t>
            </a:r>
            <a:r>
              <a:rPr lang="en-GB" dirty="0" err="1"/>
              <a:t>estas</a:t>
            </a:r>
            <a:r>
              <a:rPr lang="en-GB" dirty="0"/>
              <a:t> </a:t>
            </a:r>
            <a:r>
              <a:rPr lang="en-GB" dirty="0" err="1"/>
              <a:t>propiedades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6E42F-C158-65E3-17D3-D04C48A5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5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7933-4A48-025B-FEDF-A3C2E1DE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Dónde</a:t>
            </a:r>
            <a:r>
              <a:rPr lang="en-GB" b="1" dirty="0"/>
              <a:t> </a:t>
            </a:r>
            <a:r>
              <a:rPr lang="en-GB" b="1" dirty="0" err="1"/>
              <a:t>está</a:t>
            </a:r>
            <a:r>
              <a:rPr lang="en-GB" b="1" dirty="0"/>
              <a:t> </a:t>
            </a:r>
            <a:r>
              <a:rPr lang="en-GB" b="1" dirty="0" err="1"/>
              <a:t>el</a:t>
            </a:r>
            <a:r>
              <a:rPr lang="en-GB" b="1" dirty="0"/>
              <a:t> </a:t>
            </a:r>
            <a:r>
              <a:rPr lang="en-GB" b="1" dirty="0" err="1"/>
              <a:t>problema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937E-1FFC-8F94-6799-F776588F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0CA78-76D6-F416-BD9C-D78925C34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60" y="1473706"/>
            <a:ext cx="7772400" cy="538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3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BD70-8103-6A8C-1987-34D3405C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8B12-AE22-DB04-C443-6BF215CC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Dónde</a:t>
            </a:r>
            <a:r>
              <a:rPr lang="en-GB" b="1" dirty="0"/>
              <a:t> </a:t>
            </a:r>
            <a:r>
              <a:rPr lang="en-GB" b="1" dirty="0" err="1"/>
              <a:t>está</a:t>
            </a:r>
            <a:r>
              <a:rPr lang="en-GB" b="1" dirty="0"/>
              <a:t> </a:t>
            </a:r>
            <a:r>
              <a:rPr lang="en-GB" b="1" dirty="0" err="1"/>
              <a:t>el</a:t>
            </a:r>
            <a:r>
              <a:rPr lang="en-GB" b="1" dirty="0"/>
              <a:t> </a:t>
            </a:r>
            <a:r>
              <a:rPr lang="en-GB" b="1" dirty="0" err="1"/>
              <a:t>problema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E99E4-48DC-C47C-14B4-FB0C6DAC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06C61-3CC6-5C51-392E-4B206B206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6100"/>
            <a:ext cx="4763006" cy="4722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34A24-C744-C079-D8A3-400806FB1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16100"/>
            <a:ext cx="55626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3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3F6A9-0296-F8B9-44BC-957AC11D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FDD2-B4BC-5E21-F167-1695822D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RQ1:</a:t>
            </a:r>
            <a:r>
              <a:rPr lang="en-GB" sz="3600" dirty="0"/>
              <a:t> ¿</a:t>
            </a:r>
            <a:r>
              <a:rPr lang="en-GB" sz="3600" dirty="0" err="1"/>
              <a:t>Cuáles</a:t>
            </a:r>
            <a:r>
              <a:rPr lang="en-GB" sz="3600" dirty="0"/>
              <a:t> son las </a:t>
            </a:r>
            <a:r>
              <a:rPr lang="en-GB" sz="3600" dirty="0" err="1"/>
              <a:t>propiedades</a:t>
            </a:r>
            <a:r>
              <a:rPr lang="en-GB" sz="3600" dirty="0"/>
              <a:t> de </a:t>
            </a:r>
            <a:r>
              <a:rPr lang="en-GB" sz="3600" dirty="0" err="1"/>
              <a:t>seguridad</a:t>
            </a:r>
            <a:r>
              <a:rPr lang="en-GB" sz="3600" dirty="0"/>
              <a:t> </a:t>
            </a:r>
            <a:r>
              <a:rPr lang="en-GB" sz="3600" dirty="0" err="1"/>
              <a:t>que</a:t>
            </a:r>
            <a:r>
              <a:rPr lang="en-GB" sz="3600" dirty="0"/>
              <a:t> </a:t>
            </a:r>
            <a:r>
              <a:rPr lang="en-GB" sz="3600" dirty="0" err="1"/>
              <a:t>deben</a:t>
            </a:r>
            <a:r>
              <a:rPr lang="en-GB" sz="3600" dirty="0"/>
              <a:t> </a:t>
            </a:r>
            <a:r>
              <a:rPr lang="en-GB" sz="3600" dirty="0" err="1"/>
              <a:t>cumplirse</a:t>
            </a:r>
            <a:r>
              <a:rPr lang="en-GB" sz="3600" dirty="0"/>
              <a:t> para </a:t>
            </a:r>
            <a:r>
              <a:rPr lang="en-GB" sz="3600" dirty="0" err="1"/>
              <a:t>tener</a:t>
            </a:r>
            <a:r>
              <a:rPr lang="en-GB" sz="3600" dirty="0"/>
              <a:t> un CI/CD </a:t>
            </a:r>
            <a:r>
              <a:rPr lang="en-GB" sz="3600" dirty="0" err="1"/>
              <a:t>seguro</a:t>
            </a:r>
            <a:r>
              <a:rPr lang="en-GB" sz="3600" dirty="0"/>
              <a:t>? 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1FD29-89AB-C6CE-E163-A6BE504A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A4771-3450-6CF0-C6EE-4593B9C9E3C7}"/>
              </a:ext>
            </a:extLst>
          </p:cNvPr>
          <p:cNvSpPr txBox="1"/>
          <p:nvPr/>
        </p:nvSpPr>
        <p:spPr>
          <a:xfrm>
            <a:off x="1055370" y="2253804"/>
            <a:ext cx="100812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dirty="0"/>
              <a:t>Un </a:t>
            </a:r>
            <a:r>
              <a:rPr lang="en-GB" sz="3200" dirty="0" err="1"/>
              <a:t>sistema</a:t>
            </a:r>
            <a:r>
              <a:rPr lang="en-GB" sz="3200" dirty="0"/>
              <a:t> CI/CD </a:t>
            </a:r>
            <a:r>
              <a:rPr lang="en-GB" sz="3200" dirty="0" err="1"/>
              <a:t>seguro</a:t>
            </a:r>
            <a:r>
              <a:rPr lang="en-GB" sz="3200" dirty="0"/>
              <a:t> </a:t>
            </a:r>
            <a:r>
              <a:rPr lang="en-GB" sz="3200" dirty="0" err="1"/>
              <a:t>debe</a:t>
            </a:r>
            <a:r>
              <a:rPr lang="en-GB" sz="3200" dirty="0"/>
              <a:t> </a:t>
            </a:r>
            <a:r>
              <a:rPr lang="en-GB" sz="3200" dirty="0" err="1"/>
              <a:t>cumplir</a:t>
            </a:r>
            <a:r>
              <a:rPr lang="en-GB" sz="3200" dirty="0"/>
              <a:t> cuatro </a:t>
            </a:r>
            <a:r>
              <a:rPr lang="en-GB" sz="3200" dirty="0" err="1"/>
              <a:t>propiedades</a:t>
            </a:r>
            <a:r>
              <a:rPr lang="en-GB" sz="3200" dirty="0"/>
              <a:t> clave: </a:t>
            </a:r>
          </a:p>
          <a:p>
            <a:pPr>
              <a:buNone/>
            </a:pPr>
            <a:endParaRPr lang="en-GB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 err="1"/>
              <a:t>controlar</a:t>
            </a:r>
            <a:r>
              <a:rPr lang="en-GB" sz="3200" dirty="0"/>
              <a:t> </a:t>
            </a:r>
            <a:r>
              <a:rPr lang="en-GB" sz="3200" dirty="0" err="1"/>
              <a:t>quién</a:t>
            </a:r>
            <a:r>
              <a:rPr lang="en-GB" sz="3200" dirty="0"/>
              <a:t> </a:t>
            </a:r>
            <a:r>
              <a:rPr lang="en-GB" sz="3200" dirty="0" err="1"/>
              <a:t>puede</a:t>
            </a:r>
            <a:r>
              <a:rPr lang="en-GB" sz="3200" dirty="0"/>
              <a:t> </a:t>
            </a:r>
            <a:r>
              <a:rPr lang="en-GB" sz="3200" dirty="0" err="1"/>
              <a:t>modificar</a:t>
            </a:r>
            <a:r>
              <a:rPr lang="en-GB" sz="3200" dirty="0"/>
              <a:t> workflows,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 err="1"/>
              <a:t>cómo</a:t>
            </a:r>
            <a:r>
              <a:rPr lang="en-GB" sz="3200" dirty="0"/>
              <a:t> se </a:t>
            </a:r>
            <a:r>
              <a:rPr lang="en-GB" sz="3200" dirty="0" err="1"/>
              <a:t>ejecutan</a:t>
            </a:r>
            <a:r>
              <a:rPr lang="en-GB" sz="32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 err="1"/>
              <a:t>qué</a:t>
            </a:r>
            <a:r>
              <a:rPr lang="en-GB" sz="3200" dirty="0"/>
              <a:t> </a:t>
            </a:r>
            <a:r>
              <a:rPr lang="en-GB" sz="3200" dirty="0" err="1"/>
              <a:t>código</a:t>
            </a:r>
            <a:r>
              <a:rPr lang="en-GB" sz="3200" dirty="0"/>
              <a:t> se </a:t>
            </a:r>
            <a:r>
              <a:rPr lang="en-GB" sz="3200" dirty="0" err="1"/>
              <a:t>ejecuta</a:t>
            </a:r>
            <a:r>
              <a:rPr lang="en-GB" sz="3200" dirty="0"/>
              <a:t>, 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 err="1"/>
              <a:t>cómo</a:t>
            </a:r>
            <a:r>
              <a:rPr lang="en-GB" sz="3200" dirty="0"/>
              <a:t> se accede a </a:t>
            </a:r>
            <a:r>
              <a:rPr lang="en-GB" sz="3200" dirty="0" err="1"/>
              <a:t>los</a:t>
            </a:r>
            <a:r>
              <a:rPr lang="en-GB" sz="3200" dirty="0"/>
              <a:t> </a:t>
            </a:r>
            <a:r>
              <a:rPr lang="en-GB" sz="3200" dirty="0" err="1"/>
              <a:t>secretos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89765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22A08-2BCD-E348-71A3-6CC2FBC6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A192-B17C-1139-EF95-234F5D6A0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RQ2:</a:t>
            </a:r>
            <a:r>
              <a:rPr lang="en-GB" sz="3600" dirty="0"/>
              <a:t> ¿</a:t>
            </a:r>
            <a:r>
              <a:rPr lang="en-GB" sz="3600" dirty="0" err="1"/>
              <a:t>Cómo</a:t>
            </a:r>
            <a:r>
              <a:rPr lang="en-GB" sz="3600" dirty="0"/>
              <a:t> se </a:t>
            </a:r>
            <a:r>
              <a:rPr lang="en-GB" sz="3600" dirty="0" err="1"/>
              <a:t>compara</a:t>
            </a:r>
            <a:r>
              <a:rPr lang="en-GB" sz="3600" dirty="0"/>
              <a:t> GitHub CI con </a:t>
            </a:r>
            <a:r>
              <a:rPr lang="en-GB" sz="3600" dirty="0" err="1"/>
              <a:t>otras</a:t>
            </a:r>
            <a:r>
              <a:rPr lang="en-GB" sz="3600" dirty="0"/>
              <a:t> </a:t>
            </a:r>
            <a:r>
              <a:rPr lang="en-GB" sz="3600" dirty="0" err="1"/>
              <a:t>plataformas</a:t>
            </a:r>
            <a:r>
              <a:rPr lang="en-GB" sz="3600" dirty="0"/>
              <a:t> CI/CD </a:t>
            </a:r>
            <a:r>
              <a:rPr lang="en-GB" sz="3600" dirty="0" err="1"/>
              <a:t>respecto</a:t>
            </a:r>
            <a:r>
              <a:rPr lang="en-GB" sz="3600" dirty="0"/>
              <a:t> a </a:t>
            </a:r>
            <a:r>
              <a:rPr lang="en-GB" sz="3600" dirty="0" err="1"/>
              <a:t>estas</a:t>
            </a:r>
            <a:r>
              <a:rPr lang="en-GB" sz="3600" dirty="0"/>
              <a:t> </a:t>
            </a:r>
            <a:r>
              <a:rPr lang="en-GB" sz="3600" dirty="0" err="1"/>
              <a:t>propiedades</a:t>
            </a:r>
            <a:r>
              <a:rPr lang="en-GB" sz="3600" dirty="0"/>
              <a:t> de </a:t>
            </a:r>
            <a:r>
              <a:rPr lang="en-GB" sz="3600" dirty="0" err="1"/>
              <a:t>seguridad</a:t>
            </a:r>
            <a:r>
              <a:rPr lang="en-GB" sz="3600" dirty="0"/>
              <a:t>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88F25-D5AF-E0BA-58BD-A89A7719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0499A-BCA7-08B1-1A12-0C2654B56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45" y="2275756"/>
            <a:ext cx="11641509" cy="395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58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A310A-6915-24ED-71BD-9F01D80A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D20C-7F29-BE85-E714-7D9AB53CF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RQ3:</a:t>
            </a:r>
            <a:r>
              <a:rPr lang="en-GB" sz="3600" dirty="0"/>
              <a:t> ¿</a:t>
            </a:r>
            <a:r>
              <a:rPr lang="en-GB" sz="3600" dirty="0" err="1"/>
              <a:t>Cómo</a:t>
            </a:r>
            <a:r>
              <a:rPr lang="en-GB" sz="3600" dirty="0"/>
              <a:t> </a:t>
            </a:r>
            <a:r>
              <a:rPr lang="en-GB" sz="3600" dirty="0" err="1"/>
              <a:t>el</a:t>
            </a:r>
            <a:r>
              <a:rPr lang="en-GB" sz="3600" dirty="0"/>
              <a:t> </a:t>
            </a:r>
            <a:r>
              <a:rPr lang="en-GB" sz="3600" dirty="0" err="1"/>
              <a:t>uso</a:t>
            </a:r>
            <a:r>
              <a:rPr lang="en-GB" sz="3600" dirty="0"/>
              <a:t> de workflows </a:t>
            </a:r>
            <a:r>
              <a:rPr lang="en-GB" sz="3600" dirty="0" err="1"/>
              <a:t>por</a:t>
            </a:r>
            <a:r>
              <a:rPr lang="en-GB" sz="3600" dirty="0"/>
              <a:t> </a:t>
            </a:r>
            <a:r>
              <a:rPr lang="en-GB" sz="3600" dirty="0" err="1"/>
              <a:t>parte</a:t>
            </a:r>
            <a:r>
              <a:rPr lang="en-GB" sz="3600" dirty="0"/>
              <a:t> de </a:t>
            </a:r>
            <a:r>
              <a:rPr lang="en-GB" sz="3600" dirty="0" err="1"/>
              <a:t>los</a:t>
            </a:r>
            <a:r>
              <a:rPr lang="en-GB" sz="3600" dirty="0"/>
              <a:t> </a:t>
            </a:r>
            <a:r>
              <a:rPr lang="en-GB" sz="3600" dirty="0" err="1"/>
              <a:t>desarrolladores</a:t>
            </a:r>
            <a:r>
              <a:rPr lang="en-GB" sz="3600" dirty="0"/>
              <a:t> </a:t>
            </a:r>
            <a:r>
              <a:rPr lang="en-GB" sz="3600" dirty="0" err="1"/>
              <a:t>afecta</a:t>
            </a:r>
            <a:r>
              <a:rPr lang="en-GB" sz="3600" dirty="0"/>
              <a:t> </a:t>
            </a:r>
            <a:r>
              <a:rPr lang="en-GB" sz="3600" dirty="0" err="1"/>
              <a:t>estas</a:t>
            </a:r>
            <a:r>
              <a:rPr lang="en-GB" sz="3600" dirty="0"/>
              <a:t> </a:t>
            </a:r>
            <a:r>
              <a:rPr lang="en-GB" sz="3600" dirty="0" err="1"/>
              <a:t>propiedades</a:t>
            </a:r>
            <a:r>
              <a:rPr lang="en-GB" sz="3600" dirty="0"/>
              <a:t> de </a:t>
            </a:r>
            <a:r>
              <a:rPr lang="en-GB" sz="3600" dirty="0" err="1"/>
              <a:t>seguridad</a:t>
            </a:r>
            <a:r>
              <a:rPr lang="en-GB" sz="3600" dirty="0"/>
              <a:t>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34B3E-188C-DA74-A173-F502D329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98758-3823-37E9-8404-B79016BB6A53}"/>
              </a:ext>
            </a:extLst>
          </p:cNvPr>
          <p:cNvSpPr txBox="1"/>
          <p:nvPr/>
        </p:nvSpPr>
        <p:spPr>
          <a:xfrm>
            <a:off x="397585" y="2746246"/>
            <a:ext cx="100812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dirty="0"/>
              <a:t>Los </a:t>
            </a:r>
            <a:r>
              <a:rPr lang="en-GB" sz="3200" dirty="0" err="1"/>
              <a:t>resultados</a:t>
            </a:r>
            <a:r>
              <a:rPr lang="en-GB" sz="3200" dirty="0"/>
              <a:t> </a:t>
            </a:r>
            <a:r>
              <a:rPr lang="en-GB" sz="3200" dirty="0" err="1"/>
              <a:t>muestran</a:t>
            </a:r>
            <a:r>
              <a:rPr lang="en-GB" sz="3200" dirty="0"/>
              <a:t> </a:t>
            </a:r>
            <a:r>
              <a:rPr lang="en-GB" sz="3200" dirty="0" err="1"/>
              <a:t>que</a:t>
            </a:r>
            <a:r>
              <a:rPr lang="en-GB" sz="3200" dirty="0"/>
              <a:t> </a:t>
            </a:r>
            <a:r>
              <a:rPr lang="en-GB" sz="3200" dirty="0" err="1"/>
              <a:t>el</a:t>
            </a:r>
            <a:r>
              <a:rPr lang="en-GB" sz="3200" dirty="0"/>
              <a:t> </a:t>
            </a:r>
            <a:r>
              <a:rPr lang="en-GB" sz="3200" dirty="0" err="1"/>
              <a:t>comportamiento</a:t>
            </a:r>
            <a:r>
              <a:rPr lang="en-GB" sz="3200" dirty="0"/>
              <a:t> de </a:t>
            </a:r>
            <a:r>
              <a:rPr lang="en-GB" sz="3200" dirty="0" err="1"/>
              <a:t>uso</a:t>
            </a:r>
            <a:r>
              <a:rPr lang="en-GB" sz="3200" dirty="0"/>
              <a:t> de </a:t>
            </a:r>
            <a:r>
              <a:rPr lang="en-GB" sz="3200" dirty="0" err="1"/>
              <a:t>los</a:t>
            </a:r>
            <a:r>
              <a:rPr lang="en-GB" sz="3200" dirty="0"/>
              <a:t> workflows </a:t>
            </a:r>
            <a:r>
              <a:rPr lang="en-GB" sz="3200" dirty="0" err="1"/>
              <a:t>afecta</a:t>
            </a:r>
            <a:r>
              <a:rPr lang="en-GB" sz="3200" dirty="0"/>
              <a:t> </a:t>
            </a:r>
            <a:r>
              <a:rPr lang="en-GB" sz="3200" dirty="0" err="1"/>
              <a:t>directamente</a:t>
            </a:r>
            <a:r>
              <a:rPr lang="en-GB" sz="3200" dirty="0"/>
              <a:t> la </a:t>
            </a:r>
            <a:r>
              <a:rPr lang="en-GB" sz="3200" dirty="0" err="1"/>
              <a:t>seguridad</a:t>
            </a:r>
            <a:r>
              <a:rPr lang="en-GB" sz="3200" dirty="0"/>
              <a:t>, </a:t>
            </a:r>
            <a:r>
              <a:rPr lang="en-GB" sz="3200" dirty="0" err="1"/>
              <a:t>evidenciando</a:t>
            </a:r>
            <a:r>
              <a:rPr lang="en-GB" sz="3200" dirty="0"/>
              <a:t> </a:t>
            </a:r>
            <a:r>
              <a:rPr lang="en-GB" sz="3200" dirty="0" err="1"/>
              <a:t>prácticas</a:t>
            </a:r>
            <a:r>
              <a:rPr lang="en-GB" sz="3200" dirty="0"/>
              <a:t> </a:t>
            </a:r>
            <a:r>
              <a:rPr lang="en-GB" sz="3200" dirty="0" err="1"/>
              <a:t>comunes</a:t>
            </a:r>
            <a:r>
              <a:rPr lang="en-GB" sz="3200" dirty="0"/>
              <a:t> </a:t>
            </a:r>
            <a:r>
              <a:rPr lang="en-GB" sz="3200" dirty="0" err="1"/>
              <a:t>como</a:t>
            </a:r>
            <a:r>
              <a:rPr lang="en-GB" sz="3200" dirty="0"/>
              <a:t> </a:t>
            </a:r>
            <a:r>
              <a:rPr lang="en-GB" sz="3200" dirty="0" err="1"/>
              <a:t>sobreprivilegios</a:t>
            </a:r>
            <a:r>
              <a:rPr lang="en-GB" sz="3200" dirty="0"/>
              <a:t>, </a:t>
            </a:r>
            <a:r>
              <a:rPr lang="en-GB" sz="3200" dirty="0" err="1"/>
              <a:t>uso</a:t>
            </a:r>
            <a:r>
              <a:rPr lang="en-GB" sz="3200" dirty="0"/>
              <a:t> de </a:t>
            </a:r>
            <a:r>
              <a:rPr lang="en-GB" sz="3200" dirty="0" err="1"/>
              <a:t>acciones</a:t>
            </a:r>
            <a:r>
              <a:rPr lang="en-GB" sz="3200" dirty="0"/>
              <a:t> no </a:t>
            </a:r>
            <a:r>
              <a:rPr lang="en-GB" sz="3200" dirty="0" err="1"/>
              <a:t>verificadas</a:t>
            </a:r>
            <a:r>
              <a:rPr lang="en-GB" sz="3200" dirty="0"/>
              <a:t> y </a:t>
            </a:r>
            <a:r>
              <a:rPr lang="en-GB" sz="3200" dirty="0" err="1"/>
              <a:t>referencias</a:t>
            </a:r>
            <a:r>
              <a:rPr lang="en-GB" sz="3200" dirty="0"/>
              <a:t> </a:t>
            </a:r>
            <a:r>
              <a:rPr lang="en-GB" sz="3200" dirty="0" err="1"/>
              <a:t>mutables</a:t>
            </a:r>
            <a:r>
              <a:rPr lang="en-GB" sz="3200" dirty="0"/>
              <a:t> </a:t>
            </a:r>
            <a:r>
              <a:rPr lang="en-GB" sz="3200" dirty="0" err="1"/>
              <a:t>que</a:t>
            </a:r>
            <a:r>
              <a:rPr lang="en-GB" sz="3200" dirty="0"/>
              <a:t> </a:t>
            </a:r>
            <a:r>
              <a:rPr lang="en-GB" sz="3200" dirty="0" err="1"/>
              <a:t>incrementan</a:t>
            </a:r>
            <a:r>
              <a:rPr lang="en-GB" sz="3200" dirty="0"/>
              <a:t> la </a:t>
            </a:r>
            <a:r>
              <a:rPr lang="en-GB" sz="3200" dirty="0" err="1"/>
              <a:t>superficie</a:t>
            </a:r>
            <a:r>
              <a:rPr lang="en-GB" sz="3200" dirty="0"/>
              <a:t> de </a:t>
            </a:r>
            <a:r>
              <a:rPr lang="en-GB" sz="3200" dirty="0" err="1"/>
              <a:t>ataque</a:t>
            </a:r>
            <a:r>
              <a:rPr lang="en-GB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38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1824C-6E8F-97C8-3812-A97A8FA0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9003B-FA3E-E106-7037-86697BC7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FAFCC27-CC48-8DF8-A432-11A851746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 err="1"/>
              <a:t>Implicancias</a:t>
            </a:r>
            <a:endParaRPr lang="en-US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B30A5AA-538D-E296-27DC-9EA8EC9DB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82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seguridad</a:t>
            </a:r>
            <a:r>
              <a:rPr lang="en-GB" sz="2000" dirty="0"/>
              <a:t> de </a:t>
            </a:r>
            <a:r>
              <a:rPr lang="en-GB" sz="2000" dirty="0" err="1"/>
              <a:t>los</a:t>
            </a:r>
            <a:r>
              <a:rPr lang="en-GB" sz="2000" dirty="0"/>
              <a:t> workflows </a:t>
            </a:r>
            <a:r>
              <a:rPr lang="en-GB" sz="2000" dirty="0" err="1"/>
              <a:t>depende</a:t>
            </a:r>
            <a:r>
              <a:rPr lang="en-GB" sz="2000" dirty="0"/>
              <a:t> </a:t>
            </a:r>
            <a:r>
              <a:rPr lang="en-GB" sz="2000" dirty="0" err="1"/>
              <a:t>fuertemente</a:t>
            </a:r>
            <a:r>
              <a:rPr lang="en-GB" sz="2000" dirty="0"/>
              <a:t> de las </a:t>
            </a:r>
            <a:r>
              <a:rPr lang="en-GB" sz="2000" dirty="0" err="1"/>
              <a:t>decisiones</a:t>
            </a:r>
            <a:r>
              <a:rPr lang="en-GB" sz="2000" dirty="0"/>
              <a:t> de </a:t>
            </a:r>
            <a:r>
              <a:rPr lang="en-GB" sz="2000" dirty="0" err="1"/>
              <a:t>configuración</a:t>
            </a:r>
            <a:r>
              <a:rPr lang="en-GB" sz="2000" dirty="0"/>
              <a:t> de </a:t>
            </a:r>
            <a:r>
              <a:rPr lang="en-GB" sz="2000" dirty="0" err="1"/>
              <a:t>los</a:t>
            </a:r>
            <a:r>
              <a:rPr lang="en-GB" sz="2000" dirty="0"/>
              <a:t> </a:t>
            </a:r>
            <a:r>
              <a:rPr lang="en-GB" sz="2000" dirty="0" err="1"/>
              <a:t>desarrolladores</a:t>
            </a:r>
            <a:r>
              <a:rPr lang="en-GB" sz="2000" dirty="0"/>
              <a:t>, no solo de la </a:t>
            </a:r>
            <a:r>
              <a:rPr lang="en-GB" sz="2000" dirty="0" err="1"/>
              <a:t>plataforma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2220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F2099-7597-A6BF-9A62-E0377A37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4563B-FFA5-0A30-5D03-8921B01A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B03E18D-BD94-E072-B546-6E9B99346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 err="1"/>
              <a:t>Implicancias</a:t>
            </a:r>
            <a:endParaRPr lang="en-US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892AB13-CC63-63F4-69C1-3BAEFD7EB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82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seguridad</a:t>
            </a:r>
            <a:r>
              <a:rPr lang="en-GB" sz="2000" dirty="0"/>
              <a:t> de </a:t>
            </a:r>
            <a:r>
              <a:rPr lang="en-GB" sz="2000" dirty="0" err="1"/>
              <a:t>los</a:t>
            </a:r>
            <a:r>
              <a:rPr lang="en-GB" sz="2000" dirty="0"/>
              <a:t> workflows </a:t>
            </a:r>
            <a:r>
              <a:rPr lang="en-GB" sz="2000" dirty="0" err="1"/>
              <a:t>depende</a:t>
            </a:r>
            <a:r>
              <a:rPr lang="en-GB" sz="2000" dirty="0"/>
              <a:t> </a:t>
            </a:r>
            <a:r>
              <a:rPr lang="en-GB" sz="2000" dirty="0" err="1"/>
              <a:t>fuertemente</a:t>
            </a:r>
            <a:r>
              <a:rPr lang="en-GB" sz="2000" dirty="0"/>
              <a:t> de las </a:t>
            </a:r>
            <a:r>
              <a:rPr lang="en-GB" sz="2000" dirty="0" err="1"/>
              <a:t>decisiones</a:t>
            </a:r>
            <a:r>
              <a:rPr lang="en-GB" sz="2000" dirty="0"/>
              <a:t> de </a:t>
            </a:r>
            <a:r>
              <a:rPr lang="en-GB" sz="2000" dirty="0" err="1"/>
              <a:t>configuración</a:t>
            </a:r>
            <a:r>
              <a:rPr lang="en-GB" sz="2000" dirty="0"/>
              <a:t> de </a:t>
            </a:r>
            <a:r>
              <a:rPr lang="en-GB" sz="2000" dirty="0" err="1"/>
              <a:t>los</a:t>
            </a:r>
            <a:r>
              <a:rPr lang="en-GB" sz="2000" dirty="0"/>
              <a:t> </a:t>
            </a:r>
            <a:r>
              <a:rPr lang="en-GB" sz="2000" dirty="0" err="1"/>
              <a:t>desarrolladores</a:t>
            </a:r>
            <a:r>
              <a:rPr lang="en-GB" sz="2000" dirty="0"/>
              <a:t>, no solo de la </a:t>
            </a:r>
            <a:r>
              <a:rPr lang="en-GB" sz="2000" dirty="0" err="1"/>
              <a:t>plataforma</a:t>
            </a:r>
            <a:r>
              <a:rPr lang="en-GB" sz="20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0B4D-64C7-82E5-1188-041D0059B032}"/>
              </a:ext>
            </a:extLst>
          </p:cNvPr>
          <p:cNvSpPr txBox="1">
            <a:spLocks/>
          </p:cNvSpPr>
          <p:nvPr/>
        </p:nvSpPr>
        <p:spPr>
          <a:xfrm>
            <a:off x="814444" y="3429000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El </a:t>
            </a:r>
            <a:r>
              <a:rPr lang="en-GB" sz="2000" dirty="0" err="1"/>
              <a:t>uso</a:t>
            </a:r>
            <a:r>
              <a:rPr lang="en-GB" sz="2000" dirty="0"/>
              <a:t> de </a:t>
            </a:r>
            <a:r>
              <a:rPr lang="en-GB" sz="2000" dirty="0" err="1"/>
              <a:t>acciones</a:t>
            </a:r>
            <a:r>
              <a:rPr lang="en-GB" sz="2000" dirty="0"/>
              <a:t> de </a:t>
            </a:r>
            <a:r>
              <a:rPr lang="en-GB" sz="2000" dirty="0" err="1"/>
              <a:t>terceros</a:t>
            </a:r>
            <a:r>
              <a:rPr lang="en-GB" sz="2000" dirty="0"/>
              <a:t> y </a:t>
            </a:r>
            <a:r>
              <a:rPr lang="en-GB" sz="2000" dirty="0" err="1"/>
              <a:t>referencias</a:t>
            </a:r>
            <a:r>
              <a:rPr lang="en-GB" sz="2000" dirty="0"/>
              <a:t> </a:t>
            </a:r>
            <a:r>
              <a:rPr lang="en-GB" sz="2000" dirty="0" err="1"/>
              <a:t>mutables</a:t>
            </a:r>
            <a:r>
              <a:rPr lang="en-GB" sz="2000" dirty="0"/>
              <a:t> introduce </a:t>
            </a:r>
            <a:r>
              <a:rPr lang="en-GB" sz="2000" dirty="0" err="1"/>
              <a:t>riesgos</a:t>
            </a:r>
            <a:r>
              <a:rPr lang="en-GB" sz="2000" dirty="0"/>
              <a:t> </a:t>
            </a:r>
            <a:r>
              <a:rPr lang="en-GB" sz="2000" dirty="0" err="1"/>
              <a:t>sistémicos</a:t>
            </a:r>
            <a:r>
              <a:rPr lang="en-GB" sz="2000" dirty="0"/>
              <a:t> en la supply chain del CI/CD.</a:t>
            </a:r>
          </a:p>
        </p:txBody>
      </p:sp>
    </p:spTree>
    <p:extLst>
      <p:ext uri="{BB962C8B-B14F-4D97-AF65-F5344CB8AC3E}">
        <p14:creationId xmlns:p14="http://schemas.microsoft.com/office/powerpoint/2010/main" val="2192297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9C67-812B-A637-06EC-0424360B1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AE2A1-B7EE-D81E-EE28-59B67419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2EC514C-38AF-59C6-1FC5-689A7CC7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 err="1"/>
              <a:t>Implicancias</a:t>
            </a:r>
            <a:endParaRPr lang="en-US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770D209-1284-4E8A-5CB6-343ECFAE4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82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seguridad</a:t>
            </a:r>
            <a:r>
              <a:rPr lang="en-GB" sz="2000" dirty="0"/>
              <a:t> de </a:t>
            </a:r>
            <a:r>
              <a:rPr lang="en-GB" sz="2000" dirty="0" err="1"/>
              <a:t>los</a:t>
            </a:r>
            <a:r>
              <a:rPr lang="en-GB" sz="2000" dirty="0"/>
              <a:t> workflows </a:t>
            </a:r>
            <a:r>
              <a:rPr lang="en-GB" sz="2000" dirty="0" err="1"/>
              <a:t>depende</a:t>
            </a:r>
            <a:r>
              <a:rPr lang="en-GB" sz="2000" dirty="0"/>
              <a:t> </a:t>
            </a:r>
            <a:r>
              <a:rPr lang="en-GB" sz="2000" dirty="0" err="1"/>
              <a:t>fuertemente</a:t>
            </a:r>
            <a:r>
              <a:rPr lang="en-GB" sz="2000" dirty="0"/>
              <a:t> de las </a:t>
            </a:r>
            <a:r>
              <a:rPr lang="en-GB" sz="2000" dirty="0" err="1"/>
              <a:t>decisiones</a:t>
            </a:r>
            <a:r>
              <a:rPr lang="en-GB" sz="2000" dirty="0"/>
              <a:t> de </a:t>
            </a:r>
            <a:r>
              <a:rPr lang="en-GB" sz="2000" dirty="0" err="1"/>
              <a:t>configuración</a:t>
            </a:r>
            <a:r>
              <a:rPr lang="en-GB" sz="2000" dirty="0"/>
              <a:t> de </a:t>
            </a:r>
            <a:r>
              <a:rPr lang="en-GB" sz="2000" dirty="0" err="1"/>
              <a:t>los</a:t>
            </a:r>
            <a:r>
              <a:rPr lang="en-GB" sz="2000" dirty="0"/>
              <a:t> </a:t>
            </a:r>
            <a:r>
              <a:rPr lang="en-GB" sz="2000" dirty="0" err="1"/>
              <a:t>desarrolladores</a:t>
            </a:r>
            <a:r>
              <a:rPr lang="en-GB" sz="2000" dirty="0"/>
              <a:t>, no solo de la </a:t>
            </a:r>
            <a:r>
              <a:rPr lang="en-GB" sz="2000" dirty="0" err="1"/>
              <a:t>plataforma</a:t>
            </a:r>
            <a:r>
              <a:rPr lang="en-GB" sz="20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0101-6AC7-CD9E-4F36-A71DF17BBE31}"/>
              </a:ext>
            </a:extLst>
          </p:cNvPr>
          <p:cNvSpPr txBox="1">
            <a:spLocks/>
          </p:cNvSpPr>
          <p:nvPr/>
        </p:nvSpPr>
        <p:spPr>
          <a:xfrm>
            <a:off x="814444" y="3429000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El </a:t>
            </a:r>
            <a:r>
              <a:rPr lang="en-GB" sz="2000" dirty="0" err="1"/>
              <a:t>uso</a:t>
            </a:r>
            <a:r>
              <a:rPr lang="en-GB" sz="2000" dirty="0"/>
              <a:t> de </a:t>
            </a:r>
            <a:r>
              <a:rPr lang="en-GB" sz="2000" dirty="0" err="1"/>
              <a:t>acciones</a:t>
            </a:r>
            <a:r>
              <a:rPr lang="en-GB" sz="2000" dirty="0"/>
              <a:t> de </a:t>
            </a:r>
            <a:r>
              <a:rPr lang="en-GB" sz="2000" dirty="0" err="1"/>
              <a:t>terceros</a:t>
            </a:r>
            <a:r>
              <a:rPr lang="en-GB" sz="2000" dirty="0"/>
              <a:t> y </a:t>
            </a:r>
            <a:r>
              <a:rPr lang="en-GB" sz="2000" dirty="0" err="1"/>
              <a:t>referencias</a:t>
            </a:r>
            <a:r>
              <a:rPr lang="en-GB" sz="2000" dirty="0"/>
              <a:t> </a:t>
            </a:r>
            <a:r>
              <a:rPr lang="en-GB" sz="2000" dirty="0" err="1"/>
              <a:t>mutables</a:t>
            </a:r>
            <a:r>
              <a:rPr lang="en-GB" sz="2000" dirty="0"/>
              <a:t> introduce </a:t>
            </a:r>
            <a:r>
              <a:rPr lang="en-GB" sz="2000" dirty="0" err="1"/>
              <a:t>riesgos</a:t>
            </a:r>
            <a:r>
              <a:rPr lang="en-GB" sz="2000" dirty="0"/>
              <a:t> </a:t>
            </a:r>
            <a:r>
              <a:rPr lang="en-GB" sz="2000" dirty="0" err="1"/>
              <a:t>sistémicos</a:t>
            </a:r>
            <a:r>
              <a:rPr lang="en-GB" sz="2000" dirty="0"/>
              <a:t> en la supply chain del CI/CD.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7669B8-146D-A33D-BD78-B111AD16E2C1}"/>
              </a:ext>
            </a:extLst>
          </p:cNvPr>
          <p:cNvSpPr txBox="1">
            <a:spLocks/>
          </p:cNvSpPr>
          <p:nvPr/>
        </p:nvSpPr>
        <p:spPr>
          <a:xfrm>
            <a:off x="814444" y="5032375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Es </a:t>
            </a:r>
            <a:r>
              <a:rPr lang="en-GB" sz="2000" dirty="0" err="1"/>
              <a:t>necesario</a:t>
            </a:r>
            <a:r>
              <a:rPr lang="en-GB" sz="2000" dirty="0"/>
              <a:t> </a:t>
            </a:r>
            <a:r>
              <a:rPr lang="en-GB" sz="2000" dirty="0" err="1"/>
              <a:t>desarrollar</a:t>
            </a:r>
            <a:r>
              <a:rPr lang="en-GB" sz="2000" dirty="0"/>
              <a:t> </a:t>
            </a:r>
            <a:r>
              <a:rPr lang="en-GB" sz="2000" dirty="0" err="1"/>
              <a:t>herramientas</a:t>
            </a:r>
            <a:r>
              <a:rPr lang="en-GB" sz="2000" dirty="0"/>
              <a:t> y </a:t>
            </a:r>
            <a:r>
              <a:rPr lang="en-GB" sz="2000" dirty="0" err="1"/>
              <a:t>guías</a:t>
            </a:r>
            <a:r>
              <a:rPr lang="en-GB" sz="2000" dirty="0"/>
              <a:t> </a:t>
            </a:r>
            <a:r>
              <a:rPr lang="en-GB" sz="2000" dirty="0" err="1"/>
              <a:t>que</a:t>
            </a:r>
            <a:r>
              <a:rPr lang="en-GB" sz="2000" dirty="0"/>
              <a:t> </a:t>
            </a:r>
            <a:r>
              <a:rPr lang="en-GB" sz="2000" dirty="0" err="1"/>
              <a:t>ayuden</a:t>
            </a:r>
            <a:r>
              <a:rPr lang="en-GB" sz="2000" dirty="0"/>
              <a:t> a </a:t>
            </a:r>
            <a:r>
              <a:rPr lang="en-GB" sz="2000" dirty="0" err="1"/>
              <a:t>detectar</a:t>
            </a:r>
            <a:r>
              <a:rPr lang="en-GB" sz="2000" dirty="0"/>
              <a:t> y </a:t>
            </a:r>
            <a:r>
              <a:rPr lang="en-GB" sz="2000" dirty="0" err="1"/>
              <a:t>corregir</a:t>
            </a:r>
            <a:r>
              <a:rPr lang="en-GB" sz="2000" dirty="0"/>
              <a:t> </a:t>
            </a:r>
            <a:r>
              <a:rPr lang="en-GB" sz="2000" dirty="0" err="1"/>
              <a:t>automáticamente</a:t>
            </a:r>
            <a:r>
              <a:rPr lang="en-GB" sz="2000" dirty="0"/>
              <a:t> malas </a:t>
            </a:r>
            <a:r>
              <a:rPr lang="en-GB" sz="2000" dirty="0" err="1"/>
              <a:t>prácticas</a:t>
            </a:r>
            <a:r>
              <a:rPr lang="en-GB" sz="2000" dirty="0"/>
              <a:t> en workflows. </a:t>
            </a:r>
          </a:p>
        </p:txBody>
      </p:sp>
    </p:spTree>
    <p:extLst>
      <p:ext uri="{BB962C8B-B14F-4D97-AF65-F5344CB8AC3E}">
        <p14:creationId xmlns:p14="http://schemas.microsoft.com/office/powerpoint/2010/main" val="93601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A6CB-BD5A-3326-8F74-2EDFF901D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819"/>
            <a:ext cx="10515600" cy="4188143"/>
          </a:xfrm>
        </p:spPr>
        <p:txBody>
          <a:bodyPr anchor="ctr"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dirty="0"/>
              <a:t>La </a:t>
            </a:r>
            <a:r>
              <a:rPr lang="en-GB" dirty="0" err="1"/>
              <a:t>seguridad</a:t>
            </a:r>
            <a:r>
              <a:rPr lang="en-GB" dirty="0"/>
              <a:t> en GitHub Actions no es solo un </a:t>
            </a:r>
            <a:r>
              <a:rPr lang="en-GB" dirty="0" err="1"/>
              <a:t>problema</a:t>
            </a:r>
            <a:r>
              <a:rPr lang="en-GB" dirty="0"/>
              <a:t> de la </a:t>
            </a:r>
            <a:r>
              <a:rPr lang="en-GB" dirty="0" err="1"/>
              <a:t>plataforma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 err="1"/>
              <a:t>sino</a:t>
            </a:r>
            <a:r>
              <a:rPr lang="en-GB" dirty="0"/>
              <a:t> del </a:t>
            </a:r>
            <a:r>
              <a:rPr lang="en-GB" dirty="0" err="1"/>
              <a:t>uso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desarrolladores</a:t>
            </a:r>
            <a:r>
              <a:rPr lang="en-GB" dirty="0"/>
              <a:t> </a:t>
            </a:r>
            <a:r>
              <a:rPr lang="en-GB" dirty="0" err="1"/>
              <a:t>hacen</a:t>
            </a:r>
            <a:r>
              <a:rPr lang="en-GB" dirty="0"/>
              <a:t> de </a:t>
            </a:r>
            <a:r>
              <a:rPr lang="en-GB" dirty="0" err="1"/>
              <a:t>ella</a:t>
            </a:r>
            <a:r>
              <a:rPr lang="en-GB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sistemas</a:t>
            </a:r>
            <a:r>
              <a:rPr lang="en-GB" dirty="0"/>
              <a:t> CI/CD </a:t>
            </a:r>
            <a:r>
              <a:rPr lang="en-GB" dirty="0" err="1"/>
              <a:t>requieren</a:t>
            </a:r>
            <a:r>
              <a:rPr lang="en-GB" dirty="0"/>
              <a:t> </a:t>
            </a:r>
            <a:r>
              <a:rPr lang="en-GB" dirty="0" err="1"/>
              <a:t>propiedades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 </a:t>
            </a:r>
            <a:r>
              <a:rPr lang="en-GB" dirty="0" err="1"/>
              <a:t>claras</a:t>
            </a:r>
            <a:r>
              <a:rPr lang="en-GB" dirty="0"/>
              <a:t> (RQ1),</a:t>
            </a:r>
          </a:p>
          <a:p>
            <a:pPr lvl="2">
              <a:lnSpc>
                <a:spcPct val="150000"/>
              </a:lnSpc>
            </a:pPr>
            <a:r>
              <a:rPr lang="en-GB" dirty="0" err="1"/>
              <a:t>pero</a:t>
            </a:r>
            <a:r>
              <a:rPr lang="en-GB" dirty="0"/>
              <a:t> GitHub CI no las </a:t>
            </a:r>
            <a:r>
              <a:rPr lang="en-GB" dirty="0" err="1"/>
              <a:t>cumple</a:t>
            </a:r>
            <a:r>
              <a:rPr lang="en-GB" dirty="0"/>
              <a:t> </a:t>
            </a:r>
            <a:r>
              <a:rPr lang="en-GB" dirty="0" err="1"/>
              <a:t>consistentemente</a:t>
            </a:r>
            <a:r>
              <a:rPr lang="en-GB" dirty="0"/>
              <a:t> </a:t>
            </a:r>
            <a:r>
              <a:rPr lang="en-GB" dirty="0" err="1"/>
              <a:t>frente</a:t>
            </a:r>
            <a:r>
              <a:rPr lang="en-GB" dirty="0"/>
              <a:t> a </a:t>
            </a:r>
            <a:r>
              <a:rPr lang="en-GB" dirty="0" err="1"/>
              <a:t>otras</a:t>
            </a:r>
            <a:r>
              <a:rPr lang="en-GB" dirty="0"/>
              <a:t> </a:t>
            </a:r>
            <a:r>
              <a:rPr lang="en-GB" dirty="0" err="1"/>
              <a:t>plataformas</a:t>
            </a:r>
            <a:r>
              <a:rPr lang="en-GB" dirty="0"/>
              <a:t> (RQ2),</a:t>
            </a:r>
          </a:p>
          <a:p>
            <a:pPr lvl="2">
              <a:lnSpc>
                <a:spcPct val="150000"/>
              </a:lnSpc>
            </a:pPr>
            <a:r>
              <a:rPr lang="en-GB" dirty="0" err="1"/>
              <a:t>pero</a:t>
            </a:r>
            <a:r>
              <a:rPr lang="en-GB" dirty="0"/>
              <a:t> GitHub CI no las </a:t>
            </a:r>
            <a:r>
              <a:rPr lang="en-GB" dirty="0" err="1"/>
              <a:t>cumple</a:t>
            </a:r>
            <a:r>
              <a:rPr lang="en-GB" dirty="0"/>
              <a:t> </a:t>
            </a:r>
            <a:r>
              <a:rPr lang="en-GB" dirty="0" err="1"/>
              <a:t>consistentemente</a:t>
            </a:r>
            <a:r>
              <a:rPr lang="en-GB" dirty="0"/>
              <a:t> </a:t>
            </a:r>
            <a:r>
              <a:rPr lang="en-GB" dirty="0" err="1"/>
              <a:t>frente</a:t>
            </a:r>
            <a:r>
              <a:rPr lang="en-GB" dirty="0"/>
              <a:t> a </a:t>
            </a:r>
            <a:r>
              <a:rPr lang="en-GB" dirty="0" err="1"/>
              <a:t>otras</a:t>
            </a:r>
            <a:r>
              <a:rPr lang="en-GB" dirty="0"/>
              <a:t> </a:t>
            </a:r>
            <a:r>
              <a:rPr lang="en-GB" dirty="0" err="1"/>
              <a:t>plataformas</a:t>
            </a:r>
            <a:r>
              <a:rPr lang="en-GB" dirty="0"/>
              <a:t> (RQ3),</a:t>
            </a:r>
          </a:p>
          <a:p>
            <a:pPr lvl="1">
              <a:lnSpc>
                <a:spcPct val="150000"/>
              </a:lnSpc>
            </a:pPr>
            <a:r>
              <a:rPr lang="en-GB" sz="2000" dirty="0" err="1"/>
              <a:t>Entonces</a:t>
            </a:r>
            <a:r>
              <a:rPr lang="en-GB" sz="2000" dirty="0"/>
              <a:t>, </a:t>
            </a:r>
            <a:r>
              <a:rPr lang="en-GB" sz="2000" dirty="0" err="1"/>
              <a:t>si</a:t>
            </a:r>
            <a:r>
              <a:rPr lang="en-GB" sz="2000" dirty="0"/>
              <a:t> </a:t>
            </a:r>
            <a:r>
              <a:rPr lang="en-GB" sz="2000" dirty="0" err="1"/>
              <a:t>confías</a:t>
            </a:r>
            <a:r>
              <a:rPr lang="en-GB" sz="2000" dirty="0"/>
              <a:t> solo en la </a:t>
            </a:r>
            <a:r>
              <a:rPr lang="en-GB" sz="2000" dirty="0" err="1"/>
              <a:t>plataforma</a:t>
            </a:r>
            <a:r>
              <a:rPr lang="en-GB" sz="2000" dirty="0"/>
              <a:t> sin </a:t>
            </a:r>
            <a:r>
              <a:rPr lang="en-GB" sz="2000" dirty="0" err="1"/>
              <a:t>revisar</a:t>
            </a:r>
            <a:r>
              <a:rPr lang="en-GB" sz="2000" dirty="0"/>
              <a:t> </a:t>
            </a:r>
            <a:r>
              <a:rPr lang="en-GB" sz="2000" dirty="0" err="1"/>
              <a:t>cómo</a:t>
            </a:r>
            <a:r>
              <a:rPr lang="en-GB" sz="2000" dirty="0"/>
              <a:t> se </a:t>
            </a:r>
            <a:r>
              <a:rPr lang="en-GB" sz="2000" dirty="0" err="1"/>
              <a:t>configuran</a:t>
            </a:r>
            <a:r>
              <a:rPr lang="en-GB" sz="2000" dirty="0"/>
              <a:t> y </a:t>
            </a:r>
            <a:r>
              <a:rPr lang="en-GB" sz="2000" dirty="0" err="1"/>
              <a:t>usan</a:t>
            </a:r>
            <a:r>
              <a:rPr lang="en-GB" sz="2000" dirty="0"/>
              <a:t> </a:t>
            </a:r>
            <a:r>
              <a:rPr lang="en-GB" sz="2000" dirty="0" err="1"/>
              <a:t>los</a:t>
            </a:r>
            <a:r>
              <a:rPr lang="en-GB" sz="2000" dirty="0"/>
              <a:t> workflows, </a:t>
            </a:r>
            <a:r>
              <a:rPr lang="en-GB" sz="2000" dirty="0" err="1"/>
              <a:t>estás</a:t>
            </a:r>
            <a:r>
              <a:rPr lang="en-GB" sz="2000" dirty="0"/>
              <a:t> </a:t>
            </a:r>
            <a:r>
              <a:rPr lang="en-GB" sz="2000" dirty="0" err="1"/>
              <a:t>ignorando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principal </a:t>
            </a:r>
            <a:r>
              <a:rPr lang="en-GB" sz="2000" dirty="0" err="1"/>
              <a:t>origen</a:t>
            </a:r>
            <a:r>
              <a:rPr lang="en-GB" sz="2000" dirty="0"/>
              <a:t> de </a:t>
            </a:r>
            <a:r>
              <a:rPr lang="en-GB" sz="2000" dirty="0" err="1"/>
              <a:t>vulnerabilidades</a:t>
            </a:r>
            <a:r>
              <a:rPr lang="en-GB" sz="2000" dirty="0"/>
              <a:t> en CI/CD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1D78-58CC-3EF4-A7FF-4E07E65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1285E1-C69A-9DE7-B6F7-1FAAED80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Characterizing the Security of </a:t>
            </a:r>
            <a:r>
              <a:rPr lang="en-US" dirty="0" err="1"/>
              <a:t>Github</a:t>
            </a:r>
            <a:r>
              <a:rPr lang="en-US" dirty="0"/>
              <a:t> CI Workflows</a:t>
            </a:r>
          </a:p>
        </p:txBody>
      </p:sp>
    </p:spTree>
    <p:extLst>
      <p:ext uri="{BB962C8B-B14F-4D97-AF65-F5344CB8AC3E}">
        <p14:creationId xmlns:p14="http://schemas.microsoft.com/office/powerpoint/2010/main" val="50968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C56A-F378-9B6B-5AEA-FD5380B6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Referencias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9557-BB1A-A739-3AA9-63615DC15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Koishybayev, I., </a:t>
            </a:r>
            <a:r>
              <a:rPr lang="en-GB" dirty="0" err="1"/>
              <a:t>Nahapetyan</a:t>
            </a:r>
            <a:r>
              <a:rPr lang="en-GB" dirty="0"/>
              <a:t>, A., Zachariah, R., Muralee, S., Reaves, B., </a:t>
            </a:r>
            <a:r>
              <a:rPr lang="en-GB" dirty="0" err="1"/>
              <a:t>Kapravelos</a:t>
            </a:r>
            <a:r>
              <a:rPr lang="en-GB" dirty="0"/>
              <a:t>, A., &amp; </a:t>
            </a:r>
            <a:r>
              <a:rPr lang="en-GB" dirty="0" err="1"/>
              <a:t>Machiry</a:t>
            </a:r>
            <a:r>
              <a:rPr lang="en-GB" dirty="0"/>
              <a:t>, A. (2022). Characterizing the security of </a:t>
            </a:r>
            <a:r>
              <a:rPr lang="en-GB" dirty="0" err="1"/>
              <a:t>github</a:t>
            </a:r>
            <a:r>
              <a:rPr lang="en-GB" dirty="0"/>
              <a:t> {CI} workflows. In </a:t>
            </a:r>
            <a:r>
              <a:rPr lang="en-GB" i="1" dirty="0"/>
              <a:t>31st USENIX Security Symposium (USENIX Security 22)</a:t>
            </a:r>
            <a:r>
              <a:rPr lang="en-GB" dirty="0"/>
              <a:t> (pp. 2747-2763).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5D9C4-F141-EE09-728E-409A1127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581</Words>
  <Application>Microsoft Macintosh PowerPoint</Application>
  <PresentationFormat>Widescreen</PresentationFormat>
  <Paragraphs>58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Producción de Software</vt:lpstr>
      <vt:lpstr>Characterizing the Security of Github CI Workflows</vt:lpstr>
      <vt:lpstr>Dónde está el problema</vt:lpstr>
      <vt:lpstr>Dónde está el problema</vt:lpstr>
      <vt:lpstr>RQ1: ¿Cuáles son las propiedades de seguridad que deben cumplirse para tener un CI/CD seguro? </vt:lpstr>
      <vt:lpstr>RQ2: ¿Cómo se compara GitHub CI con otras plataformas CI/CD respecto a estas propiedades de seguridad?</vt:lpstr>
      <vt:lpstr>RQ3: ¿Cómo el uso de workflows por parte de los desarrolladores afecta estas propiedades de seguridad?</vt:lpstr>
      <vt:lpstr>Implicancias</vt:lpstr>
      <vt:lpstr>Implicancias</vt:lpstr>
      <vt:lpstr>Implicancias</vt:lpstr>
      <vt:lpstr>Characterizing the Security of Github CI Workflows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13</cp:revision>
  <dcterms:created xsi:type="dcterms:W3CDTF">2026-04-27T15:47:00Z</dcterms:created>
  <dcterms:modified xsi:type="dcterms:W3CDTF">2026-05-04T20:12:53Z</dcterms:modified>
</cp:coreProperties>
</file>