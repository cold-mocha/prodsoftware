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70" r:id="rId9"/>
    <p:sldId id="271" r:id="rId10"/>
    <p:sldId id="262" r:id="rId11"/>
    <p:sldId id="265" r:id="rId12"/>
    <p:sldId id="266" r:id="rId13"/>
    <p:sldId id="273" r:id="rId14"/>
    <p:sldId id="274" r:id="rId15"/>
    <p:sldId id="264" r:id="rId16"/>
    <p:sldId id="267" r:id="rId17"/>
    <p:sldId id="268" r:id="rId18"/>
    <p:sldId id="269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3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B4F5-65DB-194E-5F80-238061D1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2E2C1-2BAA-D361-0B0D-8CF92E258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4E62E-1D84-7C37-DCA5-027443574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A67D4-EB57-305A-3F20-B729EDF72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17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63FA-4B3C-7E68-B847-0A1EDEBC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4D8FE-E346-27C4-53E4-3E8930C06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C0CD5-302C-7AD4-7D68-DD9AF15A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88DDB-D97F-71BA-3A7D-01DBDE3F5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63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27.04.26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27.04.26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27.04.26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27.04.26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27.04.26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27.04.26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cn.cl/leychile/navegar?idNorma=120927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ist.gov/itl/executive-order-14028-improving-nations-cybersecurity/software-security-supply-chains-software-1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econdfront.com/resources/blog/what-is-an-sbom-and-why-does-it-matter-for-government-contracts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forcementtracker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dvisorie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unsafesecurity.com/blog/sbom-requirements-global-guid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software-component-verification-standar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ql.github.com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hore/grype" TargetMode="External"/><Relationship Id="rId4" Type="http://schemas.openxmlformats.org/officeDocument/2006/relationships/hyperlink" Target="https://github.com/anchore/syf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pdx.dev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yclonedx.org/" TargetMode="Externa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i-courses/produccion_software_emi305" TargetMode="External"/><Relationship Id="rId2" Type="http://schemas.openxmlformats.org/officeDocument/2006/relationships/hyperlink" Target="https://github.com/trendi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27 Abril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C4B8-3DC9-0278-8D2F-6E7A1274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A6CB-BD5A-3326-8F74-2EDFF901D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SBOM y </a:t>
            </a:r>
            <a:r>
              <a:rPr lang="en-US" dirty="0" err="1"/>
              <a:t>cadena</a:t>
            </a:r>
            <a:r>
              <a:rPr lang="en-US" dirty="0"/>
              <a:t> de </a:t>
            </a:r>
            <a:r>
              <a:rPr lang="en-US" dirty="0" err="1"/>
              <a:t>suministro</a:t>
            </a:r>
            <a:r>
              <a:rPr lang="en-US" dirty="0"/>
              <a:t> (27 Abril)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Generación y </a:t>
            </a:r>
            <a:r>
              <a:rPr lang="en-US" dirty="0" err="1"/>
              <a:t>análisis</a:t>
            </a:r>
            <a:r>
              <a:rPr lang="en-US" dirty="0"/>
              <a:t> de SBOMs (4 de Mayo)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Vulnerabilidades</a:t>
            </a:r>
            <a:r>
              <a:rPr lang="en-US" dirty="0"/>
              <a:t> de Software (18 de Mayo)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Extracción</a:t>
            </a:r>
            <a:r>
              <a:rPr lang="en-US" dirty="0"/>
              <a:t> y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vulnerabilidades</a:t>
            </a:r>
            <a:r>
              <a:rPr lang="en-US" dirty="0"/>
              <a:t> (25 de Mayo)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1D78-58CC-3EF4-A7FF-4E07E65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6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7933-4A48-025B-FEDF-A3C2E1DE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Seleccione un </a:t>
            </a:r>
            <a:r>
              <a:rPr lang="en-US" dirty="0" err="1"/>
              <a:t>repositorio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8182A-CAFD-B18D-11AA-52C4CDE7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20"/>
            <a:ext cx="10515600" cy="3043555"/>
          </a:xfrm>
        </p:spPr>
        <p:txBody>
          <a:bodyPr anchor="ctr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Caracterize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repositorio</a:t>
            </a:r>
            <a:r>
              <a:rPr lang="en-US" dirty="0"/>
              <a:t> en forma breve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decir</a:t>
            </a:r>
            <a:r>
              <a:rPr lang="en-US" dirty="0"/>
              <a:t> de sus </a:t>
            </a:r>
            <a:r>
              <a:rPr lang="en-US" dirty="0" err="1"/>
              <a:t>dependencias</a:t>
            </a:r>
            <a:r>
              <a:rPr lang="en-US" dirty="0"/>
              <a:t>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¿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referirse</a:t>
            </a:r>
            <a:r>
              <a:rPr lang="en-US" dirty="0"/>
              <a:t> a sus </a:t>
            </a:r>
            <a:r>
              <a:rPr lang="en-US" dirty="0" err="1"/>
              <a:t>vulnerabilidades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937E-1FFC-8F94-6799-F776588F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3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21B0-EFB9-D9B0-26D8-FFDE408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BACB-013D-1BB2-9D91-EB192B797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" y="1847850"/>
            <a:ext cx="11018520" cy="4351338"/>
          </a:xfrm>
        </p:spPr>
        <p:txBody>
          <a:bodyPr/>
          <a:lstStyle/>
          <a:p>
            <a:r>
              <a:rPr lang="en-GB" dirty="0"/>
              <a:t>Un </a:t>
            </a:r>
            <a:r>
              <a:rPr lang="en-GB" b="1" dirty="0"/>
              <a:t>Software Bill of Materials (SBOM)</a:t>
            </a:r>
            <a:r>
              <a:rPr lang="en-GB" dirty="0"/>
              <a:t> es un </a:t>
            </a:r>
            <a:r>
              <a:rPr lang="en-GB" dirty="0" err="1"/>
              <a:t>inventario</a:t>
            </a:r>
            <a:r>
              <a:rPr lang="en-GB" dirty="0"/>
              <a:t> </a:t>
            </a:r>
            <a:r>
              <a:rPr lang="en-GB" dirty="0" err="1"/>
              <a:t>estructurado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componentes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forman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aplicación</a:t>
            </a:r>
            <a:r>
              <a:rPr lang="en-GB" dirty="0"/>
              <a:t> o </a:t>
            </a:r>
            <a:r>
              <a:rPr lang="en-GB" dirty="0" err="1"/>
              <a:t>artefacto</a:t>
            </a:r>
            <a:r>
              <a:rPr lang="en-GB" dirty="0"/>
              <a:t> de software. </a:t>
            </a:r>
          </a:p>
          <a:p>
            <a:r>
              <a:rPr lang="en-GB" dirty="0"/>
              <a:t>En </a:t>
            </a:r>
            <a:r>
              <a:rPr lang="en-GB" dirty="0" err="1"/>
              <a:t>términos</a:t>
            </a:r>
            <a:r>
              <a:rPr lang="en-GB" dirty="0"/>
              <a:t> simples, </a:t>
            </a:r>
            <a:r>
              <a:rPr lang="en-GB" dirty="0" err="1"/>
              <a:t>cumple</a:t>
            </a:r>
            <a:r>
              <a:rPr lang="en-GB" dirty="0"/>
              <a:t> un </a:t>
            </a:r>
            <a:r>
              <a:rPr lang="en-GB" dirty="0" err="1"/>
              <a:t>rol</a:t>
            </a:r>
            <a:r>
              <a:rPr lang="en-GB" dirty="0"/>
              <a:t> similar al de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lista</a:t>
            </a:r>
            <a:r>
              <a:rPr lang="en-GB" dirty="0"/>
              <a:t> de </a:t>
            </a:r>
            <a:r>
              <a:rPr lang="en-GB" dirty="0" err="1"/>
              <a:t>ingredientes</a:t>
            </a:r>
            <a:r>
              <a:rPr lang="en-GB" dirty="0"/>
              <a:t>: </a:t>
            </a:r>
          </a:p>
          <a:p>
            <a:pPr lvl="1"/>
            <a:r>
              <a:rPr lang="en-GB" dirty="0" err="1"/>
              <a:t>identifica</a:t>
            </a:r>
            <a:r>
              <a:rPr lang="en-GB" dirty="0"/>
              <a:t> </a:t>
            </a:r>
            <a:r>
              <a:rPr lang="en-GB" dirty="0" err="1"/>
              <a:t>bibliotecas</a:t>
            </a:r>
            <a:r>
              <a:rPr lang="en-GB" dirty="0"/>
              <a:t>, </a:t>
            </a:r>
            <a:r>
              <a:rPr lang="en-GB" dirty="0" err="1"/>
              <a:t>paquetes</a:t>
            </a:r>
            <a:r>
              <a:rPr lang="en-GB" dirty="0"/>
              <a:t>, </a:t>
            </a:r>
            <a:r>
              <a:rPr lang="en-GB" dirty="0" err="1"/>
              <a:t>dependencias</a:t>
            </a:r>
            <a:r>
              <a:rPr lang="en-GB" dirty="0"/>
              <a:t>, </a:t>
            </a:r>
            <a:r>
              <a:rPr lang="en-GB" dirty="0" err="1"/>
              <a:t>herramientas</a:t>
            </a:r>
            <a:r>
              <a:rPr lang="en-GB" dirty="0"/>
              <a:t> y </a:t>
            </a:r>
            <a:r>
              <a:rPr lang="en-GB" dirty="0" err="1"/>
              <a:t>otros</a:t>
            </a:r>
            <a:r>
              <a:rPr lang="en-GB" dirty="0"/>
              <a:t> </a:t>
            </a:r>
            <a:r>
              <a:rPr lang="en-GB" dirty="0" err="1"/>
              <a:t>elementos</a:t>
            </a:r>
            <a:r>
              <a:rPr lang="en-GB" dirty="0"/>
              <a:t> </a:t>
            </a:r>
            <a:r>
              <a:rPr lang="en-GB" dirty="0" err="1"/>
              <a:t>utilizados</a:t>
            </a:r>
            <a:r>
              <a:rPr lang="en-GB" dirty="0"/>
              <a:t> </a:t>
            </a:r>
            <a:r>
              <a:rPr lang="en-GB" dirty="0" err="1"/>
              <a:t>durante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desarrollo</a:t>
            </a:r>
            <a:r>
              <a:rPr lang="en-GB" dirty="0"/>
              <a:t>, la </a:t>
            </a:r>
            <a:r>
              <a:rPr lang="en-GB" dirty="0" err="1"/>
              <a:t>compilación</a:t>
            </a:r>
            <a:r>
              <a:rPr lang="en-GB" dirty="0"/>
              <a:t> y la </a:t>
            </a:r>
            <a:r>
              <a:rPr lang="en-GB" dirty="0" err="1"/>
              <a:t>distribución</a:t>
            </a:r>
            <a:r>
              <a:rPr lang="en-GB" dirty="0"/>
              <a:t> de un </a:t>
            </a:r>
            <a:r>
              <a:rPr lang="en-GB" dirty="0" err="1"/>
              <a:t>sistema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Su </a:t>
            </a:r>
            <a:r>
              <a:rPr lang="en-GB" dirty="0" err="1"/>
              <a:t>valor</a:t>
            </a:r>
            <a:r>
              <a:rPr lang="en-GB" dirty="0"/>
              <a:t> no </a:t>
            </a:r>
            <a:r>
              <a:rPr lang="en-GB" dirty="0" err="1"/>
              <a:t>está</a:t>
            </a:r>
            <a:r>
              <a:rPr lang="en-GB" dirty="0"/>
              <a:t> solo en </a:t>
            </a:r>
            <a:r>
              <a:rPr lang="en-GB" dirty="0" err="1"/>
              <a:t>enumerar</a:t>
            </a:r>
            <a:r>
              <a:rPr lang="en-GB" dirty="0"/>
              <a:t> </a:t>
            </a:r>
            <a:r>
              <a:rPr lang="en-GB" dirty="0" err="1"/>
              <a:t>componentes</a:t>
            </a:r>
            <a:r>
              <a:rPr lang="en-GB" dirty="0"/>
              <a:t>, </a:t>
            </a:r>
            <a:r>
              <a:rPr lang="en-GB" dirty="0" err="1"/>
              <a:t>sino</a:t>
            </a:r>
            <a:r>
              <a:rPr lang="en-GB" dirty="0"/>
              <a:t> también en </a:t>
            </a:r>
            <a:r>
              <a:rPr lang="en-GB" dirty="0" err="1"/>
              <a:t>aportar</a:t>
            </a:r>
            <a:r>
              <a:rPr lang="en-GB" dirty="0"/>
              <a:t> </a:t>
            </a:r>
            <a:r>
              <a:rPr lang="en-GB" dirty="0" err="1"/>
              <a:t>contexto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origen</a:t>
            </a:r>
            <a:r>
              <a:rPr lang="en-GB" dirty="0"/>
              <a:t>, sus </a:t>
            </a:r>
            <a:r>
              <a:rPr lang="en-GB" dirty="0" err="1"/>
              <a:t>versiones</a:t>
            </a:r>
            <a:r>
              <a:rPr lang="en-GB" dirty="0"/>
              <a:t> y la </a:t>
            </a:r>
            <a:r>
              <a:rPr lang="en-GB" dirty="0" err="1"/>
              <a:t>relación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mantienen</a:t>
            </a:r>
            <a:r>
              <a:rPr lang="en-GB" dirty="0"/>
              <a:t> entre </a:t>
            </a:r>
            <a:r>
              <a:rPr lang="en-GB" dirty="0" err="1"/>
              <a:t>sí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C2D38-FAB1-ACB4-5EEB-0BB2446B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7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C8758B0-A8A5-3471-D8BE-A83EC6A3D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622300"/>
            <a:ext cx="7112000" cy="561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8A69F-C0EA-6BC0-C40D-7C43B805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6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E9EE-144C-0374-B7B5-1660EDD7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460" y="1176972"/>
            <a:ext cx="9578340" cy="4504055"/>
          </a:xfrm>
        </p:spPr>
        <p:txBody>
          <a:bodyPr>
            <a:normAutofit/>
          </a:bodyPr>
          <a:lstStyle/>
          <a:p>
            <a:r>
              <a:rPr lang="en-GB" b="1" dirty="0"/>
              <a:t>¿Por </a:t>
            </a:r>
            <a:r>
              <a:rPr lang="en-GB" b="1" dirty="0" err="1"/>
              <a:t>qué</a:t>
            </a:r>
            <a:r>
              <a:rPr lang="en-GB" b="1" dirty="0"/>
              <a:t> </a:t>
            </a:r>
            <a:r>
              <a:rPr lang="en-GB" b="1" dirty="0" err="1"/>
              <a:t>los</a:t>
            </a:r>
            <a:r>
              <a:rPr lang="en-GB" b="1" dirty="0"/>
              <a:t> SBOMs son </a:t>
            </a:r>
            <a:r>
              <a:rPr lang="en-GB" b="1" dirty="0" err="1"/>
              <a:t>relevantes</a:t>
            </a:r>
            <a:r>
              <a:rPr lang="en-GB" b="1" dirty="0"/>
              <a:t>?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4D2A85-419C-28B9-95E2-1F0FB609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9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7DA2E-6A40-0625-975D-DC5581B0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04" y="179308"/>
            <a:ext cx="5590189" cy="5722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D6D0A6-1E48-362D-B81B-C7DC7C467686}"/>
              </a:ext>
            </a:extLst>
          </p:cNvPr>
          <p:cNvSpPr txBox="1"/>
          <p:nvPr/>
        </p:nvSpPr>
        <p:spPr>
          <a:xfrm>
            <a:off x="3205687" y="6309360"/>
            <a:ext cx="578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https://www.bcn.cl/leychile/navegar?idNorma=1209272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4ADF7-05BF-81AB-53A3-63ECFF53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9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FEE8-E3F7-2F4F-6827-26BFB7F2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91715-FB49-B66F-33C8-8DC3D9AD3FFC}"/>
              </a:ext>
            </a:extLst>
          </p:cNvPr>
          <p:cNvSpPr txBox="1"/>
          <p:nvPr/>
        </p:nvSpPr>
        <p:spPr>
          <a:xfrm>
            <a:off x="3205687" y="6309360"/>
            <a:ext cx="578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sboms USA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31F7E-1F95-60A5-4031-B820E2C6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94263-1E88-E01A-3C44-18DFDDA5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509" y="368144"/>
            <a:ext cx="7110976" cy="589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1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1960-22FC-EC77-152E-4FA09923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532FFB-D495-E0B6-C0A4-545EC115A25D}"/>
              </a:ext>
            </a:extLst>
          </p:cNvPr>
          <p:cNvSpPr txBox="1"/>
          <p:nvPr/>
        </p:nvSpPr>
        <p:spPr>
          <a:xfrm>
            <a:off x="3205687" y="6309360"/>
            <a:ext cx="5780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government-contracts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54BE5-F23D-296A-604A-89DA1F6F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92CCA-439E-A0E5-B3D1-44C3E7A97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30" y="1189350"/>
            <a:ext cx="8206740" cy="413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3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63844-CB87-607D-4861-557F8C04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668940"/>
            <a:ext cx="10081260" cy="55201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936C9B-5C89-7ACF-003D-8789DC6FBE28}"/>
              </a:ext>
            </a:extLst>
          </p:cNvPr>
          <p:cNvSpPr txBox="1"/>
          <p:nvPr/>
        </p:nvSpPr>
        <p:spPr>
          <a:xfrm>
            <a:off x="4090835" y="6309360"/>
            <a:ext cx="401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www.enforcementtracker.com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FF3F7-E3AC-12CB-7463-08D22534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3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8DC12-012C-B0B7-4501-E103177C5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6849" y="681037"/>
            <a:ext cx="9614500" cy="56283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7612AE-8DC1-48BB-CB77-87A25A18A51E}"/>
              </a:ext>
            </a:extLst>
          </p:cNvPr>
          <p:cNvSpPr txBox="1"/>
          <p:nvPr/>
        </p:nvSpPr>
        <p:spPr>
          <a:xfrm>
            <a:off x="4655820" y="6309360"/>
            <a:ext cx="311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https://github.com/advisories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3F589-C606-BBD0-ECB8-131F66E6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7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526AAF-4833-3058-78C7-970E7B0F4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0"/>
            <a:ext cx="2149664" cy="1189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8FAFFE-BA4C-2E3E-8ECC-5941D115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656" y="948259"/>
            <a:ext cx="7772400" cy="53611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0C9E8-67DE-BCC0-F2F8-AD851288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5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3913-F7BD-F29F-19A2-34B5D8B9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D39CF3-B75C-FECB-78F1-3624744A01C8}"/>
              </a:ext>
            </a:extLst>
          </p:cNvPr>
          <p:cNvSpPr txBox="1"/>
          <p:nvPr/>
        </p:nvSpPr>
        <p:spPr>
          <a:xfrm>
            <a:off x="2640310" y="6356350"/>
            <a:ext cx="691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https://runsafesecurity.com/blog/sbom-requirements-global-guide/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D414F5-0A0F-346E-EA53-48EEF212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13</a:t>
            </a:fld>
            <a:endParaRPr lang="en-US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D3EABBED-7E3A-9F14-C6B3-4CD29D320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57943" y="481296"/>
            <a:ext cx="9876113" cy="56283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683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8AC3-EEF5-2296-D16D-7F0F87FC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7381EB-47A8-B6A0-F1D8-24B8329C2DEA}"/>
              </a:ext>
            </a:extLst>
          </p:cNvPr>
          <p:cNvSpPr txBox="1"/>
          <p:nvPr/>
        </p:nvSpPr>
        <p:spPr>
          <a:xfrm>
            <a:off x="2640310" y="6356350"/>
            <a:ext cx="769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https://owasp.org/www-project-software-component-verification-standard/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B194F-EEBF-2E13-1605-B87C9D2B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FD25B-242D-DFD7-CEEA-1482CD584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150" y="988395"/>
            <a:ext cx="4840774" cy="488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0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FD87-9F45-784C-C618-0E100C8C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AD8A-7CB5-8425-245A-55988AEA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¿Por </a:t>
            </a:r>
            <a:r>
              <a:rPr lang="en-GB" b="1" dirty="0" err="1"/>
              <a:t>qué</a:t>
            </a:r>
            <a:r>
              <a:rPr lang="en-GB" b="1" dirty="0"/>
              <a:t> </a:t>
            </a:r>
            <a:r>
              <a:rPr lang="en-GB" b="1" dirty="0" err="1"/>
              <a:t>los</a:t>
            </a:r>
            <a:r>
              <a:rPr lang="en-GB" b="1" dirty="0"/>
              <a:t> SBOMs </a:t>
            </a:r>
            <a:r>
              <a:rPr lang="en-GB" b="1" dirty="0" err="1"/>
              <a:t>han</a:t>
            </a:r>
            <a:r>
              <a:rPr lang="en-GB" b="1" dirty="0"/>
              <a:t> </a:t>
            </a:r>
            <a:r>
              <a:rPr lang="en-GB" b="1" dirty="0" err="1"/>
              <a:t>tomado</a:t>
            </a:r>
            <a:r>
              <a:rPr lang="en-GB" b="1" dirty="0"/>
              <a:t> </a:t>
            </a:r>
            <a:r>
              <a:rPr lang="en-GB" b="1" dirty="0" err="1"/>
              <a:t>tanta</a:t>
            </a:r>
            <a:r>
              <a:rPr lang="en-GB" b="1" dirty="0"/>
              <a:t> </a:t>
            </a:r>
            <a:r>
              <a:rPr lang="en-GB" b="1" dirty="0" err="1"/>
              <a:t>relevancia</a:t>
            </a:r>
            <a:r>
              <a:rPr lang="en-GB" b="1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330A-99E0-DF1E-2ACB-BD5ACB78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 err="1"/>
              <a:t>Cumplimiento</a:t>
            </a:r>
            <a:r>
              <a:rPr lang="en-US" dirty="0"/>
              <a:t> </a:t>
            </a:r>
            <a:r>
              <a:rPr lang="en-US" dirty="0" err="1"/>
              <a:t>normativo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Seguridad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¿En </a:t>
            </a:r>
            <a:r>
              <a:rPr lang="en-US" dirty="0" err="1"/>
              <a:t>términos</a:t>
            </a:r>
            <a:r>
              <a:rPr lang="en-US" dirty="0"/>
              <a:t> </a:t>
            </a:r>
            <a:r>
              <a:rPr lang="en-US" dirty="0" err="1"/>
              <a:t>concretos</a:t>
            </a:r>
            <a:r>
              <a:rPr lang="en-US" dirty="0"/>
              <a:t>, en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servir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5896B-33CC-4408-8E17-B27E47AD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39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8916-D5DC-CA47-F30C-820DB7DC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Vulnerabilidad</a:t>
            </a:r>
            <a:r>
              <a:rPr lang="en-US" dirty="0"/>
              <a:t> </a:t>
            </a:r>
            <a:r>
              <a:rPr lang="en-US" dirty="0" err="1"/>
              <a:t>crítica</a:t>
            </a:r>
            <a:r>
              <a:rPr lang="en-US" dirty="0"/>
              <a:t> en </a:t>
            </a:r>
            <a:r>
              <a:rPr lang="en-US" dirty="0" err="1"/>
              <a:t>dependencia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D42E1-F413-3048-6AB3-CA993CF0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dirty="0" err="1"/>
              <a:t>Identifique</a:t>
            </a:r>
            <a:r>
              <a:rPr lang="en-US" dirty="0"/>
              <a:t> un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específico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Describalo</a:t>
            </a:r>
            <a:r>
              <a:rPr lang="en-US" dirty="0"/>
              <a:t> tanto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pueda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Identifique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caracterizan</a:t>
            </a:r>
            <a:r>
              <a:rPr lang="en-US" dirty="0"/>
              <a:t> la </a:t>
            </a:r>
            <a:r>
              <a:rPr lang="en-US" dirty="0" err="1"/>
              <a:t>vulnerabilidad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usted</a:t>
            </a:r>
            <a:r>
              <a:rPr lang="en-US" dirty="0"/>
              <a:t> no </a:t>
            </a:r>
            <a:r>
              <a:rPr lang="en-US" dirty="0" err="1"/>
              <a:t>entienda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31C60-33F7-CDA3-8D12-1A200570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06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170D-01A3-18C8-CCE1-CF1AECBA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Análisis estático de software </a:t>
            </a:r>
            <a:br>
              <a:rPr lang="en-GB"/>
            </a:br>
            <a:r>
              <a:rPr lang="en-GB"/>
              <a:t>(Static program analysis)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F00E-7C01-F18D-42EE-FE55D2BD0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7980" cy="43513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/>
              <a:t>Una </a:t>
            </a:r>
            <a:r>
              <a:rPr lang="en-GB" b="1" dirty="0" err="1"/>
              <a:t>herramienta</a:t>
            </a:r>
            <a:r>
              <a:rPr lang="en-GB" b="1" dirty="0"/>
              <a:t> de </a:t>
            </a:r>
            <a:r>
              <a:rPr lang="en-GB" b="1" dirty="0" err="1"/>
              <a:t>análisis</a:t>
            </a:r>
            <a:r>
              <a:rPr lang="en-GB" b="1" dirty="0"/>
              <a:t> </a:t>
            </a:r>
            <a:r>
              <a:rPr lang="en-GB" b="1" dirty="0" err="1"/>
              <a:t>estático</a:t>
            </a:r>
            <a:r>
              <a:rPr lang="en-GB" b="1" dirty="0"/>
              <a:t> de </a:t>
            </a:r>
            <a:r>
              <a:rPr lang="en-GB" b="1" dirty="0" err="1"/>
              <a:t>código</a:t>
            </a:r>
            <a:r>
              <a:rPr lang="en-GB" dirty="0"/>
              <a:t> es un software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revisa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código</a:t>
            </a:r>
            <a:r>
              <a:rPr lang="en-GB" dirty="0"/>
              <a:t> </a:t>
            </a:r>
            <a:r>
              <a:rPr lang="en-GB" dirty="0" err="1"/>
              <a:t>fuente</a:t>
            </a:r>
            <a:r>
              <a:rPr lang="en-GB" dirty="0"/>
              <a:t> </a:t>
            </a:r>
            <a:r>
              <a:rPr lang="en-GB" b="1" dirty="0"/>
              <a:t>sin </a:t>
            </a:r>
            <a:r>
              <a:rPr lang="en-GB" b="1" dirty="0" err="1"/>
              <a:t>ejecutarlo</a:t>
            </a:r>
            <a:r>
              <a:rPr lang="en-GB" dirty="0"/>
              <a:t>, para </a:t>
            </a:r>
            <a:r>
              <a:rPr lang="en-GB" dirty="0" err="1"/>
              <a:t>detectar</a:t>
            </a:r>
            <a:r>
              <a:rPr lang="en-GB" dirty="0"/>
              <a:t> </a:t>
            </a:r>
            <a:r>
              <a:rPr lang="en-GB" dirty="0" err="1"/>
              <a:t>errores</a:t>
            </a:r>
            <a:r>
              <a:rPr lang="en-GB" dirty="0"/>
              <a:t>, </a:t>
            </a:r>
            <a:r>
              <a:rPr lang="en-GB" dirty="0" err="1"/>
              <a:t>vulnerabilidades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 y </a:t>
            </a:r>
            <a:r>
              <a:rPr lang="en-GB" dirty="0" err="1"/>
              <a:t>problemas</a:t>
            </a:r>
            <a:r>
              <a:rPr lang="en-GB" dirty="0"/>
              <a:t> de </a:t>
            </a:r>
            <a:r>
              <a:rPr lang="en-GB" dirty="0" err="1"/>
              <a:t>calidad</a:t>
            </a:r>
            <a:r>
              <a:rPr lang="en-GB" dirty="0"/>
              <a:t> antes de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programa</a:t>
            </a:r>
            <a:r>
              <a:rPr lang="en-GB" dirty="0"/>
              <a:t> se </a:t>
            </a:r>
            <a:r>
              <a:rPr lang="en-GB" dirty="0" err="1"/>
              <a:t>ejecute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9E45E-0FF1-706D-1572-E5C74E04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17</a:t>
            </a:fld>
            <a:endParaRPr lang="en-US"/>
          </a:p>
        </p:txBody>
      </p:sp>
      <p:pic>
        <p:nvPicPr>
          <p:cNvPr id="4098" name="Picture 2" descr="Analizar vulnerabilidades en tu código con CodeQL en local - return(GiS);">
            <a:extLst>
              <a:ext uri="{FF2B5EF4-FFF2-40B4-BE49-F238E27FC236}">
                <a16:creationId xmlns:a16="http://schemas.microsoft.com/office/drawing/2014/main" id="{AF1AF121-F5DA-F838-0689-56612C2F2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60" y="2489457"/>
            <a:ext cx="2392680" cy="239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728F6-2A7E-672E-FB01-BB286C30A783}"/>
              </a:ext>
            </a:extLst>
          </p:cNvPr>
          <p:cNvSpPr txBox="1"/>
          <p:nvPr/>
        </p:nvSpPr>
        <p:spPr>
          <a:xfrm>
            <a:off x="8523897" y="5065245"/>
            <a:ext cx="3046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codeql.github.com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398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FA5B-0CD2-073D-8BCD-6F7B3C29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itHub - anchore/syft: CLI tool and library for generating a Software Bill  of Materials from container images and filesystems · GitHub">
            <a:extLst>
              <a:ext uri="{FF2B5EF4-FFF2-40B4-BE49-F238E27FC236}">
                <a16:creationId xmlns:a16="http://schemas.microsoft.com/office/drawing/2014/main" id="{44402728-4487-FDC5-AEA7-A3B652173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44" y="1643061"/>
            <a:ext cx="4342910" cy="231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593228-8EAE-3FEB-C4E7-F833A2B6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Análisis</a:t>
            </a:r>
            <a:r>
              <a:rPr lang="en-GB" dirty="0"/>
              <a:t> de </a:t>
            </a:r>
            <a:r>
              <a:rPr lang="en-GB" dirty="0" err="1"/>
              <a:t>composición</a:t>
            </a:r>
            <a:r>
              <a:rPr lang="en-GB" dirty="0"/>
              <a:t> de software </a:t>
            </a:r>
            <a:br>
              <a:rPr lang="en-GB" dirty="0"/>
            </a:br>
            <a:r>
              <a:rPr lang="en-GB" dirty="0"/>
              <a:t>(SCA)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01124-9DC3-2750-093A-C5AB993B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79254" cy="4530725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/>
              <a:t>El </a:t>
            </a:r>
            <a:r>
              <a:rPr lang="en-GB" dirty="0" err="1"/>
              <a:t>análisis</a:t>
            </a:r>
            <a:r>
              <a:rPr lang="en-GB" dirty="0"/>
              <a:t> de </a:t>
            </a:r>
            <a:r>
              <a:rPr lang="en-GB" dirty="0" err="1"/>
              <a:t>composición</a:t>
            </a:r>
            <a:r>
              <a:rPr lang="en-GB" dirty="0"/>
              <a:t> de software (SCA) es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proceso</a:t>
            </a:r>
            <a:r>
              <a:rPr lang="en-GB" dirty="0"/>
              <a:t> de </a:t>
            </a:r>
            <a:r>
              <a:rPr lang="en-GB" dirty="0" err="1"/>
              <a:t>identificar</a:t>
            </a:r>
            <a:r>
              <a:rPr lang="en-GB" dirty="0"/>
              <a:t> </a:t>
            </a:r>
            <a:r>
              <a:rPr lang="en-GB" dirty="0" err="1"/>
              <a:t>todas</a:t>
            </a:r>
            <a:r>
              <a:rPr lang="en-GB" dirty="0"/>
              <a:t> las </a:t>
            </a:r>
            <a:r>
              <a:rPr lang="en-GB" dirty="0" err="1"/>
              <a:t>dependencias</a:t>
            </a:r>
            <a:r>
              <a:rPr lang="en-GB" dirty="0"/>
              <a:t> de un </a:t>
            </a:r>
            <a:r>
              <a:rPr lang="en-GB" dirty="0" err="1"/>
              <a:t>sistema</a:t>
            </a:r>
            <a:r>
              <a:rPr lang="en-GB" dirty="0"/>
              <a:t> (</a:t>
            </a:r>
            <a:r>
              <a:rPr lang="en-GB" dirty="0" err="1"/>
              <a:t>librerías</a:t>
            </a:r>
            <a:r>
              <a:rPr lang="en-GB" dirty="0"/>
              <a:t>, </a:t>
            </a:r>
            <a:r>
              <a:rPr lang="en-GB" dirty="0" err="1"/>
              <a:t>paquetes</a:t>
            </a:r>
            <a:r>
              <a:rPr lang="en-GB" dirty="0"/>
              <a:t>, </a:t>
            </a:r>
            <a:r>
              <a:rPr lang="en-GB" dirty="0" err="1"/>
              <a:t>versiones</a:t>
            </a:r>
            <a:r>
              <a:rPr lang="en-GB" dirty="0"/>
              <a:t>) y </a:t>
            </a:r>
            <a:r>
              <a:rPr lang="en-GB" dirty="0" err="1"/>
              <a:t>verificar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alguna</a:t>
            </a:r>
            <a:r>
              <a:rPr lang="en-GB" dirty="0"/>
              <a:t> </a:t>
            </a:r>
            <a:r>
              <a:rPr lang="en-GB" dirty="0" err="1"/>
              <a:t>tiene</a:t>
            </a:r>
            <a:r>
              <a:rPr lang="en-GB" dirty="0"/>
              <a:t> </a:t>
            </a:r>
            <a:r>
              <a:rPr lang="en-GB" dirty="0" err="1"/>
              <a:t>vulnerabilidades</a:t>
            </a:r>
            <a:r>
              <a:rPr lang="en-GB" dirty="0"/>
              <a:t> </a:t>
            </a:r>
            <a:r>
              <a:rPr lang="en-GB" dirty="0" err="1"/>
              <a:t>conocidas</a:t>
            </a:r>
            <a:r>
              <a:rPr lang="en-GB" dirty="0"/>
              <a:t> o </a:t>
            </a:r>
            <a:r>
              <a:rPr lang="en-GB" dirty="0" err="1"/>
              <a:t>problemas</a:t>
            </a:r>
            <a:r>
              <a:rPr lang="en-GB" dirty="0"/>
              <a:t> de </a:t>
            </a:r>
            <a:r>
              <a:rPr lang="en-GB" dirty="0" err="1"/>
              <a:t>licencia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81A9D-B21B-3F59-ED2F-810EFE1F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18</a:t>
            </a:fld>
            <a:endParaRPr lang="en-US"/>
          </a:p>
        </p:txBody>
      </p:sp>
      <p:pic>
        <p:nvPicPr>
          <p:cNvPr id="5124" name="Picture 4" descr="GitHub - anchore/grype: A vulnerability scanner for container images and  filesystems · GitHub">
            <a:extLst>
              <a:ext uri="{FF2B5EF4-FFF2-40B4-BE49-F238E27FC236}">
                <a16:creationId xmlns:a16="http://schemas.microsoft.com/office/drawing/2014/main" id="{5323F479-C4F7-E229-E781-FE33F74BD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077" y="4403698"/>
            <a:ext cx="4209045" cy="21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C72920-E748-54BD-86BF-508E365AACCD}"/>
              </a:ext>
            </a:extLst>
          </p:cNvPr>
          <p:cNvSpPr txBox="1"/>
          <p:nvPr/>
        </p:nvSpPr>
        <p:spPr>
          <a:xfrm>
            <a:off x="9416574" y="2599292"/>
            <a:ext cx="1651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syft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0E999-2AFE-896B-6F0B-890C1A467017}"/>
              </a:ext>
            </a:extLst>
          </p:cNvPr>
          <p:cNvSpPr txBox="1"/>
          <p:nvPr/>
        </p:nvSpPr>
        <p:spPr>
          <a:xfrm>
            <a:off x="9187395" y="5282114"/>
            <a:ext cx="2109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grype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5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DBAB67-88EC-D4AF-43CE-90E3E5EF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 err="1"/>
              <a:t>Estándares</a:t>
            </a:r>
            <a:r>
              <a:rPr lang="en-GB" b="1" dirty="0"/>
              <a:t> y </a:t>
            </a:r>
            <a:r>
              <a:rPr lang="en-GB" b="1" dirty="0" err="1"/>
              <a:t>automatización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77245-56C2-D33F-2123-2DA98741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8820"/>
            <a:ext cx="4415614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BD3BB8-2BE1-BA06-B988-F18F3A3A62D3}"/>
              </a:ext>
            </a:extLst>
          </p:cNvPr>
          <p:cNvSpPr txBox="1"/>
          <p:nvPr/>
        </p:nvSpPr>
        <p:spPr>
          <a:xfrm>
            <a:off x="2103793" y="5715952"/>
            <a:ext cx="188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spdx.dev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AEFF66-4EEC-5D7B-4BB6-923DF05D2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290" y="2055495"/>
            <a:ext cx="5943600" cy="3295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1EFFEC-6EB5-E82C-B891-CCB55B05655F}"/>
              </a:ext>
            </a:extLst>
          </p:cNvPr>
          <p:cNvSpPr txBox="1"/>
          <p:nvPr/>
        </p:nvSpPr>
        <p:spPr>
          <a:xfrm>
            <a:off x="8017876" y="5715952"/>
            <a:ext cx="2373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cyclonedx.org</a:t>
            </a:r>
            <a:r>
              <a:rPr lang="en-US" dirty="0">
                <a:hlinkClick r:id="rId5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19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DC394-1E92-B989-6CDB-6635DDA57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ECB81A-261F-11FC-5A35-E9B17F38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 err="1"/>
              <a:t>Preguntas</a:t>
            </a:r>
            <a:r>
              <a:rPr lang="en-GB" b="1" dirty="0"/>
              <a:t> clave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98F263-AC25-25C3-B3DA-EF8D7E688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78340" cy="43513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 err="1"/>
              <a:t>Adopción</a:t>
            </a:r>
            <a:r>
              <a:rPr lang="en-GB" dirty="0"/>
              <a:t> en </a:t>
            </a:r>
            <a:r>
              <a:rPr lang="en-GB" dirty="0" err="1"/>
              <a:t>proyectos</a:t>
            </a:r>
            <a:r>
              <a:rPr lang="en-GB" dirty="0"/>
              <a:t> open source</a:t>
            </a:r>
          </a:p>
          <a:p>
            <a:pPr>
              <a:lnSpc>
                <a:spcPct val="150000"/>
              </a:lnSpc>
            </a:pPr>
            <a:r>
              <a:rPr lang="en-GB" dirty="0"/>
              <a:t>¿La </a:t>
            </a:r>
            <a:r>
              <a:rPr lang="en-GB" dirty="0" err="1"/>
              <a:t>generación</a:t>
            </a:r>
            <a:r>
              <a:rPr lang="en-GB" dirty="0"/>
              <a:t> de SBOMs es </a:t>
            </a:r>
            <a:r>
              <a:rPr lang="en-GB" dirty="0" err="1"/>
              <a:t>siempre</a:t>
            </a:r>
            <a:r>
              <a:rPr lang="en-GB" dirty="0"/>
              <a:t> </a:t>
            </a:r>
            <a:r>
              <a:rPr lang="en-GB" dirty="0" err="1"/>
              <a:t>válida</a:t>
            </a:r>
            <a:r>
              <a:rPr lang="en-GB" dirty="0"/>
              <a:t>?</a:t>
            </a:r>
          </a:p>
          <a:p>
            <a:pPr>
              <a:lnSpc>
                <a:spcPct val="150000"/>
              </a:lnSpc>
            </a:pPr>
            <a:r>
              <a:rPr lang="en-GB" dirty="0"/>
              <a:t>¿</a:t>
            </a:r>
            <a:r>
              <a:rPr lang="en-GB" dirty="0" err="1"/>
              <a:t>Diferentes</a:t>
            </a:r>
            <a:r>
              <a:rPr lang="en-GB" dirty="0"/>
              <a:t>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producen</a:t>
            </a:r>
            <a:r>
              <a:rPr lang="en-GB" dirty="0"/>
              <a:t> </a:t>
            </a:r>
            <a:r>
              <a:rPr lang="en-GB" dirty="0" err="1"/>
              <a:t>siempre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mismo</a:t>
            </a:r>
            <a:r>
              <a:rPr lang="en-GB" dirty="0"/>
              <a:t> </a:t>
            </a:r>
            <a:r>
              <a:rPr lang="en-GB" dirty="0" err="1"/>
              <a:t>resultado</a:t>
            </a:r>
            <a:r>
              <a:rPr lang="en-GB" dirty="0"/>
              <a:t>?</a:t>
            </a:r>
          </a:p>
          <a:p>
            <a:pPr>
              <a:lnSpc>
                <a:spcPct val="150000"/>
              </a:lnSpc>
            </a:pPr>
            <a:r>
              <a:rPr lang="en-GB" dirty="0"/>
              <a:t>¿Las </a:t>
            </a:r>
            <a:r>
              <a:rPr lang="en-GB" dirty="0" err="1"/>
              <a:t>herramientas</a:t>
            </a:r>
            <a:r>
              <a:rPr lang="en-GB" dirty="0"/>
              <a:t> son </a:t>
            </a:r>
            <a:r>
              <a:rPr lang="en-GB" dirty="0" err="1"/>
              <a:t>capaces</a:t>
            </a:r>
            <a:r>
              <a:rPr lang="en-GB" dirty="0"/>
              <a:t> de </a:t>
            </a:r>
            <a:r>
              <a:rPr lang="en-GB" dirty="0" err="1"/>
              <a:t>generar</a:t>
            </a:r>
            <a:r>
              <a:rPr lang="en-GB" dirty="0"/>
              <a:t> SBOMs en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casos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4455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0764-4A66-280D-FF1B-353C65FB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Tarea 1 (4 de Mayo)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8AE0D-3B85-DB34-46BB-22E21FB62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3 </a:t>
            </a:r>
            <a:r>
              <a:rPr lang="en-US" dirty="0" err="1"/>
              <a:t>Lecturas</a:t>
            </a:r>
            <a:endParaRPr lang="en-US" dirty="0"/>
          </a:p>
          <a:p>
            <a:pPr lvl="1"/>
            <a:r>
              <a:rPr lang="en-US" dirty="0"/>
              <a:t>Papers 1, 2, y 3 (</a:t>
            </a:r>
            <a:r>
              <a:rPr lang="en-US" dirty="0" err="1"/>
              <a:t>disponibles</a:t>
            </a:r>
            <a:r>
              <a:rPr lang="en-US" dirty="0"/>
              <a:t> en data/papers)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Instalar</a:t>
            </a:r>
            <a:r>
              <a:rPr lang="en-US" dirty="0"/>
              <a:t> </a:t>
            </a:r>
            <a:r>
              <a:rPr lang="en-US" dirty="0" err="1"/>
              <a:t>devContainer</a:t>
            </a:r>
            <a:r>
              <a:rPr lang="en-US" dirty="0"/>
              <a:t> y </a:t>
            </a:r>
            <a:r>
              <a:rPr lang="en-US" dirty="0" err="1"/>
              <a:t>generar</a:t>
            </a:r>
            <a:r>
              <a:rPr lang="en-US" dirty="0"/>
              <a:t> SBOMs de 10 repositories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https://github.com/trending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github.com</a:t>
            </a:r>
            <a:r>
              <a:rPr lang="en-US" dirty="0">
                <a:hlinkClick r:id="rId3"/>
              </a:rPr>
              <a:t>/dci-courses/produccion_software_emi305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16C47-B2BE-6DF4-EFC8-21578B8F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87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6204-D30A-2F4A-68C6-6AAE3470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Evaluación</a:t>
            </a:r>
            <a:r>
              <a:rPr lang="en-US" dirty="0"/>
              <a:t> del </a:t>
            </a:r>
            <a:r>
              <a:rPr lang="en-US" dirty="0" err="1"/>
              <a:t>módulo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C730-92D3-6934-2236-EE8E4DD8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Tarea 1: </a:t>
            </a:r>
            <a:r>
              <a:rPr lang="en-US" dirty="0" err="1"/>
              <a:t>generación</a:t>
            </a:r>
            <a:r>
              <a:rPr lang="en-US" dirty="0"/>
              <a:t> de </a:t>
            </a:r>
            <a:r>
              <a:rPr lang="en-US" dirty="0" err="1"/>
              <a:t>sboms</a:t>
            </a:r>
            <a:r>
              <a:rPr lang="en-US" dirty="0"/>
              <a:t>, 30%</a:t>
            </a:r>
          </a:p>
          <a:p>
            <a:r>
              <a:rPr lang="en-US" dirty="0"/>
              <a:t>Tarea 2: </a:t>
            </a:r>
            <a:r>
              <a:rPr lang="en-US" dirty="0" err="1"/>
              <a:t>extracción</a:t>
            </a:r>
            <a:r>
              <a:rPr lang="en-US" dirty="0"/>
              <a:t> de </a:t>
            </a:r>
            <a:r>
              <a:rPr lang="en-US" dirty="0" err="1"/>
              <a:t>vulnerabilidades</a:t>
            </a:r>
            <a:r>
              <a:rPr lang="en-US" dirty="0"/>
              <a:t>, 30%</a:t>
            </a:r>
          </a:p>
          <a:p>
            <a:pPr>
              <a:lnSpc>
                <a:spcPct val="150000"/>
              </a:lnSpc>
            </a:pPr>
            <a:r>
              <a:rPr lang="en-US" dirty="0"/>
              <a:t>Tarea 3: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, 40%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2A0E6-9152-B9DA-E4C6-FBE1ADA6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25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535</Words>
  <Application>Microsoft Macintosh PowerPoint</Application>
  <PresentationFormat>Widescreen</PresentationFormat>
  <Paragraphs>82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Producción de Software</vt:lpstr>
      <vt:lpstr>Programa</vt:lpstr>
      <vt:lpstr>Seleccione un repositorio desde Github</vt:lpstr>
      <vt:lpstr>SBOMs</vt:lpstr>
      <vt:lpstr>PowerPoint Presentation</vt:lpstr>
      <vt:lpstr>¿Por qué los SBOMs son relevantes?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¿Por qué los SBOMs han tomado tanta relevancia?</vt:lpstr>
      <vt:lpstr>Vulnerabilidad crítica en dependencia</vt:lpstr>
      <vt:lpstr>Análisis estático de software  (Static program analysis)</vt:lpstr>
      <vt:lpstr>Análisis de composición de software  (SCA)</vt:lpstr>
      <vt:lpstr>Estándares y automatización</vt:lpstr>
      <vt:lpstr>Preguntas clave</vt:lpstr>
      <vt:lpstr>Tarea 1 (4 de Mayo)</vt:lpstr>
      <vt:lpstr>Evaluación del módulo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6</cp:revision>
  <dcterms:created xsi:type="dcterms:W3CDTF">2026-04-27T15:47:00Z</dcterms:created>
  <dcterms:modified xsi:type="dcterms:W3CDTF">2026-04-27T19:15:48Z</dcterms:modified>
</cp:coreProperties>
</file>