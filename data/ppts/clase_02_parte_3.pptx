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99" r:id="rId3"/>
    <p:sldId id="260" r:id="rId4"/>
    <p:sldId id="304" r:id="rId5"/>
    <p:sldId id="305" r:id="rId6"/>
    <p:sldId id="301" r:id="rId7"/>
    <p:sldId id="308" r:id="rId8"/>
    <p:sldId id="309" r:id="rId9"/>
    <p:sldId id="302" r:id="rId10"/>
    <p:sldId id="306" r:id="rId11"/>
    <p:sldId id="307" r:id="rId12"/>
    <p:sldId id="303" r:id="rId13"/>
    <p:sldId id="310" r:id="rId14"/>
    <p:sldId id="311" r:id="rId15"/>
    <p:sldId id="312" r:id="rId1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75510"/>
  </p:normalViewPr>
  <p:slideViewPr>
    <p:cSldViewPr>
      <p:cViewPr varScale="1">
        <p:scale>
          <a:sx n="95" d="100"/>
          <a:sy n="95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7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C3F8-E6EE-B15B-3F35-516CA51B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CCEE8-66AA-18B8-539A-01C1430A3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F28DA-ACE6-1606-3EAB-0917290FD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0C5FB-3CAF-4B8F-22A2-189CA9163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82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EEF9-AD73-0F46-C3CA-B3568F05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815AF-BF07-3633-23B1-DD216494B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702C0-8D32-E245-C168-A354ECD69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BF578-B93D-ADCA-5B33-7F39E627F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61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0D22-A333-5090-3A85-4980F614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1C1C-5440-ACDE-D293-25305FE4A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F0895-E920-BA0C-5A33-CDE6BEC03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99879-9564-5A6F-FAEB-BF41CE54C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2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DBB6-AEFF-B1B5-ABEE-2877AD01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A8BC2-358B-2DCF-9595-23A2B11CF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437FF-FCE2-EA62-A3B8-BC25724A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2B782-6F9E-3224-367A-E182CDC2A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19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99B0-1F45-27C4-1995-7AB8216D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59888-D00C-CFCD-1E48-82056BA78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78199-AD1A-F122-1498-0DF1E6BD3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FF2E-D63B-7DA4-C3B7-5F5830907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7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DB8B8-4D60-EEC8-3A45-671D660F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D90E2-1005-EFD2-DBB4-0628EB635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6D368-C1EE-FE88-E01C-1C18D4560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70941-4AAB-EE90-ED91-9E6F0C511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2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98BF-BC06-C777-D875-96B2FDDC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E9C45-11B1-6828-F2E3-3A70FCF7F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0F622-13AB-D1A3-9392-4E4A789D0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0759-E65B-95A5-0409-07FC4B5F7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55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C8FF-32A7-A79F-BFF2-178F4662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8EAEA-B2FD-88DE-0CEE-E10A37F1D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1EF0C-080F-9B7A-45B1-0BA53131D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BC207-7431-39D1-E4A3-4522D5130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9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4D3B-9D3E-D4E8-F91C-927E16142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42ED9-9819-E186-CF2D-663A1948A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29451-980B-44EE-58EE-0DF3041E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1FB71-D043-C853-7E19-E46906BD3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66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525D-7D23-9FC1-4332-BA024228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B1E3-2D52-D916-28AC-F14FC69FD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4308B-C2DC-AE7E-6D27-11046C9A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8223-7476-FC88-85C3-5E34D9708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38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6E94-4BEC-9EF1-92E6-63566533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DD195-752B-F44E-3EA8-F146E2067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36AD4-0D55-BA6C-C7D8-5BCBF0D35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AF46E-39C1-A2F7-8C8E-813040F5E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97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DA9D6-8250-82DA-F85D-88F66C6A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B94F5-B028-9497-71FE-0699BE32F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E3B4F-99CF-3DAC-4FE8-683D7BD64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32AD1-BAAB-FD07-F3C4-CB21390E1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91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04.05.26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04.05.26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04.05.26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4 Mayo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69D7-28CB-24A2-F03F-6BA11059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861D-ECB2-2C9E-D3D4-208AC21A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Discusión</a:t>
            </a:r>
            <a:r>
              <a:rPr lang="en-US" dirty="0"/>
              <a:t> </a:t>
            </a:r>
            <a:r>
              <a:rPr lang="en-US" dirty="0" err="1"/>
              <a:t>lecturas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DF66-6577-6079-77DB-AB17DDC58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19"/>
            <a:ext cx="10515600" cy="4188143"/>
          </a:xfrm>
        </p:spPr>
        <p:txBody>
          <a:bodyPr anchor="ctr">
            <a:norm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Paper 1: </a:t>
            </a:r>
            <a:r>
              <a:rPr lang="en-GB" dirty="0"/>
              <a:t>On the adoption of software bill of materials in open-source software projects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Paper 2: </a:t>
            </a:r>
            <a:r>
              <a:rPr lang="en-GB" dirty="0"/>
              <a:t>What We Know about AIBOMs: Results from a Multivocal Literature Review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Paper 3: </a:t>
            </a:r>
            <a:r>
              <a:rPr lang="en-GB" dirty="0"/>
              <a:t>If it’s not SBOM, then what? How Italian Practitioners Manage the Software Supply 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6E42F-C158-65E3-17D3-D04C48A5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5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P1: ¿Por </a:t>
            </a:r>
            <a:r>
              <a:rPr lang="en-GB" sz="3600" b="1" dirty="0" err="1">
                <a:latin typeface="+mn-lt"/>
              </a:rPr>
              <a:t>qué</a:t>
            </a:r>
            <a:r>
              <a:rPr lang="en-GB" sz="3600" b="1" dirty="0">
                <a:latin typeface="+mn-lt"/>
              </a:rPr>
              <a:t>, a </a:t>
            </a:r>
            <a:r>
              <a:rPr lang="en-GB" sz="3600" b="1" dirty="0" err="1">
                <a:latin typeface="+mn-lt"/>
              </a:rPr>
              <a:t>pesar</a:t>
            </a:r>
            <a:r>
              <a:rPr lang="en-GB" sz="3600" b="1" dirty="0">
                <a:latin typeface="+mn-lt"/>
              </a:rPr>
              <a:t> de </a:t>
            </a:r>
            <a:r>
              <a:rPr lang="en-GB" sz="3600" b="1" dirty="0" err="1">
                <a:latin typeface="+mn-lt"/>
              </a:rPr>
              <a:t>su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valor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teórico</a:t>
            </a:r>
            <a:r>
              <a:rPr lang="en-GB" sz="3600" b="1" dirty="0">
                <a:latin typeface="+mn-lt"/>
              </a:rPr>
              <a:t>, la </a:t>
            </a:r>
            <a:r>
              <a:rPr lang="en-GB" sz="3600" b="1" dirty="0" err="1">
                <a:latin typeface="+mn-lt"/>
              </a:rPr>
              <a:t>adopción</a:t>
            </a:r>
            <a:r>
              <a:rPr lang="en-GB" sz="3600" b="1" dirty="0">
                <a:latin typeface="+mn-lt"/>
              </a:rPr>
              <a:t> de SBOM/AIBOM </a:t>
            </a:r>
            <a:r>
              <a:rPr lang="en-GB" sz="3600" b="1" dirty="0" err="1">
                <a:latin typeface="+mn-lt"/>
              </a:rPr>
              <a:t>sigue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siendo</a:t>
            </a:r>
            <a:r>
              <a:rPr lang="en-GB" sz="3600" b="1" dirty="0">
                <a:latin typeface="+mn-lt"/>
              </a:rPr>
              <a:t> baja en la </a:t>
            </a:r>
            <a:r>
              <a:rPr lang="en-GB" sz="3600" b="1" dirty="0" err="1">
                <a:latin typeface="+mn-lt"/>
              </a:rPr>
              <a:t>práctica</a:t>
            </a:r>
            <a:r>
              <a:rPr lang="en-GB" sz="3600" b="1" dirty="0">
                <a:latin typeface="+mn-lt"/>
              </a:rPr>
              <a:t>? 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F09E-A293-42CD-FB42-F2DF7843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3A40-7746-AEC9-9F80-6AE673FB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P1: ¿Por </a:t>
            </a:r>
            <a:r>
              <a:rPr lang="en-GB" sz="3600" b="1" dirty="0" err="1">
                <a:latin typeface="+mn-lt"/>
              </a:rPr>
              <a:t>qué</a:t>
            </a:r>
            <a:r>
              <a:rPr lang="en-GB" sz="3600" b="1" dirty="0">
                <a:latin typeface="+mn-lt"/>
              </a:rPr>
              <a:t>, a </a:t>
            </a:r>
            <a:r>
              <a:rPr lang="en-GB" sz="3600" b="1" dirty="0" err="1">
                <a:latin typeface="+mn-lt"/>
              </a:rPr>
              <a:t>pesar</a:t>
            </a:r>
            <a:r>
              <a:rPr lang="en-GB" sz="3600" b="1" dirty="0">
                <a:latin typeface="+mn-lt"/>
              </a:rPr>
              <a:t> de </a:t>
            </a:r>
            <a:r>
              <a:rPr lang="en-GB" sz="3600" b="1" dirty="0" err="1">
                <a:latin typeface="+mn-lt"/>
              </a:rPr>
              <a:t>su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valor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teórico</a:t>
            </a:r>
            <a:r>
              <a:rPr lang="en-GB" sz="3600" b="1" dirty="0">
                <a:latin typeface="+mn-lt"/>
              </a:rPr>
              <a:t>, la </a:t>
            </a:r>
            <a:r>
              <a:rPr lang="en-GB" sz="3600" b="1" dirty="0" err="1">
                <a:latin typeface="+mn-lt"/>
              </a:rPr>
              <a:t>adopción</a:t>
            </a:r>
            <a:r>
              <a:rPr lang="en-GB" sz="3600" b="1" dirty="0">
                <a:latin typeface="+mn-lt"/>
              </a:rPr>
              <a:t> de SBOM/AIBOM </a:t>
            </a:r>
            <a:r>
              <a:rPr lang="en-GB" sz="3600" b="1" dirty="0" err="1">
                <a:latin typeface="+mn-lt"/>
              </a:rPr>
              <a:t>sigue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siendo</a:t>
            </a:r>
            <a:r>
              <a:rPr lang="en-GB" sz="3600" b="1" dirty="0">
                <a:latin typeface="+mn-lt"/>
              </a:rPr>
              <a:t> baja en la </a:t>
            </a:r>
            <a:r>
              <a:rPr lang="en-GB" sz="3600" b="1" dirty="0" err="1">
                <a:latin typeface="+mn-lt"/>
              </a:rPr>
              <a:t>práctica</a:t>
            </a:r>
            <a:r>
              <a:rPr lang="en-GB" sz="3600" b="1" dirty="0">
                <a:latin typeface="+mn-lt"/>
              </a:rPr>
              <a:t>? 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66C46-F454-36D4-717C-89FE9DA8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DB8C1-DD04-6809-F9CF-9D5203038CF3}"/>
              </a:ext>
            </a:extLst>
          </p:cNvPr>
          <p:cNvSpPr txBox="1"/>
          <p:nvPr/>
        </p:nvSpPr>
        <p:spPr>
          <a:xfrm>
            <a:off x="1055370" y="2253804"/>
            <a:ext cx="10081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¿Es </a:t>
            </a:r>
            <a:r>
              <a:rPr lang="en-GB" sz="3200" dirty="0" err="1"/>
              <a:t>el</a:t>
            </a:r>
            <a:r>
              <a:rPr lang="en-GB" sz="3200" dirty="0"/>
              <a:t> principal </a:t>
            </a:r>
            <a:r>
              <a:rPr lang="en-GB" sz="3200" dirty="0" err="1"/>
              <a:t>problema</a:t>
            </a:r>
            <a:r>
              <a:rPr lang="en-GB" sz="3200" dirty="0"/>
              <a:t> la </a:t>
            </a:r>
            <a:r>
              <a:rPr lang="en-GB" sz="3200" dirty="0" err="1"/>
              <a:t>falta</a:t>
            </a:r>
            <a:r>
              <a:rPr lang="en-GB" sz="3200" dirty="0"/>
              <a:t> de </a:t>
            </a:r>
            <a:r>
              <a:rPr lang="en-GB" sz="3200" dirty="0" err="1"/>
              <a:t>herramientas</a:t>
            </a:r>
            <a:r>
              <a:rPr lang="en-GB" sz="3200" dirty="0"/>
              <a:t> </a:t>
            </a:r>
            <a:r>
              <a:rPr lang="en-GB" sz="3200" dirty="0" err="1"/>
              <a:t>maduras</a:t>
            </a:r>
            <a:r>
              <a:rPr lang="en-GB" sz="3200" dirty="0"/>
              <a:t> o la </a:t>
            </a:r>
            <a:r>
              <a:rPr lang="en-GB" sz="3200" dirty="0" err="1"/>
              <a:t>falta</a:t>
            </a:r>
            <a:r>
              <a:rPr lang="en-GB" sz="3200" dirty="0"/>
              <a:t> de </a:t>
            </a:r>
            <a:r>
              <a:rPr lang="en-GB" sz="3200" dirty="0" err="1"/>
              <a:t>incentivos</a:t>
            </a:r>
            <a:r>
              <a:rPr lang="en-GB" sz="3200" dirty="0"/>
              <a:t> </a:t>
            </a:r>
            <a:r>
              <a:rPr lang="en-GB" sz="3200" dirty="0" err="1"/>
              <a:t>organizacionales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0648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123C-15B2-E215-9D10-56178791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3D74-3BB0-D14C-AA60-C4947B75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P1: ¿Por </a:t>
            </a:r>
            <a:r>
              <a:rPr lang="en-GB" sz="3600" b="1" dirty="0" err="1">
                <a:latin typeface="+mn-lt"/>
              </a:rPr>
              <a:t>qué</a:t>
            </a:r>
            <a:r>
              <a:rPr lang="en-GB" sz="3600" b="1" dirty="0">
                <a:latin typeface="+mn-lt"/>
              </a:rPr>
              <a:t>, a </a:t>
            </a:r>
            <a:r>
              <a:rPr lang="en-GB" sz="3600" b="1" dirty="0" err="1">
                <a:latin typeface="+mn-lt"/>
              </a:rPr>
              <a:t>pesar</a:t>
            </a:r>
            <a:r>
              <a:rPr lang="en-GB" sz="3600" b="1" dirty="0">
                <a:latin typeface="+mn-lt"/>
              </a:rPr>
              <a:t> de </a:t>
            </a:r>
            <a:r>
              <a:rPr lang="en-GB" sz="3600" b="1" dirty="0" err="1">
                <a:latin typeface="+mn-lt"/>
              </a:rPr>
              <a:t>su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valor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teórico</a:t>
            </a:r>
            <a:r>
              <a:rPr lang="en-GB" sz="3600" b="1" dirty="0">
                <a:latin typeface="+mn-lt"/>
              </a:rPr>
              <a:t>, la </a:t>
            </a:r>
            <a:r>
              <a:rPr lang="en-GB" sz="3600" b="1" dirty="0" err="1">
                <a:latin typeface="+mn-lt"/>
              </a:rPr>
              <a:t>adopción</a:t>
            </a:r>
            <a:r>
              <a:rPr lang="en-GB" sz="3600" b="1" dirty="0">
                <a:latin typeface="+mn-lt"/>
              </a:rPr>
              <a:t> de SBOM/AIBOM </a:t>
            </a:r>
            <a:r>
              <a:rPr lang="en-GB" sz="3600" b="1" dirty="0" err="1">
                <a:latin typeface="+mn-lt"/>
              </a:rPr>
              <a:t>sigue</a:t>
            </a:r>
            <a:r>
              <a:rPr lang="en-GB" sz="3600" b="1" dirty="0">
                <a:latin typeface="+mn-lt"/>
              </a:rPr>
              <a:t> </a:t>
            </a:r>
            <a:r>
              <a:rPr lang="en-GB" sz="3600" b="1" dirty="0" err="1">
                <a:latin typeface="+mn-lt"/>
              </a:rPr>
              <a:t>siendo</a:t>
            </a:r>
            <a:r>
              <a:rPr lang="en-GB" sz="3600" b="1" dirty="0">
                <a:latin typeface="+mn-lt"/>
              </a:rPr>
              <a:t> baja en la </a:t>
            </a:r>
            <a:r>
              <a:rPr lang="en-GB" sz="3600" b="1" dirty="0" err="1">
                <a:latin typeface="+mn-lt"/>
              </a:rPr>
              <a:t>práctica</a:t>
            </a:r>
            <a:r>
              <a:rPr lang="en-GB" sz="3600" b="1" dirty="0">
                <a:latin typeface="+mn-lt"/>
              </a:rPr>
              <a:t>? 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EB439-BFA4-01EC-7A24-DD81FD03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89E91-304A-1061-ADE7-AEC09F764B5E}"/>
              </a:ext>
            </a:extLst>
          </p:cNvPr>
          <p:cNvSpPr txBox="1"/>
          <p:nvPr/>
        </p:nvSpPr>
        <p:spPr>
          <a:xfrm>
            <a:off x="1055370" y="2253804"/>
            <a:ext cx="10081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¿Es </a:t>
            </a:r>
            <a:r>
              <a:rPr lang="en-GB" sz="3200" dirty="0" err="1"/>
              <a:t>el</a:t>
            </a:r>
            <a:r>
              <a:rPr lang="en-GB" sz="3200" dirty="0"/>
              <a:t> principal </a:t>
            </a:r>
            <a:r>
              <a:rPr lang="en-GB" sz="3200" dirty="0" err="1"/>
              <a:t>problema</a:t>
            </a:r>
            <a:r>
              <a:rPr lang="en-GB" sz="3200" dirty="0"/>
              <a:t> la </a:t>
            </a:r>
            <a:r>
              <a:rPr lang="en-GB" sz="3200" dirty="0" err="1"/>
              <a:t>falta</a:t>
            </a:r>
            <a:r>
              <a:rPr lang="en-GB" sz="3200" dirty="0"/>
              <a:t> de </a:t>
            </a:r>
            <a:r>
              <a:rPr lang="en-GB" sz="3200" dirty="0" err="1"/>
              <a:t>herramientas</a:t>
            </a:r>
            <a:r>
              <a:rPr lang="en-GB" sz="3200" dirty="0"/>
              <a:t> </a:t>
            </a:r>
            <a:r>
              <a:rPr lang="en-GB" sz="3200" dirty="0" err="1"/>
              <a:t>maduras</a:t>
            </a:r>
            <a:r>
              <a:rPr lang="en-GB" sz="3200" dirty="0"/>
              <a:t> o la </a:t>
            </a:r>
            <a:r>
              <a:rPr lang="en-GB" sz="3200" dirty="0" err="1"/>
              <a:t>falta</a:t>
            </a:r>
            <a:r>
              <a:rPr lang="en-GB" sz="3200" dirty="0"/>
              <a:t> de </a:t>
            </a:r>
            <a:r>
              <a:rPr lang="en-GB" sz="3200" dirty="0" err="1"/>
              <a:t>incentivos</a:t>
            </a:r>
            <a:r>
              <a:rPr lang="en-GB" sz="3200" dirty="0"/>
              <a:t> </a:t>
            </a:r>
            <a:r>
              <a:rPr lang="en-GB" sz="3200" dirty="0" err="1"/>
              <a:t>organizacionales</a:t>
            </a:r>
            <a:r>
              <a:rPr lang="en-GB" sz="3200" dirty="0"/>
              <a:t>?</a:t>
            </a:r>
          </a:p>
          <a:p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rol</a:t>
            </a:r>
            <a:r>
              <a:rPr lang="en-GB" sz="3200" dirty="0"/>
              <a:t> </a:t>
            </a:r>
            <a:r>
              <a:rPr lang="en-GB" sz="3200" dirty="0" err="1"/>
              <a:t>juega</a:t>
            </a:r>
            <a:r>
              <a:rPr lang="en-GB" sz="3200" dirty="0"/>
              <a:t> </a:t>
            </a:r>
            <a:r>
              <a:rPr lang="en-GB" sz="3200" dirty="0" err="1"/>
              <a:t>el</a:t>
            </a:r>
            <a:r>
              <a:rPr lang="en-GB" sz="3200" dirty="0"/>
              <a:t> </a:t>
            </a:r>
            <a:r>
              <a:rPr lang="en-GB" sz="3200" dirty="0" err="1"/>
              <a:t>desconocimiento</a:t>
            </a:r>
            <a:r>
              <a:rPr lang="en-GB" sz="3200" dirty="0"/>
              <a:t> o la baja </a:t>
            </a:r>
            <a:r>
              <a:rPr lang="en-GB" sz="3200" dirty="0" err="1"/>
              <a:t>comprensión</a:t>
            </a:r>
            <a:r>
              <a:rPr lang="en-GB" sz="3200" dirty="0"/>
              <a:t> de </a:t>
            </a:r>
            <a:r>
              <a:rPr lang="en-GB" sz="3200" dirty="0" err="1"/>
              <a:t>regulaciones</a:t>
            </a:r>
            <a:r>
              <a:rPr lang="en-GB" sz="3200" dirty="0"/>
              <a:t> en </a:t>
            </a:r>
            <a:r>
              <a:rPr lang="en-GB" sz="3200" dirty="0" err="1"/>
              <a:t>esta</a:t>
            </a:r>
            <a:r>
              <a:rPr lang="en-GB" sz="3200" dirty="0"/>
              <a:t> baja </a:t>
            </a:r>
            <a:r>
              <a:rPr lang="en-GB" sz="3200" dirty="0" err="1"/>
              <a:t>adopción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9540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16AA-E7FE-FA14-D50F-4DFDB564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4BF9-FC66-B3ED-8CAB-8D220B87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P2: </a:t>
            </a:r>
            <a:r>
              <a:rPr lang="en-GB" sz="3600" dirty="0"/>
              <a:t>¿Hasta </a:t>
            </a:r>
            <a:r>
              <a:rPr lang="en-GB" sz="3600" dirty="0" err="1"/>
              <a:t>qué</a:t>
            </a:r>
            <a:r>
              <a:rPr lang="en-GB" sz="3600" dirty="0"/>
              <a:t> punto </a:t>
            </a:r>
            <a:r>
              <a:rPr lang="en-GB" sz="3600" dirty="0" err="1"/>
              <a:t>los</a:t>
            </a:r>
            <a:r>
              <a:rPr lang="en-GB" sz="3600" dirty="0"/>
              <a:t> SBOM/AIBOM </a:t>
            </a:r>
            <a:r>
              <a:rPr lang="en-GB" sz="3600" dirty="0" err="1"/>
              <a:t>realmente</a:t>
            </a:r>
            <a:r>
              <a:rPr lang="en-GB" sz="3600" dirty="0"/>
              <a:t> </a:t>
            </a:r>
            <a:r>
              <a:rPr lang="en-GB" sz="3600" dirty="0" err="1"/>
              <a:t>mejoran</a:t>
            </a:r>
            <a:r>
              <a:rPr lang="en-GB" sz="3600" dirty="0"/>
              <a:t> la </a:t>
            </a:r>
            <a:r>
              <a:rPr lang="en-GB" sz="3600" dirty="0" err="1"/>
              <a:t>seguridad</a:t>
            </a:r>
            <a:r>
              <a:rPr lang="en-GB" sz="3600" dirty="0"/>
              <a:t> de la </a:t>
            </a:r>
            <a:r>
              <a:rPr lang="en-GB" sz="3600" dirty="0" err="1"/>
              <a:t>cadena</a:t>
            </a:r>
            <a:r>
              <a:rPr lang="en-GB" sz="3600" dirty="0"/>
              <a:t> de </a:t>
            </a:r>
            <a:r>
              <a:rPr lang="en-GB" sz="3600" dirty="0" err="1"/>
              <a:t>suministro</a:t>
            </a:r>
            <a:r>
              <a:rPr lang="en-GB" sz="3600" dirty="0"/>
              <a:t>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98FD9-AB71-8513-610E-259BC20A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3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22BB-F123-4682-B25A-616456AD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575C-4EFD-6DCA-A445-6295A78F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P2: </a:t>
            </a:r>
            <a:r>
              <a:rPr lang="en-GB" sz="3600" dirty="0"/>
              <a:t>¿Hasta </a:t>
            </a:r>
            <a:r>
              <a:rPr lang="en-GB" sz="3600" dirty="0" err="1"/>
              <a:t>qué</a:t>
            </a:r>
            <a:r>
              <a:rPr lang="en-GB" sz="3600" dirty="0"/>
              <a:t> punto </a:t>
            </a:r>
            <a:r>
              <a:rPr lang="en-GB" sz="3600" dirty="0" err="1"/>
              <a:t>los</a:t>
            </a:r>
            <a:r>
              <a:rPr lang="en-GB" sz="3600" dirty="0"/>
              <a:t> SBOM/AIBOM </a:t>
            </a:r>
            <a:r>
              <a:rPr lang="en-GB" sz="3600" dirty="0" err="1"/>
              <a:t>realmente</a:t>
            </a:r>
            <a:r>
              <a:rPr lang="en-GB" sz="3600" dirty="0"/>
              <a:t> </a:t>
            </a:r>
            <a:r>
              <a:rPr lang="en-GB" sz="3600" dirty="0" err="1"/>
              <a:t>mejoran</a:t>
            </a:r>
            <a:r>
              <a:rPr lang="en-GB" sz="3600" dirty="0"/>
              <a:t> la </a:t>
            </a:r>
            <a:r>
              <a:rPr lang="en-GB" sz="3600" dirty="0" err="1"/>
              <a:t>seguridad</a:t>
            </a:r>
            <a:r>
              <a:rPr lang="en-GB" sz="3600" dirty="0"/>
              <a:t> de la </a:t>
            </a:r>
            <a:r>
              <a:rPr lang="en-GB" sz="3600" dirty="0" err="1"/>
              <a:t>cadena</a:t>
            </a:r>
            <a:r>
              <a:rPr lang="en-GB" sz="3600" dirty="0"/>
              <a:t> de </a:t>
            </a:r>
            <a:r>
              <a:rPr lang="en-GB" sz="3600" dirty="0" err="1"/>
              <a:t>suministro</a:t>
            </a:r>
            <a:r>
              <a:rPr lang="en-GB" sz="3600" dirty="0"/>
              <a:t>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B00F3-B893-BCD8-CE8C-5A5B2BD1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84D00-7CD9-AC6F-E691-25D50E4D2F65}"/>
              </a:ext>
            </a:extLst>
          </p:cNvPr>
          <p:cNvSpPr txBox="1"/>
          <p:nvPr/>
        </p:nvSpPr>
        <p:spPr>
          <a:xfrm>
            <a:off x="1055370" y="2253804"/>
            <a:ext cx="10081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 </a:t>
            </a:r>
            <a:r>
              <a:rPr lang="en-GB" sz="3200" dirty="0" err="1"/>
              <a:t>información</a:t>
            </a:r>
            <a:r>
              <a:rPr lang="en-GB" sz="3200" dirty="0"/>
              <a:t> </a:t>
            </a:r>
            <a:r>
              <a:rPr lang="en-GB" sz="3200" dirty="0" err="1"/>
              <a:t>que</a:t>
            </a:r>
            <a:r>
              <a:rPr lang="en-GB" sz="3200" dirty="0"/>
              <a:t> </a:t>
            </a:r>
            <a:r>
              <a:rPr lang="en-GB" sz="3200" dirty="0" err="1"/>
              <a:t>contienen</a:t>
            </a:r>
            <a:r>
              <a:rPr lang="en-GB" sz="3200" dirty="0"/>
              <a:t> es </a:t>
            </a:r>
            <a:r>
              <a:rPr lang="en-GB" sz="3200" dirty="0" err="1"/>
              <a:t>suficiente</a:t>
            </a:r>
            <a:r>
              <a:rPr lang="en-GB" sz="3200" dirty="0"/>
              <a:t> y </a:t>
            </a:r>
            <a:r>
              <a:rPr lang="en-GB" sz="3200" dirty="0" err="1"/>
              <a:t>confiable</a:t>
            </a:r>
            <a:r>
              <a:rPr lang="en-GB" sz="3200" dirty="0"/>
              <a:t> para </a:t>
            </a:r>
            <a:r>
              <a:rPr lang="en-GB" sz="3200" dirty="0" err="1"/>
              <a:t>tomar</a:t>
            </a:r>
            <a:r>
              <a:rPr lang="en-GB" sz="3200" dirty="0"/>
              <a:t> </a:t>
            </a:r>
            <a:r>
              <a:rPr lang="en-GB" sz="3200" dirty="0" err="1"/>
              <a:t>decisiones</a:t>
            </a:r>
            <a:r>
              <a:rPr lang="en-GB" sz="3200" dirty="0"/>
              <a:t> de </a:t>
            </a:r>
            <a:r>
              <a:rPr lang="en-GB" sz="3200" dirty="0" err="1"/>
              <a:t>seguridad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30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7905-2084-BB44-2A77-16CA1CDA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7640-22E5-F5BB-1D0B-65617AE4F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P2: </a:t>
            </a:r>
            <a:r>
              <a:rPr lang="en-GB" sz="3600" dirty="0"/>
              <a:t>¿Hasta </a:t>
            </a:r>
            <a:r>
              <a:rPr lang="en-GB" sz="3600" dirty="0" err="1"/>
              <a:t>qué</a:t>
            </a:r>
            <a:r>
              <a:rPr lang="en-GB" sz="3600" dirty="0"/>
              <a:t> punto </a:t>
            </a:r>
            <a:r>
              <a:rPr lang="en-GB" sz="3600" dirty="0" err="1"/>
              <a:t>los</a:t>
            </a:r>
            <a:r>
              <a:rPr lang="en-GB" sz="3600" dirty="0"/>
              <a:t> SBOM/AIBOM </a:t>
            </a:r>
            <a:r>
              <a:rPr lang="en-GB" sz="3600" dirty="0" err="1"/>
              <a:t>realmente</a:t>
            </a:r>
            <a:r>
              <a:rPr lang="en-GB" sz="3600" dirty="0"/>
              <a:t> </a:t>
            </a:r>
            <a:r>
              <a:rPr lang="en-GB" sz="3600" dirty="0" err="1"/>
              <a:t>mejoran</a:t>
            </a:r>
            <a:r>
              <a:rPr lang="en-GB" sz="3600" dirty="0"/>
              <a:t> la </a:t>
            </a:r>
            <a:r>
              <a:rPr lang="en-GB" sz="3600" dirty="0" err="1"/>
              <a:t>seguridad</a:t>
            </a:r>
            <a:r>
              <a:rPr lang="en-GB" sz="3600" dirty="0"/>
              <a:t> de la </a:t>
            </a:r>
            <a:r>
              <a:rPr lang="en-GB" sz="3600" dirty="0" err="1"/>
              <a:t>cadena</a:t>
            </a:r>
            <a:r>
              <a:rPr lang="en-GB" sz="3600" dirty="0"/>
              <a:t> de </a:t>
            </a:r>
            <a:r>
              <a:rPr lang="en-GB" sz="3600" dirty="0" err="1"/>
              <a:t>suministro</a:t>
            </a:r>
            <a:r>
              <a:rPr lang="en-GB" sz="3600" dirty="0"/>
              <a:t>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7471F-2AF7-6AA0-9380-85F6E863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E5AAA-E331-85A1-3AF2-BB1C1A8858FD}"/>
              </a:ext>
            </a:extLst>
          </p:cNvPr>
          <p:cNvSpPr txBox="1"/>
          <p:nvPr/>
        </p:nvSpPr>
        <p:spPr>
          <a:xfrm>
            <a:off x="1055370" y="2253804"/>
            <a:ext cx="10081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 </a:t>
            </a:r>
            <a:r>
              <a:rPr lang="en-GB" sz="3200" dirty="0" err="1"/>
              <a:t>información</a:t>
            </a:r>
            <a:r>
              <a:rPr lang="en-GB" sz="3200" dirty="0"/>
              <a:t> </a:t>
            </a:r>
            <a:r>
              <a:rPr lang="en-GB" sz="3200" dirty="0" err="1"/>
              <a:t>que</a:t>
            </a:r>
            <a:r>
              <a:rPr lang="en-GB" sz="3200" dirty="0"/>
              <a:t> </a:t>
            </a:r>
            <a:r>
              <a:rPr lang="en-GB" sz="3200" dirty="0" err="1"/>
              <a:t>contienen</a:t>
            </a:r>
            <a:r>
              <a:rPr lang="en-GB" sz="3200" dirty="0"/>
              <a:t> es </a:t>
            </a:r>
            <a:r>
              <a:rPr lang="en-GB" sz="3200" dirty="0" err="1"/>
              <a:t>suficiente</a:t>
            </a:r>
            <a:r>
              <a:rPr lang="en-GB" sz="3200" dirty="0"/>
              <a:t> y </a:t>
            </a:r>
            <a:r>
              <a:rPr lang="en-GB" sz="3200" dirty="0" err="1"/>
              <a:t>confiable</a:t>
            </a:r>
            <a:r>
              <a:rPr lang="en-GB" sz="3200" dirty="0"/>
              <a:t> para </a:t>
            </a:r>
            <a:r>
              <a:rPr lang="en-GB" sz="3200" dirty="0" err="1"/>
              <a:t>tomar</a:t>
            </a:r>
            <a:r>
              <a:rPr lang="en-GB" sz="3200" dirty="0"/>
              <a:t> </a:t>
            </a:r>
            <a:r>
              <a:rPr lang="en-GB" sz="3200" dirty="0" err="1"/>
              <a:t>decisiones</a:t>
            </a:r>
            <a:r>
              <a:rPr lang="en-GB" sz="3200" dirty="0"/>
              <a:t> de </a:t>
            </a:r>
            <a:r>
              <a:rPr lang="en-GB" sz="3200" dirty="0" err="1"/>
              <a:t>seguridad</a:t>
            </a:r>
            <a:r>
              <a:rPr lang="en-GB" sz="32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ocurre</a:t>
            </a:r>
            <a:r>
              <a:rPr lang="en-GB" sz="3200" dirty="0"/>
              <a:t> </a:t>
            </a:r>
            <a:r>
              <a:rPr lang="en-GB" sz="3200" dirty="0" err="1"/>
              <a:t>cuando</a:t>
            </a:r>
            <a:r>
              <a:rPr lang="en-GB" sz="3200" dirty="0"/>
              <a:t> </a:t>
            </a:r>
            <a:r>
              <a:rPr lang="en-GB" sz="3200" dirty="0" err="1"/>
              <a:t>los</a:t>
            </a:r>
            <a:r>
              <a:rPr lang="en-GB" sz="3200" dirty="0"/>
              <a:t> SBOM </a:t>
            </a:r>
            <a:r>
              <a:rPr lang="en-GB" sz="3200" dirty="0" err="1"/>
              <a:t>están</a:t>
            </a:r>
            <a:r>
              <a:rPr lang="en-GB" sz="3200" dirty="0"/>
              <a:t> </a:t>
            </a:r>
            <a:r>
              <a:rPr lang="en-GB" sz="3200" dirty="0" err="1"/>
              <a:t>incompletos</a:t>
            </a:r>
            <a:r>
              <a:rPr lang="en-GB" sz="3200" dirty="0"/>
              <a:t> o </a:t>
            </a:r>
            <a:r>
              <a:rPr lang="en-GB" sz="3200" dirty="0" err="1"/>
              <a:t>desactualizados</a:t>
            </a:r>
            <a:r>
              <a:rPr lang="en-GB" sz="32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27087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7A59-16F2-AF1F-82D5-7BA42FCF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576C-39AD-C52F-6F9A-EC5E9877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P3: </a:t>
            </a:r>
            <a:r>
              <a:rPr lang="en-GB" sz="3600" dirty="0"/>
              <a:t>¿Los </a:t>
            </a:r>
            <a:r>
              <a:rPr lang="en-GB" sz="3600" dirty="0" err="1"/>
              <a:t>requisitos</a:t>
            </a:r>
            <a:r>
              <a:rPr lang="en-GB" sz="3600" dirty="0"/>
              <a:t> </a:t>
            </a:r>
            <a:r>
              <a:rPr lang="en-GB" sz="3600" dirty="0" err="1"/>
              <a:t>regulatorios</a:t>
            </a:r>
            <a:r>
              <a:rPr lang="en-GB" sz="3600" dirty="0"/>
              <a:t> </a:t>
            </a:r>
            <a:r>
              <a:rPr lang="en-GB" sz="3600" dirty="0" err="1"/>
              <a:t>están</a:t>
            </a:r>
            <a:r>
              <a:rPr lang="en-GB" sz="3600" dirty="0"/>
              <a:t> </a:t>
            </a:r>
            <a:r>
              <a:rPr lang="en-GB" sz="3600" dirty="0" err="1"/>
              <a:t>impulsando</a:t>
            </a:r>
            <a:r>
              <a:rPr lang="en-GB" sz="3600" dirty="0"/>
              <a:t> </a:t>
            </a:r>
            <a:r>
              <a:rPr lang="en-GB" sz="3600" dirty="0" err="1"/>
              <a:t>una</a:t>
            </a:r>
            <a:r>
              <a:rPr lang="en-GB" sz="3600" dirty="0"/>
              <a:t> </a:t>
            </a:r>
            <a:r>
              <a:rPr lang="en-GB" sz="3600" dirty="0" err="1"/>
              <a:t>adopción</a:t>
            </a:r>
            <a:r>
              <a:rPr lang="en-GB" sz="3600" dirty="0"/>
              <a:t> real o solo </a:t>
            </a:r>
            <a:r>
              <a:rPr lang="en-GB" sz="3600" dirty="0" err="1"/>
              <a:t>cumplimiento</a:t>
            </a:r>
            <a:r>
              <a:rPr lang="en-GB" sz="3600" dirty="0"/>
              <a:t> superficial?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A52F7-F693-7A49-D4A5-587CF4A1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5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811B-A246-2988-5A99-D4949C07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CEBC-1975-9A3E-1D74-33F9195E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P3: </a:t>
            </a:r>
            <a:r>
              <a:rPr lang="en-GB" sz="3600" dirty="0"/>
              <a:t>¿Los </a:t>
            </a:r>
            <a:r>
              <a:rPr lang="en-GB" sz="3600" dirty="0" err="1"/>
              <a:t>requisitos</a:t>
            </a:r>
            <a:r>
              <a:rPr lang="en-GB" sz="3600" dirty="0"/>
              <a:t> </a:t>
            </a:r>
            <a:r>
              <a:rPr lang="en-GB" sz="3600" dirty="0" err="1"/>
              <a:t>regulatorios</a:t>
            </a:r>
            <a:r>
              <a:rPr lang="en-GB" sz="3600" dirty="0"/>
              <a:t> </a:t>
            </a:r>
            <a:r>
              <a:rPr lang="en-GB" sz="3600" dirty="0" err="1"/>
              <a:t>están</a:t>
            </a:r>
            <a:r>
              <a:rPr lang="en-GB" sz="3600" dirty="0"/>
              <a:t> </a:t>
            </a:r>
            <a:r>
              <a:rPr lang="en-GB" sz="3600" dirty="0" err="1"/>
              <a:t>impulsando</a:t>
            </a:r>
            <a:r>
              <a:rPr lang="en-GB" sz="3600" dirty="0"/>
              <a:t> </a:t>
            </a:r>
            <a:r>
              <a:rPr lang="en-GB" sz="3600" dirty="0" err="1"/>
              <a:t>una</a:t>
            </a:r>
            <a:r>
              <a:rPr lang="en-GB" sz="3600" dirty="0"/>
              <a:t> </a:t>
            </a:r>
            <a:r>
              <a:rPr lang="en-GB" sz="3600" dirty="0" err="1"/>
              <a:t>adopción</a:t>
            </a:r>
            <a:r>
              <a:rPr lang="en-GB" sz="3600" dirty="0"/>
              <a:t> real o solo </a:t>
            </a:r>
            <a:r>
              <a:rPr lang="en-GB" sz="3600" dirty="0" err="1"/>
              <a:t>cumplimiento</a:t>
            </a:r>
            <a:r>
              <a:rPr lang="en-GB" sz="3600" dirty="0"/>
              <a:t> superficial?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01D0A-0AD4-8C9A-43F0-4F3B8E59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80DAA-8CEA-2423-9086-44D397C0BFCD}"/>
              </a:ext>
            </a:extLst>
          </p:cNvPr>
          <p:cNvSpPr txBox="1"/>
          <p:nvPr/>
        </p:nvSpPr>
        <p:spPr>
          <a:xfrm>
            <a:off x="1055370" y="2253804"/>
            <a:ext cx="10081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¿Las </a:t>
            </a:r>
            <a:r>
              <a:rPr lang="en-GB" sz="3200" dirty="0" err="1"/>
              <a:t>organizaciones</a:t>
            </a:r>
            <a:r>
              <a:rPr lang="en-GB" sz="3200" dirty="0"/>
              <a:t> </a:t>
            </a:r>
            <a:r>
              <a:rPr lang="en-GB" sz="3200" dirty="0" err="1"/>
              <a:t>adoptan</a:t>
            </a:r>
            <a:r>
              <a:rPr lang="en-GB" sz="3200" dirty="0"/>
              <a:t> SBOM/AIBOM </a:t>
            </a:r>
            <a:r>
              <a:rPr lang="en-GB" sz="3200" dirty="0" err="1"/>
              <a:t>por</a:t>
            </a:r>
            <a:r>
              <a:rPr lang="en-GB" sz="3200" dirty="0"/>
              <a:t> </a:t>
            </a:r>
            <a:r>
              <a:rPr lang="en-GB" sz="3200" dirty="0" err="1"/>
              <a:t>seguridad</a:t>
            </a:r>
            <a:r>
              <a:rPr lang="en-GB" sz="3200" dirty="0"/>
              <a:t> o </a:t>
            </a:r>
            <a:r>
              <a:rPr lang="en-GB" sz="3200" dirty="0" err="1"/>
              <a:t>por</a:t>
            </a:r>
            <a:r>
              <a:rPr lang="en-GB" sz="3200" dirty="0"/>
              <a:t> </a:t>
            </a:r>
            <a:r>
              <a:rPr lang="en-GB" sz="3200" dirty="0" err="1"/>
              <a:t>presión</a:t>
            </a:r>
            <a:r>
              <a:rPr lang="en-GB" sz="3200" dirty="0"/>
              <a:t> </a:t>
            </a:r>
            <a:r>
              <a:rPr lang="en-GB" sz="3200" dirty="0" err="1"/>
              <a:t>regulatoria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433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C325-184E-6653-631B-AB795F32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90AE-AC46-9673-A819-803966833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P3: </a:t>
            </a:r>
            <a:r>
              <a:rPr lang="en-GB" sz="3600" dirty="0"/>
              <a:t>¿Los </a:t>
            </a:r>
            <a:r>
              <a:rPr lang="en-GB" sz="3600" dirty="0" err="1"/>
              <a:t>requisitos</a:t>
            </a:r>
            <a:r>
              <a:rPr lang="en-GB" sz="3600" dirty="0"/>
              <a:t> </a:t>
            </a:r>
            <a:r>
              <a:rPr lang="en-GB" sz="3600" dirty="0" err="1"/>
              <a:t>regulatorios</a:t>
            </a:r>
            <a:r>
              <a:rPr lang="en-GB" sz="3600" dirty="0"/>
              <a:t> </a:t>
            </a:r>
            <a:r>
              <a:rPr lang="en-GB" sz="3600" dirty="0" err="1"/>
              <a:t>están</a:t>
            </a:r>
            <a:r>
              <a:rPr lang="en-GB" sz="3600" dirty="0"/>
              <a:t> </a:t>
            </a:r>
            <a:r>
              <a:rPr lang="en-GB" sz="3600" dirty="0" err="1"/>
              <a:t>impulsando</a:t>
            </a:r>
            <a:r>
              <a:rPr lang="en-GB" sz="3600" dirty="0"/>
              <a:t> </a:t>
            </a:r>
            <a:r>
              <a:rPr lang="en-GB" sz="3600" dirty="0" err="1"/>
              <a:t>una</a:t>
            </a:r>
            <a:r>
              <a:rPr lang="en-GB" sz="3600" dirty="0"/>
              <a:t> </a:t>
            </a:r>
            <a:r>
              <a:rPr lang="en-GB" sz="3600" dirty="0" err="1"/>
              <a:t>adopción</a:t>
            </a:r>
            <a:r>
              <a:rPr lang="en-GB" sz="3600" dirty="0"/>
              <a:t> real o solo </a:t>
            </a:r>
            <a:r>
              <a:rPr lang="en-GB" sz="3600" dirty="0" err="1"/>
              <a:t>cumplimiento</a:t>
            </a:r>
            <a:r>
              <a:rPr lang="en-GB" sz="3600" dirty="0"/>
              <a:t> superficial?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87B5E-93BF-8189-EE31-CE585244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2D3FC-1796-378C-3B6B-E6FC01C20443}"/>
              </a:ext>
            </a:extLst>
          </p:cNvPr>
          <p:cNvSpPr txBox="1"/>
          <p:nvPr/>
        </p:nvSpPr>
        <p:spPr>
          <a:xfrm>
            <a:off x="1055370" y="2253804"/>
            <a:ext cx="10081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¿Las </a:t>
            </a:r>
            <a:r>
              <a:rPr lang="en-GB" sz="3200" dirty="0" err="1"/>
              <a:t>organizaciones</a:t>
            </a:r>
            <a:r>
              <a:rPr lang="en-GB" sz="3200" dirty="0"/>
              <a:t> </a:t>
            </a:r>
            <a:r>
              <a:rPr lang="en-GB" sz="3200" dirty="0" err="1"/>
              <a:t>adoptan</a:t>
            </a:r>
            <a:r>
              <a:rPr lang="en-GB" sz="3200" dirty="0"/>
              <a:t> SBOM/AIBOM </a:t>
            </a:r>
            <a:r>
              <a:rPr lang="en-GB" sz="3200" dirty="0" err="1"/>
              <a:t>por</a:t>
            </a:r>
            <a:r>
              <a:rPr lang="en-GB" sz="3200" dirty="0"/>
              <a:t> </a:t>
            </a:r>
            <a:r>
              <a:rPr lang="en-GB" sz="3200" dirty="0" err="1"/>
              <a:t>seguridad</a:t>
            </a:r>
            <a:r>
              <a:rPr lang="en-GB" sz="3200" dirty="0"/>
              <a:t> o </a:t>
            </a:r>
            <a:r>
              <a:rPr lang="en-GB" sz="3200" dirty="0" err="1"/>
              <a:t>por</a:t>
            </a:r>
            <a:r>
              <a:rPr lang="en-GB" sz="3200" dirty="0"/>
              <a:t> </a:t>
            </a:r>
            <a:r>
              <a:rPr lang="en-GB" sz="3200" dirty="0" err="1"/>
              <a:t>presión</a:t>
            </a:r>
            <a:r>
              <a:rPr lang="en-GB" sz="3200" dirty="0"/>
              <a:t> </a:t>
            </a:r>
            <a:r>
              <a:rPr lang="en-GB" sz="3200" dirty="0" err="1"/>
              <a:t>regulatoria</a:t>
            </a:r>
            <a:r>
              <a:rPr lang="en-GB" sz="32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</a:t>
            </a:r>
            <a:r>
              <a:rPr lang="en-GB" sz="3200" dirty="0" err="1"/>
              <a:t>Existe</a:t>
            </a:r>
            <a:r>
              <a:rPr lang="en-GB" sz="3200" dirty="0"/>
              <a:t> </a:t>
            </a:r>
            <a:r>
              <a:rPr lang="en-GB" sz="3200" dirty="0" err="1"/>
              <a:t>evidencia</a:t>
            </a:r>
            <a:r>
              <a:rPr lang="en-GB" sz="3200" dirty="0"/>
              <a:t> de </a:t>
            </a:r>
            <a:r>
              <a:rPr lang="en-GB" sz="3200" dirty="0" err="1"/>
              <a:t>cambios</a:t>
            </a:r>
            <a:r>
              <a:rPr lang="en-GB" sz="3200" dirty="0"/>
              <a:t> reales en </a:t>
            </a:r>
            <a:r>
              <a:rPr lang="en-GB" sz="3200" dirty="0" err="1"/>
              <a:t>prácticas</a:t>
            </a:r>
            <a:r>
              <a:rPr lang="en-GB" sz="3200" dirty="0"/>
              <a:t> de </a:t>
            </a:r>
            <a:r>
              <a:rPr lang="en-GB" sz="3200" dirty="0" err="1"/>
              <a:t>desarrollo</a:t>
            </a:r>
            <a:r>
              <a:rPr lang="en-GB" sz="3200" dirty="0"/>
              <a:t> o solo </a:t>
            </a:r>
            <a:r>
              <a:rPr lang="en-GB" sz="3200" dirty="0" err="1"/>
              <a:t>generación</a:t>
            </a:r>
            <a:r>
              <a:rPr lang="en-GB" sz="3200" dirty="0"/>
              <a:t> de </a:t>
            </a:r>
            <a:r>
              <a:rPr lang="en-GB" sz="3200" dirty="0" err="1"/>
              <a:t>artefactos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957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C8B0-FCDD-8832-A438-D619B21F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9180-B8D6-A1F2-F0D3-F9C4A2F9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P4: </a:t>
            </a:r>
            <a:r>
              <a:rPr lang="en-GB" sz="3600" dirty="0"/>
              <a:t>¿</a:t>
            </a:r>
            <a:r>
              <a:rPr lang="en-GB" sz="3600" dirty="0" err="1"/>
              <a:t>Qué</a:t>
            </a:r>
            <a:r>
              <a:rPr lang="en-GB" sz="3600" dirty="0"/>
              <a:t> tan viable es extender SBOM </a:t>
            </a:r>
            <a:r>
              <a:rPr lang="en-GB" sz="3600" dirty="0" err="1"/>
              <a:t>hacia</a:t>
            </a:r>
            <a:r>
              <a:rPr lang="en-GB" sz="3600" dirty="0"/>
              <a:t> AIBOM en </a:t>
            </a:r>
            <a:r>
              <a:rPr lang="en-GB" sz="3600" dirty="0" err="1"/>
              <a:t>sistemas</a:t>
            </a:r>
            <a:r>
              <a:rPr lang="en-GB" sz="3600" dirty="0"/>
              <a:t> </a:t>
            </a:r>
            <a:r>
              <a:rPr lang="en-GB" sz="3600" dirty="0" err="1"/>
              <a:t>basados</a:t>
            </a:r>
            <a:r>
              <a:rPr lang="en-GB" sz="3600" dirty="0"/>
              <a:t> en IA?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7D16-B2C8-E115-8E17-63BB4267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16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9AC4-DC81-EF79-DE07-C285D898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F4F2-AD4A-AA49-72A5-A9D1B20D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P4: </a:t>
            </a:r>
            <a:r>
              <a:rPr lang="en-GB" sz="3600" dirty="0"/>
              <a:t>¿</a:t>
            </a:r>
            <a:r>
              <a:rPr lang="en-GB" sz="3600" dirty="0" err="1"/>
              <a:t>Qué</a:t>
            </a:r>
            <a:r>
              <a:rPr lang="en-GB" sz="3600" dirty="0"/>
              <a:t> tan viable es extender SBOM </a:t>
            </a:r>
            <a:r>
              <a:rPr lang="en-GB" sz="3600" dirty="0" err="1"/>
              <a:t>hacia</a:t>
            </a:r>
            <a:r>
              <a:rPr lang="en-GB" sz="3600" dirty="0"/>
              <a:t> AIBOM en </a:t>
            </a:r>
            <a:r>
              <a:rPr lang="en-GB" sz="3600" dirty="0" err="1"/>
              <a:t>sistemas</a:t>
            </a:r>
            <a:r>
              <a:rPr lang="en-GB" sz="3600" dirty="0"/>
              <a:t> </a:t>
            </a:r>
            <a:r>
              <a:rPr lang="en-GB" sz="3600" dirty="0" err="1"/>
              <a:t>basados</a:t>
            </a:r>
            <a:r>
              <a:rPr lang="en-GB" sz="3600" dirty="0"/>
              <a:t> en IA?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2F20E-49CA-77E8-7A76-2C302EC2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BF40-636E-F5F5-7A63-09DF6954B23D}"/>
              </a:ext>
            </a:extLst>
          </p:cNvPr>
          <p:cNvSpPr txBox="1"/>
          <p:nvPr/>
        </p:nvSpPr>
        <p:spPr>
          <a:xfrm>
            <a:off x="1055370" y="2253804"/>
            <a:ext cx="100812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¿Las </a:t>
            </a:r>
            <a:r>
              <a:rPr lang="en-GB" sz="3200" dirty="0" err="1"/>
              <a:t>estructuras</a:t>
            </a:r>
            <a:r>
              <a:rPr lang="en-GB" sz="3200" dirty="0"/>
              <a:t> </a:t>
            </a:r>
            <a:r>
              <a:rPr lang="en-GB" sz="3200" dirty="0" err="1"/>
              <a:t>actuales</a:t>
            </a:r>
            <a:r>
              <a:rPr lang="en-GB" sz="3200" dirty="0"/>
              <a:t> (SPDX, </a:t>
            </a:r>
            <a:r>
              <a:rPr lang="en-GB" sz="3200" dirty="0" err="1"/>
              <a:t>CycloneDX</a:t>
            </a:r>
            <a:r>
              <a:rPr lang="en-GB" sz="3200" dirty="0"/>
              <a:t>) son </a:t>
            </a:r>
            <a:r>
              <a:rPr lang="en-GB" sz="3200" dirty="0" err="1"/>
              <a:t>suficientes</a:t>
            </a:r>
            <a:r>
              <a:rPr lang="en-GB" sz="3200" dirty="0"/>
              <a:t> para </a:t>
            </a:r>
            <a:r>
              <a:rPr lang="en-GB" sz="3200" dirty="0" err="1"/>
              <a:t>capturar</a:t>
            </a:r>
            <a:r>
              <a:rPr lang="en-GB" sz="3200" dirty="0"/>
              <a:t> </a:t>
            </a:r>
            <a:r>
              <a:rPr lang="en-GB" sz="3200" dirty="0" err="1"/>
              <a:t>modelos</a:t>
            </a:r>
            <a:r>
              <a:rPr lang="en-GB" sz="3200" dirty="0"/>
              <a:t>, </a:t>
            </a:r>
            <a:r>
              <a:rPr lang="en-GB" sz="3200" dirty="0" err="1"/>
              <a:t>datos</a:t>
            </a:r>
            <a:r>
              <a:rPr lang="en-GB" sz="3200" dirty="0"/>
              <a:t> y </a:t>
            </a:r>
            <a:r>
              <a:rPr lang="en-GB" sz="3200" dirty="0" err="1"/>
              <a:t>entrenamiento</a:t>
            </a:r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7810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7587-1918-5127-F6ED-8A0AEF03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71CB-5743-46B0-C8FE-1FA60AC4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P4: </a:t>
            </a:r>
            <a:r>
              <a:rPr lang="en-GB" sz="3600" dirty="0"/>
              <a:t>¿</a:t>
            </a:r>
            <a:r>
              <a:rPr lang="en-GB" sz="3600" dirty="0" err="1"/>
              <a:t>Qué</a:t>
            </a:r>
            <a:r>
              <a:rPr lang="en-GB" sz="3600" dirty="0"/>
              <a:t> tan viable es extender SBOM </a:t>
            </a:r>
            <a:r>
              <a:rPr lang="en-GB" sz="3600" dirty="0" err="1"/>
              <a:t>hacia</a:t>
            </a:r>
            <a:r>
              <a:rPr lang="en-GB" sz="3600" dirty="0"/>
              <a:t> AIBOM en </a:t>
            </a:r>
            <a:r>
              <a:rPr lang="en-GB" sz="3600" dirty="0" err="1"/>
              <a:t>sistemas</a:t>
            </a:r>
            <a:r>
              <a:rPr lang="en-GB" sz="3600" dirty="0"/>
              <a:t> </a:t>
            </a:r>
            <a:r>
              <a:rPr lang="en-GB" sz="3600" dirty="0" err="1"/>
              <a:t>basados</a:t>
            </a:r>
            <a:r>
              <a:rPr lang="en-GB" sz="3600" dirty="0"/>
              <a:t> en IA?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156E5-C15D-4B23-CFC6-CD99422E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F7252-4056-4742-E6DD-DCF01AF69320}"/>
              </a:ext>
            </a:extLst>
          </p:cNvPr>
          <p:cNvSpPr txBox="1"/>
          <p:nvPr/>
        </p:nvSpPr>
        <p:spPr>
          <a:xfrm>
            <a:off x="1055370" y="2253804"/>
            <a:ext cx="100812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¿Las </a:t>
            </a:r>
            <a:r>
              <a:rPr lang="en-GB" sz="3200" dirty="0" err="1"/>
              <a:t>estructuras</a:t>
            </a:r>
            <a:r>
              <a:rPr lang="en-GB" sz="3200" dirty="0"/>
              <a:t> </a:t>
            </a:r>
            <a:r>
              <a:rPr lang="en-GB" sz="3200" dirty="0" err="1"/>
              <a:t>actuales</a:t>
            </a:r>
            <a:r>
              <a:rPr lang="en-GB" sz="3200" dirty="0"/>
              <a:t> (SPDX, </a:t>
            </a:r>
            <a:r>
              <a:rPr lang="en-GB" sz="3200" dirty="0" err="1"/>
              <a:t>CycloneDX</a:t>
            </a:r>
            <a:r>
              <a:rPr lang="en-GB" sz="3200" dirty="0"/>
              <a:t>) son </a:t>
            </a:r>
            <a:r>
              <a:rPr lang="en-GB" sz="3200" dirty="0" err="1"/>
              <a:t>suficientes</a:t>
            </a:r>
            <a:r>
              <a:rPr lang="en-GB" sz="3200" dirty="0"/>
              <a:t> para </a:t>
            </a:r>
            <a:r>
              <a:rPr lang="en-GB" sz="3200" dirty="0" err="1"/>
              <a:t>capturar</a:t>
            </a:r>
            <a:r>
              <a:rPr lang="en-GB" sz="3200" dirty="0"/>
              <a:t> </a:t>
            </a:r>
            <a:r>
              <a:rPr lang="en-GB" sz="3200" dirty="0" err="1"/>
              <a:t>modelos</a:t>
            </a:r>
            <a:r>
              <a:rPr lang="en-GB" sz="3200" dirty="0"/>
              <a:t>, </a:t>
            </a:r>
            <a:r>
              <a:rPr lang="en-GB" sz="3200" dirty="0" err="1"/>
              <a:t>datos</a:t>
            </a:r>
            <a:r>
              <a:rPr lang="en-GB" sz="3200" dirty="0"/>
              <a:t> y </a:t>
            </a:r>
            <a:r>
              <a:rPr lang="en-GB" sz="3200" dirty="0" err="1"/>
              <a:t>entrenamiento</a:t>
            </a:r>
            <a:r>
              <a:rPr lang="en-GB" sz="32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¿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nuevos</a:t>
            </a:r>
            <a:r>
              <a:rPr lang="en-GB" sz="3200" dirty="0"/>
              <a:t> </a:t>
            </a:r>
            <a:r>
              <a:rPr lang="en-GB" sz="3200" dirty="0" err="1"/>
              <a:t>riesgos</a:t>
            </a:r>
            <a:r>
              <a:rPr lang="en-GB" sz="3200" dirty="0"/>
              <a:t> </a:t>
            </a:r>
            <a:r>
              <a:rPr lang="en-GB" sz="3200" dirty="0" err="1"/>
              <a:t>aparecen</a:t>
            </a:r>
            <a:r>
              <a:rPr lang="en-GB" sz="3200" dirty="0"/>
              <a:t> al </a:t>
            </a:r>
            <a:r>
              <a:rPr lang="en-GB" sz="3200" dirty="0" err="1"/>
              <a:t>intentar</a:t>
            </a:r>
            <a:r>
              <a:rPr lang="en-GB" sz="3200" dirty="0"/>
              <a:t> </a:t>
            </a:r>
            <a:r>
              <a:rPr lang="en-GB" sz="3200" dirty="0" err="1"/>
              <a:t>documentar</a:t>
            </a:r>
            <a:r>
              <a:rPr lang="en-GB" sz="3200" dirty="0"/>
              <a:t> datasets y </a:t>
            </a:r>
            <a:r>
              <a:rPr lang="en-GB" sz="3200" dirty="0" err="1"/>
              <a:t>modelos</a:t>
            </a:r>
            <a:r>
              <a:rPr lang="en-GB" sz="3200" dirty="0"/>
              <a:t> (</a:t>
            </a:r>
            <a:r>
              <a:rPr lang="en-GB" sz="3200" dirty="0" err="1"/>
              <a:t>ej</a:t>
            </a:r>
            <a:r>
              <a:rPr lang="en-GB" sz="3200" dirty="0"/>
              <a:t>. </a:t>
            </a:r>
            <a:r>
              <a:rPr lang="en-GB" sz="3200" dirty="0" err="1"/>
              <a:t>privacidad</a:t>
            </a:r>
            <a:r>
              <a:rPr lang="en-GB" sz="3200" dirty="0"/>
              <a:t>, </a:t>
            </a:r>
            <a:r>
              <a:rPr lang="en-GB" sz="3200" dirty="0" err="1"/>
              <a:t>sesgos</a:t>
            </a:r>
            <a:r>
              <a:rPr lang="en-GB" sz="3200" dirty="0"/>
              <a:t>, </a:t>
            </a:r>
            <a:r>
              <a:rPr lang="en-GB" sz="3200" dirty="0" err="1"/>
              <a:t>trazabilidad</a:t>
            </a:r>
            <a:r>
              <a:rPr lang="en-GB" sz="3200" dirty="0"/>
              <a:t>)? </a:t>
            </a:r>
          </a:p>
        </p:txBody>
      </p:sp>
    </p:spTree>
    <p:extLst>
      <p:ext uri="{BB962C8B-B14F-4D97-AF65-F5344CB8AC3E}">
        <p14:creationId xmlns:p14="http://schemas.microsoft.com/office/powerpoint/2010/main" val="393964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8720-1A67-70AD-9047-3EAB8952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ED85-7562-7784-0C0B-6F5AE2CD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3695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+mn-lt"/>
              </a:rPr>
              <a:t>Tarea 2 (11 de Mayo)</a:t>
            </a:r>
            <a:endParaRPr lang="en-US" sz="3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B33F0-B6FD-282E-7842-91BDD933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F3D83-948C-4078-AEF6-7E4945404A24}"/>
              </a:ext>
            </a:extLst>
          </p:cNvPr>
          <p:cNvSpPr txBox="1"/>
          <p:nvPr/>
        </p:nvSpPr>
        <p:spPr>
          <a:xfrm>
            <a:off x="1055370" y="2253804"/>
            <a:ext cx="100812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Lectura papers 4, 5 y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err="1"/>
              <a:t>Extraer</a:t>
            </a:r>
            <a:r>
              <a:rPr lang="en-GB" sz="3200" dirty="0"/>
              <a:t> </a:t>
            </a:r>
            <a:r>
              <a:rPr lang="en-GB" sz="3200" dirty="0" err="1"/>
              <a:t>vulenrabilidades</a:t>
            </a:r>
            <a:r>
              <a:rPr lang="en-GB" sz="3200" dirty="0"/>
              <a:t> de </a:t>
            </a:r>
            <a:r>
              <a:rPr lang="en-GB" sz="3200" dirty="0" err="1"/>
              <a:t>los</a:t>
            </a:r>
            <a:r>
              <a:rPr lang="en-GB" sz="3200" dirty="0"/>
              <a:t> </a:t>
            </a:r>
            <a:r>
              <a:rPr lang="en-GB" sz="3200" dirty="0" err="1"/>
              <a:t>repositorios</a:t>
            </a:r>
            <a:r>
              <a:rPr lang="en-GB" sz="3200" dirty="0"/>
              <a:t> </a:t>
            </a:r>
            <a:r>
              <a:rPr lang="en-GB" sz="3200" dirty="0" err="1"/>
              <a:t>seleccionados</a:t>
            </a:r>
            <a:r>
              <a:rPr lang="en-GB" sz="32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A </a:t>
            </a:r>
            <a:r>
              <a:rPr lang="en-GB" sz="3200" dirty="0" err="1"/>
              <a:t>partir</a:t>
            </a:r>
            <a:r>
              <a:rPr lang="en-GB" sz="3200" dirty="0"/>
              <a:t> de </a:t>
            </a:r>
            <a:r>
              <a:rPr lang="en-GB" sz="3200" dirty="0" err="1"/>
              <a:t>los</a:t>
            </a:r>
            <a:r>
              <a:rPr lang="en-GB" sz="3200" dirty="0"/>
              <a:t> </a:t>
            </a:r>
            <a:r>
              <a:rPr lang="en-GB" sz="3200" dirty="0" err="1"/>
              <a:t>componentes</a:t>
            </a:r>
            <a:r>
              <a:rPr lang="en-GB" sz="3200" dirty="0"/>
              <a:t> (SBOMs)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Código Fuente</a:t>
            </a:r>
          </a:p>
        </p:txBody>
      </p:sp>
    </p:spTree>
    <p:extLst>
      <p:ext uri="{BB962C8B-B14F-4D97-AF65-F5344CB8AC3E}">
        <p14:creationId xmlns:p14="http://schemas.microsoft.com/office/powerpoint/2010/main" val="196260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550</Words>
  <Application>Microsoft Macintosh PowerPoint</Application>
  <PresentationFormat>Widescreen</PresentationFormat>
  <Paragraphs>70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Producción de Software</vt:lpstr>
      <vt:lpstr>Discusión lecturas</vt:lpstr>
      <vt:lpstr>P1: ¿Por qué, a pesar de su valor teórico, la adopción de SBOM/AIBOM sigue siendo baja en la práctica? </vt:lpstr>
      <vt:lpstr>P1: ¿Por qué, a pesar de su valor teórico, la adopción de SBOM/AIBOM sigue siendo baja en la práctica? </vt:lpstr>
      <vt:lpstr>P1: ¿Por qué, a pesar de su valor teórico, la adopción de SBOM/AIBOM sigue siendo baja en la práctica? </vt:lpstr>
      <vt:lpstr>P2: ¿Hasta qué punto los SBOM/AIBOM realmente mejoran la seguridad de la cadena de suministro?</vt:lpstr>
      <vt:lpstr>P2: ¿Hasta qué punto los SBOM/AIBOM realmente mejoran la seguridad de la cadena de suministro?</vt:lpstr>
      <vt:lpstr>P2: ¿Hasta qué punto los SBOM/AIBOM realmente mejoran la seguridad de la cadena de suministro?</vt:lpstr>
      <vt:lpstr>P3: ¿Los requisitos regulatorios están impulsando una adopción real o solo cumplimiento superficial?</vt:lpstr>
      <vt:lpstr>P3: ¿Los requisitos regulatorios están impulsando una adopción real o solo cumplimiento superficial?</vt:lpstr>
      <vt:lpstr>P3: ¿Los requisitos regulatorios están impulsando una adopción real o solo cumplimiento superficial?</vt:lpstr>
      <vt:lpstr>P4: ¿Qué tan viable es extender SBOM hacia AIBOM en sistemas basados en IA?</vt:lpstr>
      <vt:lpstr>P4: ¿Qué tan viable es extender SBOM hacia AIBOM en sistemas basados en IA?</vt:lpstr>
      <vt:lpstr>P4: ¿Qué tan viable es extender SBOM hacia AIBOM en sistemas basados en IA?</vt:lpstr>
      <vt:lpstr>Tarea 2 (11 de Mayo)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14</cp:revision>
  <dcterms:created xsi:type="dcterms:W3CDTF">2026-04-27T15:47:00Z</dcterms:created>
  <dcterms:modified xsi:type="dcterms:W3CDTF">2026-05-04T20:29:01Z</dcterms:modified>
</cp:coreProperties>
</file>