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60" r:id="rId4"/>
    <p:sldId id="258" r:id="rId5"/>
    <p:sldId id="259" r:id="rId6"/>
    <p:sldId id="261" r:id="rId7"/>
    <p:sldId id="263" r:id="rId8"/>
    <p:sldId id="270" r:id="rId9"/>
    <p:sldId id="271" r:id="rId10"/>
    <p:sldId id="262" r:id="rId11"/>
    <p:sldId id="265" r:id="rId12"/>
    <p:sldId id="266" r:id="rId13"/>
    <p:sldId id="273" r:id="rId14"/>
    <p:sldId id="274" r:id="rId15"/>
    <p:sldId id="264" r:id="rId16"/>
    <p:sldId id="267" r:id="rId17"/>
    <p:sldId id="268" r:id="rId18"/>
    <p:sldId id="269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11"/>
    <p:restoredTop sz="94668"/>
  </p:normalViewPr>
  <p:slideViewPr>
    <p:cSldViewPr>
      <p:cViewPr varScale="1">
        <p:scale>
          <a:sx n="118" d="100"/>
          <a:sy n="118" d="100"/>
        </p:scale>
        <p:origin x="208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1440180" cy="144018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BD8CB8-51A0-1D49-8FDA-A8DBBAFB532D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20007B-74B6-7545-B924-98D6D24D2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80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703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BB4F5-65DB-194E-5F80-238061D10B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52E2C1-2BAA-D361-0B0D-8CF92E2587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24E62E-1D84-7C37-DCA5-027443574F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A67D4-EB57-305A-3F20-B729EDF720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17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663FA-4B3C-7E68-B847-0A1EDEBC9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F4D8FE-E346-27C4-53E4-3E8930C06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1C0CD5-302C-7AD4-7D68-DD9AF15A9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A88DDB-D97F-71BA-3A7D-01DBDE3F5E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3630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6E543-96B1-D4B3-E4DB-885DDEC639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C48DD7-62D0-7471-2E58-5F301DF5DE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92780-0C28-1008-AD38-CE9D825FB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F0A66-B975-7049-ACD1-7940555CB459}" type="datetime1">
              <a:rPr lang="de-CH" smtClean="0"/>
              <a:t>27.04.26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D1AE3-E729-C4E3-CF9C-C4CC9314E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83B70-1E59-6A4A-B209-99EE710A9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241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62756-B2D7-05EB-A56E-B7C755923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F0AB6-948B-4051-4B44-E8AB291CB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900B1-B869-F7CC-7F85-808FA4A3E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A4375-7BF5-A44C-974D-8B589BCF9DB6}" type="datetime1">
              <a:rPr lang="de-CH" smtClean="0"/>
              <a:t>27.04.26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E82226-0895-45B7-75F5-0E9B26491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E59E0-0E33-164F-8A36-36E2F5470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145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C109D-150F-E5B4-52BB-6D4F9574F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47A666-0167-54A5-FB82-6C500700B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52B2D-5A6C-D64B-1F4F-BFC144488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FDE0D-CED3-3F4D-9954-5F5435DC157F}" type="datetime1">
              <a:rPr lang="de-CH" smtClean="0"/>
              <a:t>27.04.26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35C6C-3E48-093C-4F6C-25A4B71AB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84CC1-4721-F74A-8B32-84087E087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520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2A5E3-2CDD-175D-7E0A-C86FF2D75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04024-45FA-11F5-D4A3-83499B7203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63FDB4-523C-DD22-B261-B7C7DE3478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DFD904-3966-1353-6A3A-E31A055B1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4C842-9741-A148-B8F4-FDD5A76AF874}" type="datetime1">
              <a:rPr lang="de-CH" smtClean="0"/>
              <a:t>27.04.26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A11BD8-17F5-C923-82CF-2FE57279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C67ED6-3305-6D48-8F59-0CF2467A6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162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65211-A8FA-3636-3AC9-8D16F6606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E3E5B3-B44C-2ACA-5161-C6C1BC70F5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BA2802-FC2B-CBCE-144F-71AE01D48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22FDE3-9BAE-8599-364E-D425A40ECD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193ABC-23FD-5B76-F7E9-9B8E4766F3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36AA57-8B5F-E347-061B-CB37C9E34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9C0BC-53B6-DE40-A7FD-9252039E0E16}" type="datetime1">
              <a:rPr lang="de-CH" smtClean="0"/>
              <a:t>27.04.26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CA6418-F392-A7F7-080A-A49ACAEBF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6E6286-0E1A-F3C4-4F12-014758609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018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A64E7-1956-F5B2-9BDE-659186A4A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C3DF30-1355-D62B-C031-B510B82EC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4842F-B2A2-2A45-8E45-68D4C71C989C}" type="datetime1">
              <a:rPr lang="de-CH" smtClean="0"/>
              <a:t>27.04.26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7750E8-3E7C-4459-2D8D-76DE0E9A2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998C38-3A7E-7EA4-649B-2F8B4D714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231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42184E-B896-C832-5DE8-E2765AB4F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D6AD2-5AAB-B24C-A2FA-09DF5A91DEBC}" type="datetime1">
              <a:rPr lang="de-CH" smtClean="0"/>
              <a:t>27.04.26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5EA6E8-3EBF-6DC0-6924-66B296CF4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6DBDE8-E773-BE2D-A312-635996340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204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21EFD-AF17-7431-FF92-6A4EBC1F6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BEEFB-0C20-4928-A274-B492E1D18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8BBF22-5286-E95A-AA89-FD75F8A71F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45430D-F25F-F840-0F01-76DFD8CAC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E1904-7D9E-9542-9EDA-D99FD446851A}" type="datetime1">
              <a:rPr lang="de-CH" smtClean="0"/>
              <a:t>27.04.26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71F496-4086-BAEE-036E-EC1A16ECF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BBBD4D-AC77-A2F9-968B-9C71539D0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821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1D656-2AC3-9423-6351-21F4B15DB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7413E0-35DC-327A-0E36-BD8753EF33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C93139-B52D-FADD-61E1-5D83A6ED68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72D68-839C-6D91-8DAB-586BC5378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40CBA-00C3-454A-9E3C-0BF75F4A52E7}" type="datetime1">
              <a:rPr lang="de-CH" smtClean="0"/>
              <a:t>27.04.26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8D9704-E98E-8E5A-007B-7E479E75E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7E358-178D-67B8-980B-D0D2E9669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45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7F7A0-032A-7A77-E1FC-82FEBD71A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C79680-88D0-C41F-BEF7-10CECED394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5B369-0265-DE20-823D-BCE1BCAFF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2EDE5-8D27-9E4E-80C3-5B9C418987DC}" type="datetime1">
              <a:rPr lang="de-CH" smtClean="0"/>
              <a:t>27.04.26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6FBC7-DBB4-0637-3D7E-E9866A55A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3D2D4-B8FD-2522-201E-DEABD6FF0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773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83F2BB-9B80-CCA0-8DC7-0318BE665A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5653B9-DF95-9646-47F5-A7FB13A13E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316C3-1247-CA60-2B53-8E3589392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95308-1835-9B4D-B335-3C427449A7BD}" type="datetime1">
              <a:rPr lang="de-CH" smtClean="0"/>
              <a:t>27.04.26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E9FCF-4B09-D1F8-1E2A-3E1458280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B07E6-CBA4-9C2A-3B56-8E0A1124E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927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DB2A47-1032-B976-7ACD-5F8FD079B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E3C394-B033-B704-B1ED-ECA032BEC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C96A5-9E61-F999-25FF-394583D014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D5C4B0-6281-4242-BB76-58DF8477EB26}" type="datetime1">
              <a:rPr lang="de-CH" smtClean="0"/>
              <a:t>27.04.26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FEC72-7879-4A00-B34C-38E3D6E4D0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29A7E-DC66-031E-0DDA-7A58416A3A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24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cn.cl/leychile/navegar?idNorma=1209272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nist.gov/itl/executive-order-14028-improving-nations-cybersecurity/software-security-supply-chains-software-1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secondfront.com/resources/blog/what-is-an-sbom-and-why-does-it-matter-for-government-contracts/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forcementtracker.com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advisories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runsafesecurity.com/blog/sbom-requirements-global-guide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owasp.org/www-project-software-component-verification-standard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ql.github.com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anchore/grype" TargetMode="External"/><Relationship Id="rId4" Type="http://schemas.openxmlformats.org/officeDocument/2006/relationships/hyperlink" Target="https://github.com/anchore/syft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spdx.dev/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yclonedx.org/" TargetMode="Externa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ci-courses/produccion_software_emi305" TargetMode="External"/><Relationship Id="rId2" Type="http://schemas.openxmlformats.org/officeDocument/2006/relationships/hyperlink" Target="https://github.com/trending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05997-A283-B1A5-CA3C-FA789F4A77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Producción</a:t>
            </a:r>
            <a:r>
              <a:rPr lang="en-US" dirty="0"/>
              <a:t> de Software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061AC4-3B0E-0B00-B477-952C5CF3E7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Pablo Valenzuela</a:t>
            </a:r>
          </a:p>
          <a:p>
            <a:r>
              <a:rPr lang="en-US" dirty="0"/>
              <a:t>27 Abril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A295B-25A6-0FA2-CA73-D314CAFCA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678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6C4B8-3DC9-0278-8D2F-6E7A1274F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Programa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1A6CB-BD5A-3326-8F74-2EDFF901DD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SBOM y </a:t>
            </a:r>
            <a:r>
              <a:rPr lang="en-US" dirty="0" err="1"/>
              <a:t>cadena</a:t>
            </a:r>
            <a:r>
              <a:rPr lang="en-US" dirty="0"/>
              <a:t> de </a:t>
            </a:r>
            <a:r>
              <a:rPr lang="en-US" dirty="0" err="1"/>
              <a:t>suministro</a:t>
            </a:r>
            <a:r>
              <a:rPr lang="en-US" dirty="0"/>
              <a:t> (27 Abril)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Generación y </a:t>
            </a:r>
            <a:r>
              <a:rPr lang="en-US" dirty="0" err="1"/>
              <a:t>análisis</a:t>
            </a:r>
            <a:r>
              <a:rPr lang="en-US" dirty="0"/>
              <a:t> de SBOMs (4 de Mayo)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 err="1"/>
              <a:t>Vulnerabilidades</a:t>
            </a:r>
            <a:r>
              <a:rPr lang="en-US" dirty="0"/>
              <a:t> de Software (18 de Mayo)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 err="1"/>
              <a:t>Extracción</a:t>
            </a:r>
            <a:r>
              <a:rPr lang="en-US" dirty="0"/>
              <a:t> y </a:t>
            </a:r>
            <a:r>
              <a:rPr lang="en-US" dirty="0" err="1"/>
              <a:t>análisis</a:t>
            </a:r>
            <a:r>
              <a:rPr lang="en-US" dirty="0"/>
              <a:t> de </a:t>
            </a:r>
            <a:r>
              <a:rPr lang="en-US" dirty="0" err="1"/>
              <a:t>vulnerabilidades</a:t>
            </a:r>
            <a:r>
              <a:rPr lang="en-US" dirty="0"/>
              <a:t> (25 de Mayo)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7D1D78-58CC-3EF4-A7FF-4E07E6555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366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17933-4A48-025B-FEDF-A3C2E1DE3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Seleccione un </a:t>
            </a:r>
            <a:r>
              <a:rPr lang="en-US" dirty="0" err="1"/>
              <a:t>repositorio</a:t>
            </a:r>
            <a:r>
              <a:rPr lang="en-US" dirty="0"/>
              <a:t> </a:t>
            </a:r>
            <a:r>
              <a:rPr lang="en-US" dirty="0" err="1"/>
              <a:t>desde</a:t>
            </a:r>
            <a:r>
              <a:rPr lang="en-US" dirty="0"/>
              <a:t> </a:t>
            </a:r>
            <a:r>
              <a:rPr lang="en-US" dirty="0" err="1"/>
              <a:t>Github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8182A-CAFD-B18D-11AA-52C4CDE77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8820"/>
            <a:ext cx="10515600" cy="3043555"/>
          </a:xfrm>
        </p:spPr>
        <p:txBody>
          <a:bodyPr anchor="ctr"/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 err="1"/>
              <a:t>Caracterize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repositorio</a:t>
            </a:r>
            <a:r>
              <a:rPr lang="en-US" dirty="0"/>
              <a:t> en forma breve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¿</a:t>
            </a: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decir</a:t>
            </a:r>
            <a:r>
              <a:rPr lang="en-US" dirty="0"/>
              <a:t> de sus </a:t>
            </a:r>
            <a:r>
              <a:rPr lang="en-US" dirty="0" err="1"/>
              <a:t>dependencias</a:t>
            </a:r>
            <a:r>
              <a:rPr lang="en-US" dirty="0"/>
              <a:t>?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¿</a:t>
            </a:r>
            <a:r>
              <a:rPr lang="en-US" dirty="0" err="1"/>
              <a:t>Podría</a:t>
            </a:r>
            <a:r>
              <a:rPr lang="en-US" dirty="0"/>
              <a:t> </a:t>
            </a:r>
            <a:r>
              <a:rPr lang="en-US" dirty="0" err="1"/>
              <a:t>referirse</a:t>
            </a:r>
            <a:r>
              <a:rPr lang="en-US" dirty="0"/>
              <a:t> a sus </a:t>
            </a:r>
            <a:r>
              <a:rPr lang="en-US" dirty="0" err="1"/>
              <a:t>vulnerabilidades</a:t>
            </a:r>
            <a:r>
              <a:rPr lang="en-US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0937E-1FFC-8F94-6799-F776588F7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032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621B0-EFB9-D9B0-26D8-FFDE40878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SBOMs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3BACB-013D-1BB2-9D91-EB192B797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740" y="1847850"/>
            <a:ext cx="11018520" cy="4351338"/>
          </a:xfrm>
        </p:spPr>
        <p:txBody>
          <a:bodyPr/>
          <a:lstStyle/>
          <a:p>
            <a:r>
              <a:rPr lang="en-GB" dirty="0"/>
              <a:t>Un </a:t>
            </a:r>
            <a:r>
              <a:rPr lang="en-GB" b="1" dirty="0"/>
              <a:t>Software Bill of Materials (SBOM)</a:t>
            </a:r>
            <a:r>
              <a:rPr lang="en-GB" dirty="0"/>
              <a:t> es un </a:t>
            </a:r>
            <a:r>
              <a:rPr lang="en-GB" dirty="0" err="1"/>
              <a:t>inventario</a:t>
            </a:r>
            <a:r>
              <a:rPr lang="en-GB" dirty="0"/>
              <a:t> </a:t>
            </a:r>
            <a:r>
              <a:rPr lang="en-GB" dirty="0" err="1"/>
              <a:t>estructurado</a:t>
            </a:r>
            <a:r>
              <a:rPr lang="en-GB" dirty="0"/>
              <a:t> de </a:t>
            </a:r>
            <a:r>
              <a:rPr lang="en-GB" dirty="0" err="1"/>
              <a:t>los</a:t>
            </a:r>
            <a:r>
              <a:rPr lang="en-GB" dirty="0"/>
              <a:t> </a:t>
            </a:r>
            <a:r>
              <a:rPr lang="en-GB" dirty="0" err="1"/>
              <a:t>componentes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forman</a:t>
            </a:r>
            <a:r>
              <a:rPr lang="en-GB" dirty="0"/>
              <a:t> </a:t>
            </a:r>
            <a:r>
              <a:rPr lang="en-GB" dirty="0" err="1"/>
              <a:t>parte</a:t>
            </a:r>
            <a:r>
              <a:rPr lang="en-GB" dirty="0"/>
              <a:t> de </a:t>
            </a:r>
            <a:r>
              <a:rPr lang="en-GB" dirty="0" err="1"/>
              <a:t>una</a:t>
            </a:r>
            <a:r>
              <a:rPr lang="en-GB" dirty="0"/>
              <a:t> </a:t>
            </a:r>
            <a:r>
              <a:rPr lang="en-GB" dirty="0" err="1"/>
              <a:t>aplicación</a:t>
            </a:r>
            <a:r>
              <a:rPr lang="en-GB" dirty="0"/>
              <a:t> o </a:t>
            </a:r>
            <a:r>
              <a:rPr lang="en-GB" dirty="0" err="1"/>
              <a:t>artefacto</a:t>
            </a:r>
            <a:r>
              <a:rPr lang="en-GB" dirty="0"/>
              <a:t> de software. </a:t>
            </a:r>
          </a:p>
          <a:p>
            <a:r>
              <a:rPr lang="en-GB" dirty="0"/>
              <a:t>En </a:t>
            </a:r>
            <a:r>
              <a:rPr lang="en-GB" dirty="0" err="1"/>
              <a:t>términos</a:t>
            </a:r>
            <a:r>
              <a:rPr lang="en-GB" dirty="0"/>
              <a:t> simples, </a:t>
            </a:r>
            <a:r>
              <a:rPr lang="en-GB" dirty="0" err="1"/>
              <a:t>cumple</a:t>
            </a:r>
            <a:r>
              <a:rPr lang="en-GB" dirty="0"/>
              <a:t> un </a:t>
            </a:r>
            <a:r>
              <a:rPr lang="en-GB" dirty="0" err="1"/>
              <a:t>rol</a:t>
            </a:r>
            <a:r>
              <a:rPr lang="en-GB" dirty="0"/>
              <a:t> similar al de </a:t>
            </a:r>
            <a:r>
              <a:rPr lang="en-GB" dirty="0" err="1"/>
              <a:t>una</a:t>
            </a:r>
            <a:r>
              <a:rPr lang="en-GB" dirty="0"/>
              <a:t> </a:t>
            </a:r>
            <a:r>
              <a:rPr lang="en-GB" dirty="0" err="1"/>
              <a:t>lista</a:t>
            </a:r>
            <a:r>
              <a:rPr lang="en-GB" dirty="0"/>
              <a:t> de </a:t>
            </a:r>
            <a:r>
              <a:rPr lang="en-GB" dirty="0" err="1"/>
              <a:t>ingredientes</a:t>
            </a:r>
            <a:r>
              <a:rPr lang="en-GB" dirty="0"/>
              <a:t>: </a:t>
            </a:r>
          </a:p>
          <a:p>
            <a:pPr lvl="1"/>
            <a:r>
              <a:rPr lang="en-GB" dirty="0" err="1"/>
              <a:t>identifica</a:t>
            </a:r>
            <a:r>
              <a:rPr lang="en-GB" dirty="0"/>
              <a:t> </a:t>
            </a:r>
            <a:r>
              <a:rPr lang="en-GB" dirty="0" err="1"/>
              <a:t>bibliotecas</a:t>
            </a:r>
            <a:r>
              <a:rPr lang="en-GB" dirty="0"/>
              <a:t>, </a:t>
            </a:r>
            <a:r>
              <a:rPr lang="en-GB" dirty="0" err="1"/>
              <a:t>paquetes</a:t>
            </a:r>
            <a:r>
              <a:rPr lang="en-GB" dirty="0"/>
              <a:t>, </a:t>
            </a:r>
            <a:r>
              <a:rPr lang="en-GB" dirty="0" err="1"/>
              <a:t>dependencias</a:t>
            </a:r>
            <a:r>
              <a:rPr lang="en-GB" dirty="0"/>
              <a:t>, </a:t>
            </a:r>
            <a:r>
              <a:rPr lang="en-GB" dirty="0" err="1"/>
              <a:t>herramientas</a:t>
            </a:r>
            <a:r>
              <a:rPr lang="en-GB" dirty="0"/>
              <a:t> y </a:t>
            </a:r>
            <a:r>
              <a:rPr lang="en-GB" dirty="0" err="1"/>
              <a:t>otros</a:t>
            </a:r>
            <a:r>
              <a:rPr lang="en-GB" dirty="0"/>
              <a:t> </a:t>
            </a:r>
            <a:r>
              <a:rPr lang="en-GB" dirty="0" err="1"/>
              <a:t>elementos</a:t>
            </a:r>
            <a:r>
              <a:rPr lang="en-GB" dirty="0"/>
              <a:t> </a:t>
            </a:r>
            <a:r>
              <a:rPr lang="en-GB" dirty="0" err="1"/>
              <a:t>utilizados</a:t>
            </a:r>
            <a:r>
              <a:rPr lang="en-GB" dirty="0"/>
              <a:t> </a:t>
            </a:r>
            <a:r>
              <a:rPr lang="en-GB" dirty="0" err="1"/>
              <a:t>durante</a:t>
            </a:r>
            <a:r>
              <a:rPr lang="en-GB" dirty="0"/>
              <a:t> </a:t>
            </a:r>
            <a:r>
              <a:rPr lang="en-GB" dirty="0" err="1"/>
              <a:t>el</a:t>
            </a:r>
            <a:r>
              <a:rPr lang="en-GB" dirty="0"/>
              <a:t> </a:t>
            </a:r>
            <a:r>
              <a:rPr lang="en-GB" dirty="0" err="1"/>
              <a:t>desarrollo</a:t>
            </a:r>
            <a:r>
              <a:rPr lang="en-GB" dirty="0"/>
              <a:t>, la </a:t>
            </a:r>
            <a:r>
              <a:rPr lang="en-GB" dirty="0" err="1"/>
              <a:t>compilación</a:t>
            </a:r>
            <a:r>
              <a:rPr lang="en-GB" dirty="0"/>
              <a:t> y la </a:t>
            </a:r>
            <a:r>
              <a:rPr lang="en-GB" dirty="0" err="1"/>
              <a:t>distribución</a:t>
            </a:r>
            <a:r>
              <a:rPr lang="en-GB" dirty="0"/>
              <a:t> de un </a:t>
            </a:r>
            <a:r>
              <a:rPr lang="en-GB" dirty="0" err="1"/>
              <a:t>sistema</a:t>
            </a:r>
            <a:r>
              <a:rPr lang="en-GB" dirty="0"/>
              <a:t>. </a:t>
            </a:r>
          </a:p>
          <a:p>
            <a:pPr lvl="1"/>
            <a:r>
              <a:rPr lang="en-GB" dirty="0"/>
              <a:t>Su </a:t>
            </a:r>
            <a:r>
              <a:rPr lang="en-GB" dirty="0" err="1"/>
              <a:t>valor</a:t>
            </a:r>
            <a:r>
              <a:rPr lang="en-GB" dirty="0"/>
              <a:t> no </a:t>
            </a:r>
            <a:r>
              <a:rPr lang="en-GB" dirty="0" err="1"/>
              <a:t>está</a:t>
            </a:r>
            <a:r>
              <a:rPr lang="en-GB" dirty="0"/>
              <a:t> solo en </a:t>
            </a:r>
            <a:r>
              <a:rPr lang="en-GB" dirty="0" err="1"/>
              <a:t>enumerar</a:t>
            </a:r>
            <a:r>
              <a:rPr lang="en-GB" dirty="0"/>
              <a:t> </a:t>
            </a:r>
            <a:r>
              <a:rPr lang="en-GB" dirty="0" err="1"/>
              <a:t>componentes</a:t>
            </a:r>
            <a:r>
              <a:rPr lang="en-GB" dirty="0"/>
              <a:t>, </a:t>
            </a:r>
            <a:r>
              <a:rPr lang="en-GB" dirty="0" err="1"/>
              <a:t>sino</a:t>
            </a:r>
            <a:r>
              <a:rPr lang="en-GB" dirty="0"/>
              <a:t> también en </a:t>
            </a:r>
            <a:r>
              <a:rPr lang="en-GB" dirty="0" err="1"/>
              <a:t>aportar</a:t>
            </a:r>
            <a:r>
              <a:rPr lang="en-GB" dirty="0"/>
              <a:t> </a:t>
            </a:r>
            <a:r>
              <a:rPr lang="en-GB" dirty="0" err="1"/>
              <a:t>contexto</a:t>
            </a:r>
            <a:r>
              <a:rPr lang="en-GB" dirty="0"/>
              <a:t> </a:t>
            </a:r>
            <a:r>
              <a:rPr lang="en-GB" dirty="0" err="1"/>
              <a:t>sobre</a:t>
            </a:r>
            <a:r>
              <a:rPr lang="en-GB" dirty="0"/>
              <a:t> </a:t>
            </a:r>
            <a:r>
              <a:rPr lang="en-GB" dirty="0" err="1"/>
              <a:t>su</a:t>
            </a:r>
            <a:r>
              <a:rPr lang="en-GB" dirty="0"/>
              <a:t> </a:t>
            </a:r>
            <a:r>
              <a:rPr lang="en-GB" dirty="0" err="1"/>
              <a:t>origen</a:t>
            </a:r>
            <a:r>
              <a:rPr lang="en-GB" dirty="0"/>
              <a:t>, sus </a:t>
            </a:r>
            <a:r>
              <a:rPr lang="en-GB" dirty="0" err="1"/>
              <a:t>versiones</a:t>
            </a:r>
            <a:r>
              <a:rPr lang="en-GB" dirty="0"/>
              <a:t> y la </a:t>
            </a:r>
            <a:r>
              <a:rPr lang="en-GB" dirty="0" err="1"/>
              <a:t>relación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mantienen</a:t>
            </a:r>
            <a:r>
              <a:rPr lang="en-GB" dirty="0"/>
              <a:t> entre </a:t>
            </a:r>
            <a:r>
              <a:rPr lang="en-GB" dirty="0" err="1"/>
              <a:t>sí</a:t>
            </a:r>
            <a:r>
              <a:rPr lang="en-GB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BC2D38-FAB1-ACB4-5EEB-0BB2446B9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73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9C8758B0-A8A5-3471-D8BE-A83EC6A3D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0" y="622300"/>
            <a:ext cx="7112000" cy="561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88A69F-C0EA-6BC0-C40D-7C43B805C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161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4E9EE-144C-0374-B7B5-1660EDD75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5460" y="1176972"/>
            <a:ext cx="9578340" cy="4504055"/>
          </a:xfrm>
        </p:spPr>
        <p:txBody>
          <a:bodyPr>
            <a:normAutofit/>
          </a:bodyPr>
          <a:lstStyle/>
          <a:p>
            <a:r>
              <a:rPr lang="en-GB" b="1" dirty="0"/>
              <a:t>¿Por </a:t>
            </a:r>
            <a:r>
              <a:rPr lang="en-GB" b="1" dirty="0" err="1"/>
              <a:t>qué</a:t>
            </a:r>
            <a:r>
              <a:rPr lang="en-GB" b="1" dirty="0"/>
              <a:t> </a:t>
            </a:r>
            <a:r>
              <a:rPr lang="en-GB" b="1" dirty="0" err="1"/>
              <a:t>los</a:t>
            </a:r>
            <a:r>
              <a:rPr lang="en-GB" b="1" dirty="0"/>
              <a:t> SBOMs son </a:t>
            </a:r>
            <a:r>
              <a:rPr lang="en-GB" b="1" dirty="0" err="1"/>
              <a:t>relevantes</a:t>
            </a:r>
            <a:r>
              <a:rPr lang="en-GB" b="1" dirty="0"/>
              <a:t>?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24D2A85-419C-28B9-95E2-1F0FB6096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598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47DA2E-6A40-0625-975D-DC5581B0B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0904" y="179308"/>
            <a:ext cx="5590189" cy="57224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D6D0A6-1E48-362D-B81B-C7DC7C467686}"/>
              </a:ext>
            </a:extLst>
          </p:cNvPr>
          <p:cNvSpPr txBox="1"/>
          <p:nvPr/>
        </p:nvSpPr>
        <p:spPr>
          <a:xfrm>
            <a:off x="3205687" y="6309360"/>
            <a:ext cx="5780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https://www.bcn.cl/leychile/navegar?idNorma=1209272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D4ADF7-05BF-81AB-53A3-63ECFF53C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591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8FEE8-E3F7-2F4F-6827-26BFB7F2D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C91715-FB49-B66F-33C8-8DC3D9AD3FFC}"/>
              </a:ext>
            </a:extLst>
          </p:cNvPr>
          <p:cNvSpPr txBox="1"/>
          <p:nvPr/>
        </p:nvSpPr>
        <p:spPr>
          <a:xfrm>
            <a:off x="3205687" y="6309360"/>
            <a:ext cx="5780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2"/>
              </a:rPr>
              <a:t>sboms USA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431F7E-1F95-60A5-4031-B820E2C6A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E94263-1E88-E01A-3C44-18DFDDA57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509" y="368144"/>
            <a:ext cx="7110976" cy="589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0613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B1960-22FC-EC77-152E-4FA09923E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532FFB-D495-E0B6-C0A4-545EC115A25D}"/>
              </a:ext>
            </a:extLst>
          </p:cNvPr>
          <p:cNvSpPr txBox="1"/>
          <p:nvPr/>
        </p:nvSpPr>
        <p:spPr>
          <a:xfrm>
            <a:off x="3205687" y="6309360"/>
            <a:ext cx="578062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2"/>
              </a:rPr>
              <a:t>government-contracts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154BE5-F23D-296A-604A-89DA1F6F5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9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7792CCA-439E-A0E5-B3D1-44C3E7A97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2630" y="1189350"/>
            <a:ext cx="8206740" cy="4136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033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063844-CB87-607D-4861-557F8C04F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370" y="668940"/>
            <a:ext cx="10081260" cy="552011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936C9B-5C89-7ACF-003D-8789DC6FBE28}"/>
              </a:ext>
            </a:extLst>
          </p:cNvPr>
          <p:cNvSpPr txBox="1"/>
          <p:nvPr/>
        </p:nvSpPr>
        <p:spPr>
          <a:xfrm>
            <a:off x="4090835" y="6309360"/>
            <a:ext cx="4010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</a:t>
            </a:r>
            <a:r>
              <a:rPr lang="en-US" dirty="0" err="1">
                <a:hlinkClick r:id="rId3"/>
              </a:rPr>
              <a:t>www.enforcementtracker.com</a:t>
            </a:r>
            <a:r>
              <a:rPr lang="en-US" dirty="0">
                <a:hlinkClick r:id="rId3"/>
              </a:rPr>
              <a:t>/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5FF3F7-E3AC-12CB-7463-08D225345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332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38DC12-012C-B0B7-4501-E103177C56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06849" y="681037"/>
            <a:ext cx="9614500" cy="562832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7612AE-8DC1-48BB-CB77-87A25A18A51E}"/>
              </a:ext>
            </a:extLst>
          </p:cNvPr>
          <p:cNvSpPr txBox="1"/>
          <p:nvPr/>
        </p:nvSpPr>
        <p:spPr>
          <a:xfrm>
            <a:off x="4655820" y="6309360"/>
            <a:ext cx="31165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https://github.com/advisories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33F589-C606-BBD0-ECB8-131F66E62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773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2526AAF-4833-3058-78C7-970E7B0F4B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" y="0"/>
            <a:ext cx="2149664" cy="11898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8FAFFE-BA4C-2E3E-8ECC-5941D115A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4656" y="948259"/>
            <a:ext cx="7772400" cy="536110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60C9E8-67DE-BCC0-F2F8-AD851288D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056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F3913-F7BD-F29F-19A2-34B5D8B9D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ED39CF3-B75C-FECB-78F1-3624744A01C8}"/>
              </a:ext>
            </a:extLst>
          </p:cNvPr>
          <p:cNvSpPr txBox="1"/>
          <p:nvPr/>
        </p:nvSpPr>
        <p:spPr>
          <a:xfrm>
            <a:off x="2640310" y="6356350"/>
            <a:ext cx="6911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https://runsafesecurity.com/blog/sbom-requirements-global-guide/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D414F5-0A0F-346E-EA53-48EEF2128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13</a:t>
            </a:fld>
            <a:endParaRPr lang="en-US"/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D3EABBED-7E3A-9F14-C6B3-4CD29D3203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157943" y="481296"/>
            <a:ext cx="9876113" cy="562832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4068337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A8AC3-EEF5-2296-D16D-7F0F87FC3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C7381EB-47A8-B6A0-F1D8-24B8329C2DEA}"/>
              </a:ext>
            </a:extLst>
          </p:cNvPr>
          <p:cNvSpPr txBox="1"/>
          <p:nvPr/>
        </p:nvSpPr>
        <p:spPr>
          <a:xfrm>
            <a:off x="2640310" y="6356350"/>
            <a:ext cx="76984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https://owasp.org/www-project-software-component-verification-standard/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7B194F-EEBF-2E13-1605-B87C9D2B1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BFD25B-242D-DFD7-CEEA-1482CD5840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150" y="988395"/>
            <a:ext cx="4840774" cy="4881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7012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7FD87-9F45-784C-C618-0E100C8CE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8AD8A-7CB5-8425-245A-55988AEAF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¿Por </a:t>
            </a:r>
            <a:r>
              <a:rPr lang="en-GB" b="1" dirty="0" err="1"/>
              <a:t>qué</a:t>
            </a:r>
            <a:r>
              <a:rPr lang="en-GB" b="1" dirty="0"/>
              <a:t> </a:t>
            </a:r>
            <a:r>
              <a:rPr lang="en-GB" b="1" dirty="0" err="1"/>
              <a:t>los</a:t>
            </a:r>
            <a:r>
              <a:rPr lang="en-GB" b="1" dirty="0"/>
              <a:t> SBOMs </a:t>
            </a:r>
            <a:r>
              <a:rPr lang="en-GB" b="1" dirty="0" err="1"/>
              <a:t>han</a:t>
            </a:r>
            <a:r>
              <a:rPr lang="en-GB" b="1" dirty="0"/>
              <a:t> </a:t>
            </a:r>
            <a:r>
              <a:rPr lang="en-GB" b="1" dirty="0" err="1"/>
              <a:t>tomado</a:t>
            </a:r>
            <a:r>
              <a:rPr lang="en-GB" b="1" dirty="0"/>
              <a:t> </a:t>
            </a:r>
            <a:r>
              <a:rPr lang="en-GB" b="1" dirty="0" err="1"/>
              <a:t>tanta</a:t>
            </a:r>
            <a:r>
              <a:rPr lang="en-GB" b="1" dirty="0"/>
              <a:t> </a:t>
            </a:r>
            <a:r>
              <a:rPr lang="en-GB" b="1" dirty="0" err="1"/>
              <a:t>relevancia</a:t>
            </a:r>
            <a:r>
              <a:rPr lang="en-GB" b="1" dirty="0"/>
              <a:t>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2330A-99E0-DF1E-2ACB-BD5ACB786B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US" dirty="0" err="1"/>
              <a:t>Cumplimiento</a:t>
            </a:r>
            <a:r>
              <a:rPr lang="en-US" dirty="0"/>
              <a:t> </a:t>
            </a:r>
            <a:r>
              <a:rPr lang="en-US" dirty="0" err="1"/>
              <a:t>normativo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Seguridad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¿En </a:t>
            </a:r>
            <a:r>
              <a:rPr lang="en-US" dirty="0" err="1"/>
              <a:t>términos</a:t>
            </a:r>
            <a:r>
              <a:rPr lang="en-US" dirty="0"/>
              <a:t> </a:t>
            </a:r>
            <a:r>
              <a:rPr lang="en-US" dirty="0" err="1"/>
              <a:t>concretos</a:t>
            </a:r>
            <a:r>
              <a:rPr lang="en-US" dirty="0"/>
              <a:t>, en </a:t>
            </a: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nos</a:t>
            </a:r>
            <a:r>
              <a:rPr lang="en-US" dirty="0"/>
              <a:t> </a:t>
            </a:r>
            <a:r>
              <a:rPr lang="en-US" dirty="0" err="1"/>
              <a:t>podría</a:t>
            </a:r>
            <a:r>
              <a:rPr lang="en-US" dirty="0"/>
              <a:t> </a:t>
            </a:r>
            <a:r>
              <a:rPr lang="en-US" dirty="0" err="1"/>
              <a:t>servir</a:t>
            </a:r>
            <a:r>
              <a:rPr lang="en-US" dirty="0"/>
              <a:t>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B5896B-33CC-4408-8E17-B27E47AD8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939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58916-D5DC-CA47-F30C-820DB7DC6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Vulnerabilidad</a:t>
            </a:r>
            <a:r>
              <a:rPr lang="en-US" dirty="0"/>
              <a:t> </a:t>
            </a:r>
            <a:r>
              <a:rPr lang="en-US" dirty="0" err="1"/>
              <a:t>crítica</a:t>
            </a:r>
            <a:r>
              <a:rPr lang="en-US" dirty="0"/>
              <a:t> en </a:t>
            </a:r>
            <a:r>
              <a:rPr lang="en-US" dirty="0" err="1"/>
              <a:t>dependencia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D42E1-F413-3048-6AB3-CA993CF020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>
              <a:lnSpc>
                <a:spcPct val="150000"/>
              </a:lnSpc>
            </a:pPr>
            <a:r>
              <a:rPr lang="en-US" dirty="0" err="1"/>
              <a:t>Identifique</a:t>
            </a:r>
            <a:r>
              <a:rPr lang="en-US" dirty="0"/>
              <a:t> un </a:t>
            </a:r>
            <a:r>
              <a:rPr lang="en-US" dirty="0" err="1"/>
              <a:t>caso</a:t>
            </a:r>
            <a:r>
              <a:rPr lang="en-US" dirty="0"/>
              <a:t> </a:t>
            </a:r>
            <a:r>
              <a:rPr lang="en-US" dirty="0" err="1"/>
              <a:t>específico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Describalo</a:t>
            </a:r>
            <a:r>
              <a:rPr lang="en-US" dirty="0"/>
              <a:t> tanto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pueda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 err="1"/>
              <a:t>Identifique</a:t>
            </a:r>
            <a:r>
              <a:rPr lang="en-US" dirty="0"/>
              <a:t> </a:t>
            </a:r>
            <a:r>
              <a:rPr lang="en-US" dirty="0" err="1"/>
              <a:t>elementos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caracterizan</a:t>
            </a:r>
            <a:r>
              <a:rPr lang="en-US" dirty="0"/>
              <a:t> la </a:t>
            </a:r>
            <a:r>
              <a:rPr lang="en-US" dirty="0" err="1"/>
              <a:t>vulnerabilidad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usted</a:t>
            </a:r>
            <a:r>
              <a:rPr lang="en-US" dirty="0"/>
              <a:t> no </a:t>
            </a:r>
            <a:r>
              <a:rPr lang="en-US" dirty="0" err="1"/>
              <a:t>entienda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431C60-33F7-CDA3-8D12-1A2005707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8064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C170D-01A3-18C8-CCE1-CF1AECBA0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Análisis estático de software </a:t>
            </a:r>
            <a:br>
              <a:rPr lang="en-GB"/>
            </a:br>
            <a:r>
              <a:rPr lang="en-GB"/>
              <a:t>(Static program analysis)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EF00E-7C01-F18D-42EE-FE55D2BD0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97980" cy="4351338"/>
          </a:xfrm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GB" dirty="0"/>
              <a:t>Una </a:t>
            </a:r>
            <a:r>
              <a:rPr lang="en-GB" b="1" dirty="0" err="1"/>
              <a:t>herramienta</a:t>
            </a:r>
            <a:r>
              <a:rPr lang="en-GB" b="1" dirty="0"/>
              <a:t> de </a:t>
            </a:r>
            <a:r>
              <a:rPr lang="en-GB" b="1" dirty="0" err="1"/>
              <a:t>análisis</a:t>
            </a:r>
            <a:r>
              <a:rPr lang="en-GB" b="1" dirty="0"/>
              <a:t> </a:t>
            </a:r>
            <a:r>
              <a:rPr lang="en-GB" b="1" dirty="0" err="1"/>
              <a:t>estático</a:t>
            </a:r>
            <a:r>
              <a:rPr lang="en-GB" b="1" dirty="0"/>
              <a:t> de </a:t>
            </a:r>
            <a:r>
              <a:rPr lang="en-GB" b="1" dirty="0" err="1"/>
              <a:t>código</a:t>
            </a:r>
            <a:r>
              <a:rPr lang="en-GB" dirty="0"/>
              <a:t> es un software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revisa</a:t>
            </a:r>
            <a:r>
              <a:rPr lang="en-GB" dirty="0"/>
              <a:t> </a:t>
            </a:r>
            <a:r>
              <a:rPr lang="en-GB" dirty="0" err="1"/>
              <a:t>el</a:t>
            </a:r>
            <a:r>
              <a:rPr lang="en-GB" dirty="0"/>
              <a:t> </a:t>
            </a:r>
            <a:r>
              <a:rPr lang="en-GB" dirty="0" err="1"/>
              <a:t>código</a:t>
            </a:r>
            <a:r>
              <a:rPr lang="en-GB" dirty="0"/>
              <a:t> </a:t>
            </a:r>
            <a:r>
              <a:rPr lang="en-GB" dirty="0" err="1"/>
              <a:t>fuente</a:t>
            </a:r>
            <a:r>
              <a:rPr lang="en-GB" dirty="0"/>
              <a:t> </a:t>
            </a:r>
            <a:r>
              <a:rPr lang="en-GB" b="1" dirty="0"/>
              <a:t>sin </a:t>
            </a:r>
            <a:r>
              <a:rPr lang="en-GB" b="1" dirty="0" err="1"/>
              <a:t>ejecutarlo</a:t>
            </a:r>
            <a:r>
              <a:rPr lang="en-GB" dirty="0"/>
              <a:t>, para </a:t>
            </a:r>
            <a:r>
              <a:rPr lang="en-GB" dirty="0" err="1"/>
              <a:t>detectar</a:t>
            </a:r>
            <a:r>
              <a:rPr lang="en-GB" dirty="0"/>
              <a:t> </a:t>
            </a:r>
            <a:r>
              <a:rPr lang="en-GB" dirty="0" err="1"/>
              <a:t>errores</a:t>
            </a:r>
            <a:r>
              <a:rPr lang="en-GB" dirty="0"/>
              <a:t>, </a:t>
            </a:r>
            <a:r>
              <a:rPr lang="en-GB" dirty="0" err="1"/>
              <a:t>vulnerabilidades</a:t>
            </a:r>
            <a:r>
              <a:rPr lang="en-GB" dirty="0"/>
              <a:t> de </a:t>
            </a:r>
            <a:r>
              <a:rPr lang="en-GB" dirty="0" err="1"/>
              <a:t>seguridad</a:t>
            </a:r>
            <a:r>
              <a:rPr lang="en-GB" dirty="0"/>
              <a:t> y </a:t>
            </a:r>
            <a:r>
              <a:rPr lang="en-GB" dirty="0" err="1"/>
              <a:t>problemas</a:t>
            </a:r>
            <a:r>
              <a:rPr lang="en-GB" dirty="0"/>
              <a:t> de </a:t>
            </a:r>
            <a:r>
              <a:rPr lang="en-GB" dirty="0" err="1"/>
              <a:t>calidad</a:t>
            </a:r>
            <a:r>
              <a:rPr lang="en-GB" dirty="0"/>
              <a:t> antes de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el</a:t>
            </a:r>
            <a:r>
              <a:rPr lang="en-GB" dirty="0"/>
              <a:t> </a:t>
            </a:r>
            <a:r>
              <a:rPr lang="en-GB" dirty="0" err="1"/>
              <a:t>programa</a:t>
            </a:r>
            <a:r>
              <a:rPr lang="en-GB" dirty="0"/>
              <a:t> se </a:t>
            </a:r>
            <a:r>
              <a:rPr lang="en-GB" dirty="0" err="1"/>
              <a:t>ejecute</a:t>
            </a:r>
            <a:r>
              <a:rPr lang="en-GB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9E45E-0FF1-706D-1572-E5C74E043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17</a:t>
            </a:fld>
            <a:endParaRPr lang="en-US"/>
          </a:p>
        </p:txBody>
      </p:sp>
      <p:pic>
        <p:nvPicPr>
          <p:cNvPr id="4098" name="Picture 2" descr="Analizar vulnerabilidades en tu código con CodeQL en local - return(GiS);">
            <a:extLst>
              <a:ext uri="{FF2B5EF4-FFF2-40B4-BE49-F238E27FC236}">
                <a16:creationId xmlns:a16="http://schemas.microsoft.com/office/drawing/2014/main" id="{AF1AF121-F5DA-F838-0689-56612C2F2C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6360" y="2489457"/>
            <a:ext cx="2392680" cy="2392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E728F6-2A7E-672E-FB01-BB286C30A783}"/>
              </a:ext>
            </a:extLst>
          </p:cNvPr>
          <p:cNvSpPr txBox="1"/>
          <p:nvPr/>
        </p:nvSpPr>
        <p:spPr>
          <a:xfrm>
            <a:off x="8523897" y="5065245"/>
            <a:ext cx="3046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</a:t>
            </a:r>
            <a:r>
              <a:rPr lang="en-US" dirty="0" err="1">
                <a:hlinkClick r:id="rId3"/>
              </a:rPr>
              <a:t>codeql.github.com</a:t>
            </a:r>
            <a:r>
              <a:rPr lang="en-US" dirty="0">
                <a:hlinkClick r:id="rId3"/>
              </a:rPr>
              <a:t>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3981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5FA5B-0CD2-073D-8BCD-6F7B3C29E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GitHub - anchore/syft: CLI tool and library for generating a Software Bill  of Materials from container images and filesystems · GitHub">
            <a:extLst>
              <a:ext uri="{FF2B5EF4-FFF2-40B4-BE49-F238E27FC236}">
                <a16:creationId xmlns:a16="http://schemas.microsoft.com/office/drawing/2014/main" id="{44402728-4487-FDC5-AEA7-A3B6521739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9144" y="1643061"/>
            <a:ext cx="4342910" cy="2314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593228-8EAE-3FEB-C4E7-F833A2B6C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err="1"/>
              <a:t>Análisis</a:t>
            </a:r>
            <a:r>
              <a:rPr lang="en-GB" dirty="0"/>
              <a:t> de </a:t>
            </a:r>
            <a:r>
              <a:rPr lang="en-GB" dirty="0" err="1"/>
              <a:t>composición</a:t>
            </a:r>
            <a:r>
              <a:rPr lang="en-GB" dirty="0"/>
              <a:t> de software </a:t>
            </a:r>
            <a:br>
              <a:rPr lang="en-GB" dirty="0"/>
            </a:br>
            <a:r>
              <a:rPr lang="en-GB" dirty="0"/>
              <a:t>(SCA)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01124-9DC3-2750-093A-C5AB993B7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379254" cy="4530725"/>
          </a:xfrm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GB" dirty="0"/>
              <a:t>El </a:t>
            </a:r>
            <a:r>
              <a:rPr lang="en-GB" dirty="0" err="1"/>
              <a:t>análisis</a:t>
            </a:r>
            <a:r>
              <a:rPr lang="en-GB" dirty="0"/>
              <a:t> de </a:t>
            </a:r>
            <a:r>
              <a:rPr lang="en-GB" dirty="0" err="1"/>
              <a:t>composición</a:t>
            </a:r>
            <a:r>
              <a:rPr lang="en-GB" dirty="0"/>
              <a:t> de software (SCA) es </a:t>
            </a:r>
            <a:r>
              <a:rPr lang="en-GB" dirty="0" err="1"/>
              <a:t>el</a:t>
            </a:r>
            <a:r>
              <a:rPr lang="en-GB" dirty="0"/>
              <a:t> </a:t>
            </a:r>
            <a:r>
              <a:rPr lang="en-GB" dirty="0" err="1"/>
              <a:t>proceso</a:t>
            </a:r>
            <a:r>
              <a:rPr lang="en-GB" dirty="0"/>
              <a:t> de </a:t>
            </a:r>
            <a:r>
              <a:rPr lang="en-GB" dirty="0" err="1"/>
              <a:t>identificar</a:t>
            </a:r>
            <a:r>
              <a:rPr lang="en-GB" dirty="0"/>
              <a:t> </a:t>
            </a:r>
            <a:r>
              <a:rPr lang="en-GB" dirty="0" err="1"/>
              <a:t>todas</a:t>
            </a:r>
            <a:r>
              <a:rPr lang="en-GB" dirty="0"/>
              <a:t> las </a:t>
            </a:r>
            <a:r>
              <a:rPr lang="en-GB" dirty="0" err="1"/>
              <a:t>dependencias</a:t>
            </a:r>
            <a:r>
              <a:rPr lang="en-GB" dirty="0"/>
              <a:t> de un </a:t>
            </a:r>
            <a:r>
              <a:rPr lang="en-GB" dirty="0" err="1"/>
              <a:t>sistema</a:t>
            </a:r>
            <a:r>
              <a:rPr lang="en-GB" dirty="0"/>
              <a:t> (</a:t>
            </a:r>
            <a:r>
              <a:rPr lang="en-GB" dirty="0" err="1"/>
              <a:t>librerías</a:t>
            </a:r>
            <a:r>
              <a:rPr lang="en-GB" dirty="0"/>
              <a:t>, </a:t>
            </a:r>
            <a:r>
              <a:rPr lang="en-GB" dirty="0" err="1"/>
              <a:t>paquetes</a:t>
            </a:r>
            <a:r>
              <a:rPr lang="en-GB" dirty="0"/>
              <a:t>, </a:t>
            </a:r>
            <a:r>
              <a:rPr lang="en-GB" dirty="0" err="1"/>
              <a:t>versiones</a:t>
            </a:r>
            <a:r>
              <a:rPr lang="en-GB" dirty="0"/>
              <a:t>) y </a:t>
            </a:r>
            <a:r>
              <a:rPr lang="en-GB" dirty="0" err="1"/>
              <a:t>verificar</a:t>
            </a:r>
            <a:r>
              <a:rPr lang="en-GB" dirty="0"/>
              <a:t>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alguna</a:t>
            </a:r>
            <a:r>
              <a:rPr lang="en-GB" dirty="0"/>
              <a:t> </a:t>
            </a:r>
            <a:r>
              <a:rPr lang="en-GB" dirty="0" err="1"/>
              <a:t>tiene</a:t>
            </a:r>
            <a:r>
              <a:rPr lang="en-GB" dirty="0"/>
              <a:t> </a:t>
            </a:r>
            <a:r>
              <a:rPr lang="en-GB" dirty="0" err="1"/>
              <a:t>vulnerabilidades</a:t>
            </a:r>
            <a:r>
              <a:rPr lang="en-GB" dirty="0"/>
              <a:t> </a:t>
            </a:r>
            <a:r>
              <a:rPr lang="en-GB" dirty="0" err="1"/>
              <a:t>conocidas</a:t>
            </a:r>
            <a:r>
              <a:rPr lang="en-GB" dirty="0"/>
              <a:t> o </a:t>
            </a:r>
            <a:r>
              <a:rPr lang="en-GB" dirty="0" err="1"/>
              <a:t>problemas</a:t>
            </a:r>
            <a:r>
              <a:rPr lang="en-GB" dirty="0"/>
              <a:t> de </a:t>
            </a:r>
            <a:r>
              <a:rPr lang="en-GB" dirty="0" err="1"/>
              <a:t>licencia</a:t>
            </a:r>
            <a:r>
              <a:rPr lang="en-GB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381A9D-B21B-3F59-ED2F-810EFE1F5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18</a:t>
            </a:fld>
            <a:endParaRPr lang="en-US"/>
          </a:p>
        </p:txBody>
      </p:sp>
      <p:pic>
        <p:nvPicPr>
          <p:cNvPr id="5124" name="Picture 4" descr="GitHub - anchore/grype: A vulnerability scanner for container images and  filesystems · GitHub">
            <a:extLst>
              <a:ext uri="{FF2B5EF4-FFF2-40B4-BE49-F238E27FC236}">
                <a16:creationId xmlns:a16="http://schemas.microsoft.com/office/drawing/2014/main" id="{5323F479-C4F7-E229-E781-FE33F74BD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6077" y="4403698"/>
            <a:ext cx="4209045" cy="2135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C72920-E748-54BD-86BF-508E365AACCD}"/>
              </a:ext>
            </a:extLst>
          </p:cNvPr>
          <p:cNvSpPr txBox="1"/>
          <p:nvPr/>
        </p:nvSpPr>
        <p:spPr>
          <a:xfrm>
            <a:off x="9416574" y="2599292"/>
            <a:ext cx="16513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4"/>
              </a:rPr>
              <a:t>syft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A0E999-2AFE-896B-6F0B-890C1A467017}"/>
              </a:ext>
            </a:extLst>
          </p:cNvPr>
          <p:cNvSpPr txBox="1"/>
          <p:nvPr/>
        </p:nvSpPr>
        <p:spPr>
          <a:xfrm>
            <a:off x="9187395" y="5282114"/>
            <a:ext cx="21097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5"/>
              </a:rPr>
              <a:t>grype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3539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4EDBAB67-88EC-D4AF-43CE-90E3E5EFC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b="1" dirty="0" err="1"/>
              <a:t>Estándares</a:t>
            </a:r>
            <a:r>
              <a:rPr lang="en-GB" b="1" dirty="0"/>
              <a:t> y </a:t>
            </a:r>
            <a:r>
              <a:rPr lang="en-GB" b="1" dirty="0" err="1"/>
              <a:t>automatización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277245-56C2-D33F-2123-2DA987419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88820"/>
            <a:ext cx="4415614" cy="3429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CBD3BB8-2BE1-BA06-B988-F18F3A3A62D3}"/>
              </a:ext>
            </a:extLst>
          </p:cNvPr>
          <p:cNvSpPr txBox="1"/>
          <p:nvPr/>
        </p:nvSpPr>
        <p:spPr>
          <a:xfrm>
            <a:off x="2103793" y="5715952"/>
            <a:ext cx="1884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</a:t>
            </a:r>
            <a:r>
              <a:rPr lang="en-US" dirty="0" err="1">
                <a:hlinkClick r:id="rId3"/>
              </a:rPr>
              <a:t>spdx.dev</a:t>
            </a:r>
            <a:r>
              <a:rPr lang="en-US" dirty="0">
                <a:hlinkClick r:id="rId3"/>
              </a:rPr>
              <a:t>/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7AEFF66-4EEC-5D7B-4BB6-923DF05D27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290" y="2055495"/>
            <a:ext cx="5943600" cy="32956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91EFFEC-6EB5-E82C-B891-CCB55B05655F}"/>
              </a:ext>
            </a:extLst>
          </p:cNvPr>
          <p:cNvSpPr txBox="1"/>
          <p:nvPr/>
        </p:nvSpPr>
        <p:spPr>
          <a:xfrm>
            <a:off x="8017876" y="5715952"/>
            <a:ext cx="2373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5"/>
              </a:rPr>
              <a:t>https://</a:t>
            </a:r>
            <a:r>
              <a:rPr lang="en-US" dirty="0" err="1">
                <a:hlinkClick r:id="rId5"/>
              </a:rPr>
              <a:t>cyclonedx.org</a:t>
            </a:r>
            <a:r>
              <a:rPr lang="en-US" dirty="0">
                <a:hlinkClick r:id="rId5"/>
              </a:rPr>
              <a:t>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1192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DC394-1E92-B989-6CDB-6635DDA57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20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CECB81A-261F-11FC-5A35-E9B17F38B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b="1" dirty="0" err="1"/>
              <a:t>Preguntas</a:t>
            </a:r>
            <a:r>
              <a:rPr lang="en-GB" b="1" dirty="0"/>
              <a:t> clave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198F263-AC25-25C3-B3DA-EF8D7E688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578340" cy="4351338"/>
          </a:xfrm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n-GB" dirty="0" err="1"/>
              <a:t>Adopción</a:t>
            </a:r>
            <a:r>
              <a:rPr lang="en-GB" dirty="0"/>
              <a:t> en </a:t>
            </a:r>
            <a:r>
              <a:rPr lang="en-GB" dirty="0" err="1"/>
              <a:t>proyectos</a:t>
            </a:r>
            <a:r>
              <a:rPr lang="en-GB" dirty="0"/>
              <a:t> open source</a:t>
            </a:r>
          </a:p>
          <a:p>
            <a:pPr>
              <a:lnSpc>
                <a:spcPct val="150000"/>
              </a:lnSpc>
            </a:pPr>
            <a:r>
              <a:rPr lang="en-GB" dirty="0"/>
              <a:t>¿La </a:t>
            </a:r>
            <a:r>
              <a:rPr lang="en-GB" dirty="0" err="1"/>
              <a:t>generación</a:t>
            </a:r>
            <a:r>
              <a:rPr lang="en-GB" dirty="0"/>
              <a:t> de SBOMs es </a:t>
            </a:r>
            <a:r>
              <a:rPr lang="en-GB" dirty="0" err="1"/>
              <a:t>siempre</a:t>
            </a:r>
            <a:r>
              <a:rPr lang="en-GB" dirty="0"/>
              <a:t> </a:t>
            </a:r>
            <a:r>
              <a:rPr lang="en-GB" dirty="0" err="1"/>
              <a:t>válida</a:t>
            </a:r>
            <a:r>
              <a:rPr lang="en-GB" dirty="0"/>
              <a:t>?</a:t>
            </a:r>
          </a:p>
          <a:p>
            <a:pPr>
              <a:lnSpc>
                <a:spcPct val="150000"/>
              </a:lnSpc>
            </a:pPr>
            <a:r>
              <a:rPr lang="en-GB" dirty="0"/>
              <a:t>¿</a:t>
            </a:r>
            <a:r>
              <a:rPr lang="en-GB" dirty="0" err="1"/>
              <a:t>Diferentes</a:t>
            </a:r>
            <a:r>
              <a:rPr lang="en-GB" dirty="0"/>
              <a:t> </a:t>
            </a:r>
            <a:r>
              <a:rPr lang="en-GB" dirty="0" err="1"/>
              <a:t>herramientas</a:t>
            </a:r>
            <a:r>
              <a:rPr lang="en-GB" dirty="0"/>
              <a:t> </a:t>
            </a:r>
            <a:r>
              <a:rPr lang="en-GB" dirty="0" err="1"/>
              <a:t>producen</a:t>
            </a:r>
            <a:r>
              <a:rPr lang="en-GB" dirty="0"/>
              <a:t> </a:t>
            </a:r>
            <a:r>
              <a:rPr lang="en-GB" dirty="0" err="1"/>
              <a:t>siempre</a:t>
            </a:r>
            <a:r>
              <a:rPr lang="en-GB" dirty="0"/>
              <a:t> </a:t>
            </a:r>
            <a:r>
              <a:rPr lang="en-GB" dirty="0" err="1"/>
              <a:t>el</a:t>
            </a:r>
            <a:r>
              <a:rPr lang="en-GB" dirty="0"/>
              <a:t> </a:t>
            </a:r>
            <a:r>
              <a:rPr lang="en-GB" dirty="0" err="1"/>
              <a:t>mismo</a:t>
            </a:r>
            <a:r>
              <a:rPr lang="en-GB" dirty="0"/>
              <a:t> </a:t>
            </a:r>
            <a:r>
              <a:rPr lang="en-GB" dirty="0" err="1"/>
              <a:t>resultado</a:t>
            </a:r>
            <a:r>
              <a:rPr lang="en-GB" dirty="0"/>
              <a:t>?</a:t>
            </a:r>
          </a:p>
          <a:p>
            <a:pPr>
              <a:lnSpc>
                <a:spcPct val="150000"/>
              </a:lnSpc>
            </a:pPr>
            <a:r>
              <a:rPr lang="en-GB" dirty="0"/>
              <a:t>¿Las </a:t>
            </a:r>
            <a:r>
              <a:rPr lang="en-GB" dirty="0" err="1"/>
              <a:t>herramientas</a:t>
            </a:r>
            <a:r>
              <a:rPr lang="en-GB" dirty="0"/>
              <a:t> son </a:t>
            </a:r>
            <a:r>
              <a:rPr lang="en-GB" dirty="0" err="1"/>
              <a:t>capaces</a:t>
            </a:r>
            <a:r>
              <a:rPr lang="en-GB" dirty="0"/>
              <a:t> de </a:t>
            </a:r>
            <a:r>
              <a:rPr lang="en-GB" dirty="0" err="1"/>
              <a:t>generar</a:t>
            </a:r>
            <a:r>
              <a:rPr lang="en-GB" dirty="0"/>
              <a:t> SBOMs en </a:t>
            </a:r>
            <a:r>
              <a:rPr lang="en-GB" dirty="0" err="1"/>
              <a:t>todos</a:t>
            </a:r>
            <a:r>
              <a:rPr lang="en-GB" dirty="0"/>
              <a:t> </a:t>
            </a:r>
            <a:r>
              <a:rPr lang="en-GB" dirty="0" err="1"/>
              <a:t>los</a:t>
            </a:r>
            <a:r>
              <a:rPr lang="en-GB" dirty="0"/>
              <a:t> </a:t>
            </a:r>
            <a:r>
              <a:rPr lang="en-GB" dirty="0" err="1"/>
              <a:t>casos</a:t>
            </a:r>
            <a:r>
              <a:rPr lang="en-GB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544558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A0764-4A66-280D-FF1B-353C65FB2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Tarea 1 (4 de Mayo)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8AE0D-3B85-DB34-46BB-22E21FB628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US" dirty="0"/>
              <a:t>3 </a:t>
            </a:r>
            <a:r>
              <a:rPr lang="en-US" dirty="0" err="1"/>
              <a:t>Lecturas</a:t>
            </a:r>
            <a:endParaRPr lang="en-US" dirty="0"/>
          </a:p>
          <a:p>
            <a:pPr lvl="1"/>
            <a:r>
              <a:rPr lang="en-US" dirty="0"/>
              <a:t>Papers 1, 2, y 3 (</a:t>
            </a:r>
            <a:r>
              <a:rPr lang="en-US" dirty="0" err="1"/>
              <a:t>disponibles</a:t>
            </a:r>
            <a:r>
              <a:rPr lang="en-US" dirty="0"/>
              <a:t> en data/papers)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Instalar</a:t>
            </a:r>
            <a:r>
              <a:rPr lang="en-US" dirty="0"/>
              <a:t> </a:t>
            </a:r>
            <a:r>
              <a:rPr lang="en-US" dirty="0" err="1"/>
              <a:t>devContainer</a:t>
            </a:r>
            <a:r>
              <a:rPr lang="en-US" dirty="0"/>
              <a:t> y </a:t>
            </a:r>
            <a:r>
              <a:rPr lang="en-US" dirty="0" err="1"/>
              <a:t>generar</a:t>
            </a:r>
            <a:r>
              <a:rPr lang="en-US" dirty="0"/>
              <a:t> SBOMs de 10 repositories</a:t>
            </a:r>
          </a:p>
          <a:p>
            <a:pPr>
              <a:lnSpc>
                <a:spcPct val="150000"/>
              </a:lnSpc>
            </a:pPr>
            <a:r>
              <a:rPr lang="en-US" dirty="0">
                <a:hlinkClick r:id="rId2"/>
              </a:rPr>
              <a:t>https://github.com/trending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>
                <a:hlinkClick r:id="rId3"/>
              </a:rPr>
              <a:t>https://</a:t>
            </a:r>
            <a:r>
              <a:rPr lang="en-US" dirty="0" err="1">
                <a:hlinkClick r:id="rId3"/>
              </a:rPr>
              <a:t>github.com</a:t>
            </a:r>
            <a:r>
              <a:rPr lang="en-US" dirty="0">
                <a:hlinkClick r:id="rId3"/>
              </a:rPr>
              <a:t>/dci-courses/produccion_software_emi305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416C47-B2BE-6DF4-EFC8-21578B8F9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9874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B6204-D30A-2F4A-68C6-6AAE34707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Evaluación</a:t>
            </a:r>
            <a:r>
              <a:rPr lang="en-US" dirty="0"/>
              <a:t> del </a:t>
            </a:r>
            <a:r>
              <a:rPr lang="en-US" dirty="0" err="1"/>
              <a:t>módulo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B3C730-92D3-6934-2236-EE8E4DD85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US" dirty="0"/>
              <a:t>Tarea 1: </a:t>
            </a:r>
            <a:r>
              <a:rPr lang="en-US" dirty="0" err="1"/>
              <a:t>generación</a:t>
            </a:r>
            <a:r>
              <a:rPr lang="en-US" dirty="0"/>
              <a:t> de </a:t>
            </a:r>
            <a:r>
              <a:rPr lang="en-US" dirty="0" err="1"/>
              <a:t>sboms</a:t>
            </a:r>
            <a:r>
              <a:rPr lang="en-US" dirty="0"/>
              <a:t>, 30%</a:t>
            </a:r>
          </a:p>
          <a:p>
            <a:r>
              <a:rPr lang="en-US" dirty="0"/>
              <a:t>Tarea 2: </a:t>
            </a:r>
            <a:r>
              <a:rPr lang="en-US" dirty="0" err="1"/>
              <a:t>extracción</a:t>
            </a:r>
            <a:r>
              <a:rPr lang="en-US" dirty="0"/>
              <a:t> de </a:t>
            </a:r>
            <a:r>
              <a:rPr lang="en-US" dirty="0" err="1"/>
              <a:t>vulnerabilidades</a:t>
            </a:r>
            <a:r>
              <a:rPr lang="en-US" dirty="0"/>
              <a:t>, 30%</a:t>
            </a:r>
          </a:p>
          <a:p>
            <a:pPr>
              <a:lnSpc>
                <a:spcPct val="150000"/>
              </a:lnSpc>
            </a:pPr>
            <a:r>
              <a:rPr lang="en-US" dirty="0"/>
              <a:t>Tarea 3: </a:t>
            </a:r>
            <a:r>
              <a:rPr lang="en-US" dirty="0" err="1"/>
              <a:t>análisis</a:t>
            </a:r>
            <a:r>
              <a:rPr lang="en-US" dirty="0"/>
              <a:t> de </a:t>
            </a:r>
            <a:r>
              <a:rPr lang="en-US" dirty="0" err="1"/>
              <a:t>resultados</a:t>
            </a:r>
            <a:r>
              <a:rPr lang="en-US" dirty="0"/>
              <a:t>, 40%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A2A0E6-9152-B9DA-E4C6-FBE1ADA6B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7254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8689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1395</TotalTime>
  <Words>535</Words>
  <Application>Microsoft Macintosh PowerPoint</Application>
  <PresentationFormat>Widescreen</PresentationFormat>
  <Paragraphs>82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Aptos</vt:lpstr>
      <vt:lpstr>Aptos Display</vt:lpstr>
      <vt:lpstr>Arial</vt:lpstr>
      <vt:lpstr>Office Theme</vt:lpstr>
      <vt:lpstr>Producción de Software</vt:lpstr>
      <vt:lpstr>Programa</vt:lpstr>
      <vt:lpstr>Seleccione un repositorio desde Github</vt:lpstr>
      <vt:lpstr>SBOMs</vt:lpstr>
      <vt:lpstr>PowerPoint Presentation</vt:lpstr>
      <vt:lpstr>¿Por qué los SBOMs son relevantes?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¿Por qué los SBOMs han tomado tanta relevancia?</vt:lpstr>
      <vt:lpstr>Vulnerabilidad crítica en dependencia</vt:lpstr>
      <vt:lpstr>Análisis estático de software  (Static program analysis)</vt:lpstr>
      <vt:lpstr>Análisis de composición de software  (SCA)</vt:lpstr>
      <vt:lpstr>Estándares y automatización</vt:lpstr>
      <vt:lpstr>Preguntas clave</vt:lpstr>
      <vt:lpstr>Tarea 1 (4 de Mayo)</vt:lpstr>
      <vt:lpstr>Evaluación del módulo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Valenzuela, Pablo Andrés (INF)</dc:creator>
  <cp:lastModifiedBy>Valenzuela, Pablo Andrés (INF)</cp:lastModifiedBy>
  <cp:revision>7</cp:revision>
  <dcterms:created xsi:type="dcterms:W3CDTF">2026-04-27T15:47:00Z</dcterms:created>
  <dcterms:modified xsi:type="dcterms:W3CDTF">2026-04-28T15:02:47Z</dcterms:modified>
</cp:coreProperties>
</file>