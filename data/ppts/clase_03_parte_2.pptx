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80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99"/>
    <p:restoredTop sz="84422"/>
  </p:normalViewPr>
  <p:slideViewPr>
    <p:cSldViewPr>
      <p:cViewPr varScale="1">
        <p:scale>
          <a:sx n="97" d="100"/>
          <a:sy n="97" d="100"/>
        </p:scale>
        <p:origin x="24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440180" cy="144018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D8CB8-51A0-1D49-8FDA-A8DBBAFB532D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0007B-74B6-7545-B924-98D6D24D2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8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477A6-1B43-8597-75E6-0DE46A8F4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FA698-CB65-FADC-9DD4-D2DD89311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DE307-CB71-5076-D040-51111E137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EEA8E-07E2-1DBA-FA85-139BE8CC3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177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19E33-D1B0-C8BB-EA76-F9D0FDADB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4E147-9359-D689-830B-40A0C6CB0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20D10-F62A-8B38-955F-1EB6FAFAE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19C29-0EFB-9A81-B1C8-4C315A7E67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13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32CBA-E979-EC23-9F7C-7F2B3BCA6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B11D9-0AA4-DD0C-856D-993BD3E4F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A4EB9-39C9-DB7F-FD77-C4AE5E448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17AB5-D335-F86C-5774-D3B247169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33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07B4-9F74-2DB0-55F1-5CB1205BD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4B566-B237-FC13-C59D-CC70DC627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709146-BFD2-CC26-4363-69890C275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96548-EC29-FEF2-6EF1-76B0A1C82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10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C73EA-EA05-D723-D203-6174EFA55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36700-D2BD-DF1A-9822-06546E39E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788C3-DD18-02AF-86ED-AAB59D9E5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41DE5-3503-1DAC-5BFC-4E5751900C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398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2B034-4B75-0E64-CCE5-1205619F1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457B2-5269-D8B7-2962-54747CD14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9616C-95CC-95BB-5039-240643011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8205E-3F68-AF2D-87A9-5D4537DD6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38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3EBE3-B365-165B-56C7-B162A3827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3BBBF-0845-FCF8-DE69-5A2F6B4E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4ED342-9DC3-76A5-6CB0-944971313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18014-103E-42A7-3656-0D9EE574D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7025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4AB9B-CB9A-8274-2CDD-BAD6C9A19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F8DA0-3793-C022-6D5F-E95E8B745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9B712-E240-49DD-7C5F-B976259FA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CFB7E-D1F2-9C3D-E061-5DD6FA64D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45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B5940-2645-E21C-6C15-2320DB7DE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35222-EC18-7BBA-3C9F-406A2E257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F4355B-7D30-8621-96EB-BEA89F813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C8372-C98E-E8B2-0B0F-97A446932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86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F256E-DE6A-E5E2-CE84-FD91BBE44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303DD-AE9C-2EE9-9605-89AD1B407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7A7A0-ADE5-58BC-C992-429C22DF5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0693D-5984-CA5B-1BE8-52D146B63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98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448FF-F9C9-48F6-013B-8D4E6B154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466C4-1E8C-27D7-B856-5DE2C609D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6413E-5C8D-6E75-7C1A-A13A0A22A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024EB-7654-3BAE-22F8-1E1601B0C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559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69FC0-4FF3-8978-F6CC-C5C71BC76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59AC89-C390-C304-0F08-8660DC9BB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54FD5-C5B3-5BA8-2351-10F0D1843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26319-4DC0-FF35-5C8B-CFBF0EA94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00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74423-4AB3-27F3-323F-633E5B5C7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D95122-6CF8-FA66-719A-D88D36591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C1A104-4291-FB67-1E65-0924DA459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3A9C1-5423-7114-56F7-6E4109F179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65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E543-96B1-D4B3-E4DB-885DDEC63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48DD7-62D0-7471-2E58-5F301DF5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92780-0C28-1008-AD38-CE9D825F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F0A66-B975-7049-ACD1-7940555CB459}" type="datetime1">
              <a:rPr lang="de-CH" smtClean="0"/>
              <a:t>11.05.26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D1AE3-E729-C4E3-CF9C-C4CC9314E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83B70-1E59-6A4A-B209-99EE710A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4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62756-B2D7-05EB-A56E-B7C755923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F0AB6-948B-4051-4B44-E8AB291CB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900B1-B869-F7CC-7F85-808FA4A3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4375-7BF5-A44C-974D-8B589BCF9DB6}" type="datetime1">
              <a:rPr lang="de-CH" smtClean="0"/>
              <a:t>11.05.26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82226-0895-45B7-75F5-0E9B2649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E59E0-0E33-164F-8A36-36E2F547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5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109D-150F-E5B4-52BB-6D4F9574F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7A666-0167-54A5-FB82-6C500700B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52B2D-5A6C-D64B-1F4F-BFC144488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E0D-CED3-3F4D-9954-5F5435DC157F}" type="datetime1">
              <a:rPr lang="de-CH" smtClean="0"/>
              <a:t>11.05.26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35C6C-3E48-093C-4F6C-25A4B71A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4CC1-4721-F74A-8B32-84087E08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2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2A5E3-2CDD-175D-7E0A-C86FF2D7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04024-45FA-11F5-D4A3-83499B720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3FDB4-523C-DD22-B261-B7C7DE347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FD904-3966-1353-6A3A-E31A055B1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4C842-9741-A148-B8F4-FDD5A76AF874}" type="datetime1">
              <a:rPr lang="de-CH" smtClean="0"/>
              <a:t>11.05.26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11BD8-17F5-C923-82CF-2FE57279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67ED6-3305-6D48-8F59-0CF2467A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6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5211-A8FA-3636-3AC9-8D16F660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3E5B3-B44C-2ACA-5161-C6C1BC70F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A2802-FC2B-CBCE-144F-71AE01D48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2FDE3-9BAE-8599-364E-D425A40EC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93ABC-23FD-5B76-F7E9-9B8E4766F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36AA57-8B5F-E347-061B-CB37C9E3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C0BC-53B6-DE40-A7FD-9252039E0E16}" type="datetime1">
              <a:rPr lang="de-CH" smtClean="0"/>
              <a:t>11.05.26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A6418-F392-A7F7-080A-A49ACAEB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E6286-0E1A-F3C4-4F12-014758609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1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64E7-1956-F5B2-9BDE-659186A4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C3DF30-1355-D62B-C031-B510B82EC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4842F-B2A2-2A45-8E45-68D4C71C989C}" type="datetime1">
              <a:rPr lang="de-CH" smtClean="0"/>
              <a:t>11.05.26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7750E8-3E7C-4459-2D8D-76DE0E9A2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98C38-3A7E-7EA4-649B-2F8B4D71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3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42184E-B896-C832-5DE8-E2765AB4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6AD2-5AAB-B24C-A2FA-09DF5A91DEBC}" type="datetime1">
              <a:rPr lang="de-CH" smtClean="0"/>
              <a:t>11.05.26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EA6E8-3EBF-6DC0-6924-66B296CF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DBDE8-E773-BE2D-A312-63599634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0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1EFD-AF17-7431-FF92-6A4EBC1F6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BEEFB-0C20-4928-A274-B492E1D18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BBF22-5286-E95A-AA89-FD75F8A71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5430D-F25F-F840-0F01-76DFD8CA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E1904-7D9E-9542-9EDA-D99FD446851A}" type="datetime1">
              <a:rPr lang="de-CH" smtClean="0"/>
              <a:t>11.05.26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1F496-4086-BAEE-036E-EC1A16EC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BBD4D-AC77-A2F9-968B-9C71539D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21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1D656-2AC3-9423-6351-21F4B15D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413E0-35DC-327A-0E36-BD8753EF3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93139-B52D-FADD-61E1-5D83A6ED6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72D68-839C-6D91-8DAB-586BC537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40CBA-00C3-454A-9E3C-0BF75F4A52E7}" type="datetime1">
              <a:rPr lang="de-CH" smtClean="0"/>
              <a:t>11.05.26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D9704-E98E-8E5A-007B-7E479E75E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7E358-178D-67B8-980B-D0D2E9669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4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F7A0-032A-7A77-E1FC-82FEBD71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79680-88D0-C41F-BEF7-10CECED39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5B369-0265-DE20-823D-BCE1BCAFF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2EDE5-8D27-9E4E-80C3-5B9C418987DC}" type="datetime1">
              <a:rPr lang="de-CH" smtClean="0"/>
              <a:t>11.05.26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6FBC7-DBB4-0637-3D7E-E9866A55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3D2D4-B8FD-2522-201E-DEABD6FF0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7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83F2BB-9B80-CCA0-8DC7-0318BE665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5653B9-DF95-9646-47F5-A7FB13A13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316C3-1247-CA60-2B53-8E358939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5308-1835-9B4D-B335-3C427449A7BD}" type="datetime1">
              <a:rPr lang="de-CH" smtClean="0"/>
              <a:t>11.05.26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E9FCF-4B09-D1F8-1E2A-3E1458280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B07E6-CBA4-9C2A-3B56-8E0A1124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2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DB2A47-1032-B976-7ACD-5F8FD079B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3C394-B033-B704-B1ED-ECA032BEC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96A5-9E61-F999-25FF-394583D01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5C4B0-6281-4242-BB76-58DF8477EB26}" type="datetime1">
              <a:rPr lang="de-CH" smtClean="0"/>
              <a:t>11.05.26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FEC72-7879-4A00-B34C-38E3D6E4D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29A7E-DC66-031E-0DDA-7A58416A3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3714464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05997-A283-B1A5-CA3C-FA789F4A77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Producción</a:t>
            </a:r>
            <a:r>
              <a:rPr lang="en-US" dirty="0"/>
              <a:t> de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61AC4-3B0E-0B00-B477-952C5CF3E7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Pablo Valenzuela</a:t>
            </a:r>
          </a:p>
          <a:p>
            <a:r>
              <a:rPr lang="en-US" dirty="0"/>
              <a:t>11 Mayo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A295B-25A6-0FA2-CA73-D314CAFC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78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6C4B8-3DC9-0278-8D2F-6E7A1274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Research Directions in Software Supply Chain Security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1A6CB-BD5A-3326-8F74-2EDFF901D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85000" lnSpcReduction="2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El software </a:t>
            </a:r>
            <a:r>
              <a:rPr lang="en-GB" dirty="0" err="1"/>
              <a:t>moderno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cadena</a:t>
            </a:r>
            <a:r>
              <a:rPr lang="en-GB" dirty="0"/>
              <a:t> de </a:t>
            </a:r>
            <a:r>
              <a:rPr lang="en-GB" dirty="0" err="1"/>
              <a:t>suministro</a:t>
            </a:r>
            <a:endParaRPr lang="en-GB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Tres </a:t>
            </a:r>
            <a:r>
              <a:rPr lang="en-GB" dirty="0" err="1"/>
              <a:t>vectores</a:t>
            </a:r>
            <a:r>
              <a:rPr lang="en-GB" dirty="0"/>
              <a:t> </a:t>
            </a:r>
            <a:r>
              <a:rPr lang="en-GB" dirty="0" err="1"/>
              <a:t>principales</a:t>
            </a:r>
            <a:r>
              <a:rPr lang="en-GB" dirty="0"/>
              <a:t> de </a:t>
            </a:r>
            <a:r>
              <a:rPr lang="en-GB" dirty="0" err="1"/>
              <a:t>ataque</a:t>
            </a:r>
            <a:endParaRPr lang="en-GB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Vector 1: </a:t>
            </a:r>
            <a:r>
              <a:rPr lang="en-GB" dirty="0" err="1"/>
              <a:t>dependencias</a:t>
            </a:r>
            <a:r>
              <a:rPr lang="en-GB" dirty="0"/>
              <a:t> y components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Vector 2: </a:t>
            </a:r>
            <a:r>
              <a:rPr lang="en-GB" dirty="0" err="1"/>
              <a:t>infraestructura</a:t>
            </a:r>
            <a:r>
              <a:rPr lang="en-GB" dirty="0"/>
              <a:t> de build y deployment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Vector 3: </a:t>
            </a:r>
            <a:r>
              <a:rPr lang="en-GB" dirty="0" err="1"/>
              <a:t>humanos</a:t>
            </a:r>
            <a:r>
              <a:rPr lang="en-GB" dirty="0"/>
              <a:t>, </a:t>
            </a:r>
            <a:r>
              <a:rPr lang="en-GB" dirty="0" err="1"/>
              <a:t>cultura</a:t>
            </a:r>
            <a:r>
              <a:rPr lang="en-GB" dirty="0"/>
              <a:t> y confianza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Temas </a:t>
            </a:r>
            <a:r>
              <a:rPr lang="en-GB" dirty="0" err="1"/>
              <a:t>transversales</a:t>
            </a:r>
            <a:r>
              <a:rPr lang="en-GB" dirty="0"/>
              <a:t>: SBOM, </a:t>
            </a:r>
            <a:r>
              <a:rPr lang="en-GB" dirty="0" err="1"/>
              <a:t>trazabilidad</a:t>
            </a:r>
            <a:r>
              <a:rPr lang="en-GB" dirty="0"/>
              <a:t>, LLMs y </a:t>
            </a:r>
            <a:r>
              <a:rPr lang="en-GB" dirty="0" err="1"/>
              <a:t>estándares</a:t>
            </a:r>
            <a:endParaRPr lang="en-GB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De la confianza </a:t>
            </a:r>
            <a:r>
              <a:rPr lang="en-GB" dirty="0" err="1"/>
              <a:t>implícita</a:t>
            </a:r>
            <a:r>
              <a:rPr lang="en-GB" dirty="0"/>
              <a:t> a la confianza </a:t>
            </a:r>
            <a:r>
              <a:rPr lang="en-GB" dirty="0" err="1"/>
              <a:t>verificable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D1D78-58CC-3EF4-A7FF-4E07E655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66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D9C90-7C84-CA95-122E-B0E60046D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1EEB5-47F1-9C04-2B84-48AC0FCD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600" dirty="0"/>
              <a:t>1. El software </a:t>
            </a:r>
            <a:r>
              <a:rPr lang="en-GB" sz="3600" dirty="0" err="1"/>
              <a:t>moderno</a:t>
            </a:r>
            <a:r>
              <a:rPr lang="en-GB" sz="3600" dirty="0"/>
              <a:t> </a:t>
            </a:r>
            <a:r>
              <a:rPr lang="en-GB" sz="3600" dirty="0" err="1"/>
              <a:t>como</a:t>
            </a:r>
            <a:r>
              <a:rPr lang="en-GB" sz="3600" dirty="0"/>
              <a:t> </a:t>
            </a:r>
            <a:r>
              <a:rPr lang="en-GB" sz="3600" dirty="0" err="1"/>
              <a:t>cadena</a:t>
            </a:r>
            <a:r>
              <a:rPr lang="en-GB" sz="3600" dirty="0"/>
              <a:t> de </a:t>
            </a:r>
            <a:r>
              <a:rPr lang="en-GB" sz="3600" dirty="0" err="1"/>
              <a:t>suministro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B3840-ABEC-9DA0-8BB6-02A9D617E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3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996A69A-8D0E-03F9-07C9-5A3EDF494F7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ED75CD-36CD-C73A-F8AE-5D6DD9A31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710" y="1457325"/>
            <a:ext cx="720090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142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597E5-0C3D-FB4E-6919-DF3A21B2E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AE0E9-B3FE-8BC1-1366-11C1488E5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600" dirty="0"/>
              <a:t>1. El software </a:t>
            </a:r>
            <a:r>
              <a:rPr lang="en-GB" sz="3600" dirty="0" err="1"/>
              <a:t>moderno</a:t>
            </a:r>
            <a:r>
              <a:rPr lang="en-GB" sz="3600" dirty="0"/>
              <a:t> </a:t>
            </a:r>
            <a:r>
              <a:rPr lang="en-GB" sz="3600" dirty="0" err="1"/>
              <a:t>como</a:t>
            </a:r>
            <a:r>
              <a:rPr lang="en-GB" sz="3600" dirty="0"/>
              <a:t> </a:t>
            </a:r>
            <a:r>
              <a:rPr lang="en-GB" sz="3600" dirty="0" err="1"/>
              <a:t>cadena</a:t>
            </a:r>
            <a:r>
              <a:rPr lang="en-GB" sz="3600" dirty="0"/>
              <a:t> de </a:t>
            </a:r>
            <a:r>
              <a:rPr lang="en-GB" sz="3600" dirty="0" err="1"/>
              <a:t>suministro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EA1CD-F08E-ED4D-F11A-0AACAEC2C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4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35D8E14-7477-2E42-BEA8-0B721DEEB08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E7704B-F35C-1482-F2C6-E3D2C04DAE17}"/>
              </a:ext>
            </a:extLst>
          </p:cNvPr>
          <p:cNvSpPr txBox="1"/>
          <p:nvPr/>
        </p:nvSpPr>
        <p:spPr>
          <a:xfrm>
            <a:off x="1503430" y="2158533"/>
            <a:ext cx="9457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Crear </a:t>
            </a:r>
            <a:r>
              <a:rPr lang="en-GB" sz="2400" dirty="0" err="1"/>
              <a:t>herramientas</a:t>
            </a:r>
            <a:r>
              <a:rPr lang="en-GB" sz="2400" dirty="0"/>
              <a:t> </a:t>
            </a:r>
            <a:r>
              <a:rPr lang="en-GB" sz="2400" dirty="0" err="1"/>
              <a:t>que</a:t>
            </a:r>
            <a:r>
              <a:rPr lang="en-GB" sz="2400" dirty="0"/>
              <a:t> </a:t>
            </a:r>
            <a:r>
              <a:rPr lang="en-GB" sz="2400" dirty="0" err="1"/>
              <a:t>ayuden</a:t>
            </a:r>
            <a:r>
              <a:rPr lang="en-GB" sz="2400" dirty="0"/>
              <a:t> a las </a:t>
            </a:r>
            <a:r>
              <a:rPr lang="en-GB" sz="2400" dirty="0" err="1"/>
              <a:t>organizaciones</a:t>
            </a:r>
            <a:r>
              <a:rPr lang="en-GB" sz="2400" dirty="0"/>
              <a:t> a </a:t>
            </a:r>
            <a:r>
              <a:rPr lang="en-GB" sz="2400" dirty="0" err="1"/>
              <a:t>visualizar</a:t>
            </a:r>
            <a:r>
              <a:rPr lang="en-GB" sz="2400" dirty="0"/>
              <a:t> </a:t>
            </a:r>
            <a:r>
              <a:rPr lang="en-GB" sz="2400" dirty="0" err="1"/>
              <a:t>su</a:t>
            </a:r>
            <a:r>
              <a:rPr lang="en-GB" sz="2400" dirty="0"/>
              <a:t> </a:t>
            </a:r>
            <a:r>
              <a:rPr lang="en-GB" sz="2400" dirty="0" err="1"/>
              <a:t>cadena</a:t>
            </a:r>
            <a:r>
              <a:rPr lang="en-GB" sz="2400" dirty="0"/>
              <a:t> de </a:t>
            </a:r>
            <a:r>
              <a:rPr lang="en-GB" sz="2400" dirty="0" err="1"/>
              <a:t>suministro</a:t>
            </a:r>
            <a:r>
              <a:rPr lang="en-GB" sz="2400" dirty="0"/>
              <a:t> completa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68183D-EA01-BDAB-2ED1-447F63BE1762}"/>
              </a:ext>
            </a:extLst>
          </p:cNvPr>
          <p:cNvSpPr txBox="1"/>
          <p:nvPr/>
        </p:nvSpPr>
        <p:spPr>
          <a:xfrm>
            <a:off x="1503430" y="3680361"/>
            <a:ext cx="94571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Una </a:t>
            </a:r>
            <a:r>
              <a:rPr lang="en-GB" sz="2400" dirty="0" err="1"/>
              <a:t>oportunidad</a:t>
            </a:r>
            <a:r>
              <a:rPr lang="en-GB" sz="2400" dirty="0"/>
              <a:t> </a:t>
            </a:r>
            <a:r>
              <a:rPr lang="en-GB" sz="2400" dirty="0" err="1"/>
              <a:t>clara</a:t>
            </a:r>
            <a:r>
              <a:rPr lang="en-GB" sz="2400" dirty="0"/>
              <a:t> es </a:t>
            </a:r>
            <a:r>
              <a:rPr lang="en-GB" sz="2400" dirty="0" err="1"/>
              <a:t>construir</a:t>
            </a:r>
            <a:r>
              <a:rPr lang="en-GB" sz="2400" dirty="0"/>
              <a:t> un “</a:t>
            </a:r>
            <a:r>
              <a:rPr lang="en-GB" sz="2400" dirty="0" err="1"/>
              <a:t>mapa</a:t>
            </a:r>
            <a:r>
              <a:rPr lang="en-GB" sz="2400" dirty="0"/>
              <a:t> vivo” del software: </a:t>
            </a:r>
            <a:r>
              <a:rPr lang="en-GB" sz="2400" dirty="0" err="1"/>
              <a:t>qué</a:t>
            </a:r>
            <a:r>
              <a:rPr lang="en-GB" sz="2400" dirty="0"/>
              <a:t> </a:t>
            </a:r>
            <a:r>
              <a:rPr lang="en-GB" sz="2400" dirty="0" err="1"/>
              <a:t>componentes</a:t>
            </a:r>
            <a:r>
              <a:rPr lang="en-GB" sz="2400" dirty="0"/>
              <a:t> </a:t>
            </a:r>
            <a:r>
              <a:rPr lang="en-GB" sz="2400" dirty="0" err="1"/>
              <a:t>usa</a:t>
            </a:r>
            <a:r>
              <a:rPr lang="en-GB" sz="2400" dirty="0"/>
              <a:t>, </a:t>
            </a:r>
            <a:r>
              <a:rPr lang="en-GB" sz="2400" dirty="0" err="1"/>
              <a:t>quién</a:t>
            </a:r>
            <a:r>
              <a:rPr lang="en-GB" sz="2400" dirty="0"/>
              <a:t> </a:t>
            </a:r>
            <a:r>
              <a:rPr lang="en-GB" sz="2400" dirty="0" err="1"/>
              <a:t>los</a:t>
            </a:r>
            <a:r>
              <a:rPr lang="en-GB" sz="2400" dirty="0"/>
              <a:t> </a:t>
            </a:r>
            <a:r>
              <a:rPr lang="en-GB" sz="2400" dirty="0" err="1"/>
              <a:t>mantiene</a:t>
            </a:r>
            <a:r>
              <a:rPr lang="en-GB" sz="2400" dirty="0"/>
              <a:t>, </a:t>
            </a:r>
            <a:r>
              <a:rPr lang="en-GB" sz="2400" dirty="0" err="1"/>
              <a:t>cómo</a:t>
            </a:r>
            <a:r>
              <a:rPr lang="en-GB" sz="2400" dirty="0"/>
              <a:t> se </a:t>
            </a:r>
            <a:r>
              <a:rPr lang="en-GB" sz="2400" dirty="0" err="1"/>
              <a:t>construyen</a:t>
            </a:r>
            <a:r>
              <a:rPr lang="en-GB" sz="2400" dirty="0"/>
              <a:t>, </a:t>
            </a:r>
            <a:r>
              <a:rPr lang="en-GB" sz="2400" dirty="0" err="1"/>
              <a:t>qué</a:t>
            </a:r>
            <a:r>
              <a:rPr lang="en-GB" sz="2400" dirty="0"/>
              <a:t> </a:t>
            </a:r>
            <a:r>
              <a:rPr lang="en-GB" sz="2400" dirty="0" err="1"/>
              <a:t>servicios</a:t>
            </a:r>
            <a:r>
              <a:rPr lang="en-GB" sz="2400" dirty="0"/>
              <a:t> </a:t>
            </a:r>
            <a:r>
              <a:rPr lang="en-GB" sz="2400" dirty="0" err="1"/>
              <a:t>externos</a:t>
            </a:r>
            <a:r>
              <a:rPr lang="en-GB" sz="2400" dirty="0"/>
              <a:t> </a:t>
            </a:r>
            <a:r>
              <a:rPr lang="en-GB" sz="2400" dirty="0" err="1"/>
              <a:t>intervienen</a:t>
            </a:r>
            <a:r>
              <a:rPr lang="en-GB" sz="2400" dirty="0"/>
              <a:t> y </a:t>
            </a:r>
            <a:r>
              <a:rPr lang="en-GB" sz="2400" dirty="0" err="1"/>
              <a:t>qué</a:t>
            </a:r>
            <a:r>
              <a:rPr lang="en-GB" sz="2400" dirty="0"/>
              <a:t> partes de la </a:t>
            </a:r>
            <a:r>
              <a:rPr lang="en-GB" sz="2400" dirty="0" err="1"/>
              <a:t>cadena</a:t>
            </a:r>
            <a:r>
              <a:rPr lang="en-GB" sz="2400" dirty="0"/>
              <a:t> no son observables.</a:t>
            </a:r>
            <a:endParaRPr lang="en-US" sz="2400" dirty="0"/>
          </a:p>
        </p:txBody>
      </p:sp>
      <p:pic>
        <p:nvPicPr>
          <p:cNvPr id="8" name="Graphic 7" descr="Lights On with solid fill">
            <a:extLst>
              <a:ext uri="{FF2B5EF4-FFF2-40B4-BE49-F238E27FC236}">
                <a16:creationId xmlns:a16="http://schemas.microsoft.com/office/drawing/2014/main" id="{D2CED985-95C9-01F8-B94D-0C25161AD3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000" y="2127404"/>
            <a:ext cx="914400" cy="914400"/>
          </a:xfrm>
          <a:prstGeom prst="rect">
            <a:avLst/>
          </a:prstGeom>
        </p:spPr>
      </p:pic>
      <p:pic>
        <p:nvPicPr>
          <p:cNvPr id="10" name="Graphic 9" descr="Gears with solid fill">
            <a:extLst>
              <a:ext uri="{FF2B5EF4-FFF2-40B4-BE49-F238E27FC236}">
                <a16:creationId xmlns:a16="http://schemas.microsoft.com/office/drawing/2014/main" id="{920729DC-FC20-2D9C-9563-24F5B96D10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760" y="400799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3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7F7A-3335-8D13-2334-B138A8549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7B6F-7D78-9DBF-4C16-1BA87AF85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600" dirty="0"/>
              <a:t>2. Tres </a:t>
            </a:r>
            <a:r>
              <a:rPr lang="en-GB" sz="3600" dirty="0" err="1"/>
              <a:t>vectores</a:t>
            </a:r>
            <a:r>
              <a:rPr lang="en-GB" sz="3600" dirty="0"/>
              <a:t> </a:t>
            </a:r>
            <a:r>
              <a:rPr lang="en-GB" sz="3600" dirty="0" err="1"/>
              <a:t>principales</a:t>
            </a:r>
            <a:r>
              <a:rPr lang="en-GB" sz="3600" dirty="0"/>
              <a:t> de </a:t>
            </a:r>
            <a:r>
              <a:rPr lang="en-GB" sz="3600" dirty="0" err="1"/>
              <a:t>ataque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9B944-4FF2-9B92-4386-E1EA5F0E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5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486388C-C1AE-8E34-B2E5-169447E47F8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9AE5A6-2975-5F2A-F0B7-1EF8FF8C5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40" y="1852295"/>
            <a:ext cx="6005407" cy="450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16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32B13-BD4D-AB0A-E022-6754B4CE8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E3B3-9D8B-6680-8A81-B5AA62404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600" dirty="0"/>
              <a:t>2. Tres </a:t>
            </a:r>
            <a:r>
              <a:rPr lang="en-GB" sz="3600" dirty="0" err="1"/>
              <a:t>vectores</a:t>
            </a:r>
            <a:r>
              <a:rPr lang="en-GB" sz="3600" dirty="0"/>
              <a:t> </a:t>
            </a:r>
            <a:r>
              <a:rPr lang="en-GB" sz="3600" dirty="0" err="1"/>
              <a:t>principales</a:t>
            </a:r>
            <a:r>
              <a:rPr lang="en-GB" sz="3600" dirty="0"/>
              <a:t> de </a:t>
            </a:r>
            <a:r>
              <a:rPr lang="en-GB" sz="3600" dirty="0" err="1"/>
              <a:t>ataque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47736-C13C-888A-47A5-9F178AF42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6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41D18CE-1AD0-7FEB-125B-9C59B697765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EB84F-CCB7-660A-CC20-B834BCF36511}"/>
              </a:ext>
            </a:extLst>
          </p:cNvPr>
          <p:cNvSpPr txBox="1"/>
          <p:nvPr/>
        </p:nvSpPr>
        <p:spPr>
          <a:xfrm>
            <a:off x="1775460" y="2270026"/>
            <a:ext cx="9062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Desarrollar</a:t>
            </a:r>
            <a:r>
              <a:rPr lang="en-GB" sz="2400" dirty="0"/>
              <a:t> </a:t>
            </a:r>
            <a:r>
              <a:rPr lang="en-GB" sz="2400" dirty="0" err="1"/>
              <a:t>plataformas</a:t>
            </a:r>
            <a:r>
              <a:rPr lang="en-GB" sz="2400" dirty="0"/>
              <a:t> de </a:t>
            </a:r>
            <a:r>
              <a:rPr lang="en-GB" sz="2400" dirty="0" err="1"/>
              <a:t>evaluación</a:t>
            </a:r>
            <a:r>
              <a:rPr lang="en-GB" sz="2400" dirty="0"/>
              <a:t> de </a:t>
            </a:r>
            <a:r>
              <a:rPr lang="en-GB" sz="2400" dirty="0" err="1"/>
              <a:t>riesgo</a:t>
            </a:r>
            <a:r>
              <a:rPr lang="en-GB" sz="2400" dirty="0"/>
              <a:t> </a:t>
            </a:r>
            <a:r>
              <a:rPr lang="en-GB" sz="2400" dirty="0" err="1"/>
              <a:t>que</a:t>
            </a:r>
            <a:r>
              <a:rPr lang="en-GB" sz="2400" dirty="0"/>
              <a:t> </a:t>
            </a:r>
            <a:r>
              <a:rPr lang="en-GB" sz="2400" dirty="0" err="1"/>
              <a:t>integren</a:t>
            </a:r>
            <a:r>
              <a:rPr lang="en-GB" sz="2400" dirty="0"/>
              <a:t> </a:t>
            </a:r>
            <a:r>
              <a:rPr lang="en-GB" sz="2400" dirty="0" err="1"/>
              <a:t>los</a:t>
            </a:r>
            <a:r>
              <a:rPr lang="en-GB" sz="2400" dirty="0"/>
              <a:t> </a:t>
            </a:r>
            <a:r>
              <a:rPr lang="en-GB" sz="2400" dirty="0" err="1"/>
              <a:t>tres</a:t>
            </a:r>
            <a:r>
              <a:rPr lang="en-GB" sz="2400" dirty="0"/>
              <a:t> </a:t>
            </a:r>
            <a:r>
              <a:rPr lang="en-GB" sz="2400" dirty="0" err="1"/>
              <a:t>vectores</a:t>
            </a:r>
            <a:r>
              <a:rPr lang="en-GB" sz="2400" dirty="0"/>
              <a:t> en </a:t>
            </a:r>
            <a:r>
              <a:rPr lang="en-GB" sz="2400" dirty="0" err="1"/>
              <a:t>lugar</a:t>
            </a:r>
            <a:r>
              <a:rPr lang="en-GB" sz="2400" dirty="0"/>
              <a:t> de </a:t>
            </a:r>
            <a:r>
              <a:rPr lang="en-GB" sz="2400" dirty="0" err="1"/>
              <a:t>analizarlos</a:t>
            </a:r>
            <a:r>
              <a:rPr lang="en-GB" sz="2400" dirty="0"/>
              <a:t> </a:t>
            </a:r>
            <a:r>
              <a:rPr lang="en-GB" sz="2400" dirty="0" err="1"/>
              <a:t>por</a:t>
            </a:r>
            <a:r>
              <a:rPr lang="en-GB" sz="2400" dirty="0"/>
              <a:t> </a:t>
            </a:r>
            <a:r>
              <a:rPr lang="en-GB" sz="2400" dirty="0" err="1"/>
              <a:t>separado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6B7921-34A2-D2EF-BFB3-C4E4DF25955A}"/>
              </a:ext>
            </a:extLst>
          </p:cNvPr>
          <p:cNvSpPr txBox="1"/>
          <p:nvPr/>
        </p:nvSpPr>
        <p:spPr>
          <a:xfrm>
            <a:off x="1775460" y="3680361"/>
            <a:ext cx="91851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Se </a:t>
            </a:r>
            <a:r>
              <a:rPr lang="en-GB" sz="2400" dirty="0" err="1"/>
              <a:t>podría</a:t>
            </a:r>
            <a:r>
              <a:rPr lang="en-GB" sz="2400" dirty="0"/>
              <a:t> </a:t>
            </a:r>
            <a:r>
              <a:rPr lang="en-GB" sz="2400" dirty="0" err="1"/>
              <a:t>ofrecer</a:t>
            </a:r>
            <a:r>
              <a:rPr lang="en-GB" sz="2400" dirty="0"/>
              <a:t> un </a:t>
            </a:r>
            <a:r>
              <a:rPr lang="en-GB" sz="2400" dirty="0" err="1"/>
              <a:t>puntaje</a:t>
            </a:r>
            <a:r>
              <a:rPr lang="en-GB" sz="2400" dirty="0"/>
              <a:t> de </a:t>
            </a:r>
            <a:r>
              <a:rPr lang="en-GB" sz="2400" dirty="0" err="1"/>
              <a:t>exposición</a:t>
            </a:r>
            <a:r>
              <a:rPr lang="en-GB" sz="2400" dirty="0"/>
              <a:t> </a:t>
            </a:r>
            <a:r>
              <a:rPr lang="en-GB" sz="2400" dirty="0" err="1"/>
              <a:t>combinando</a:t>
            </a:r>
            <a:r>
              <a:rPr lang="en-GB" sz="2400" dirty="0"/>
              <a:t> </a:t>
            </a:r>
            <a:r>
              <a:rPr lang="en-GB" sz="2400" dirty="0" err="1"/>
              <a:t>vulnerabilidades</a:t>
            </a:r>
            <a:r>
              <a:rPr lang="en-GB" sz="2400" dirty="0"/>
              <a:t> en </a:t>
            </a:r>
            <a:r>
              <a:rPr lang="en-GB" sz="2400" dirty="0" err="1"/>
              <a:t>dependencias</a:t>
            </a:r>
            <a:r>
              <a:rPr lang="en-GB" sz="2400" dirty="0"/>
              <a:t>, </a:t>
            </a:r>
            <a:r>
              <a:rPr lang="en-GB" sz="2400" dirty="0" err="1"/>
              <a:t>riesgos</a:t>
            </a:r>
            <a:r>
              <a:rPr lang="en-GB" sz="2400" dirty="0"/>
              <a:t> del pipeline y </a:t>
            </a:r>
            <a:r>
              <a:rPr lang="en-GB" sz="2400" dirty="0" err="1"/>
              <a:t>señales</a:t>
            </a:r>
            <a:r>
              <a:rPr lang="en-GB" sz="2400" dirty="0"/>
              <a:t> </a:t>
            </a:r>
            <a:r>
              <a:rPr lang="en-GB" sz="2400" dirty="0" err="1"/>
              <a:t>organizacionales</a:t>
            </a:r>
            <a:r>
              <a:rPr lang="en-GB" sz="2400" dirty="0"/>
              <a:t> </a:t>
            </a:r>
            <a:r>
              <a:rPr lang="en-GB" sz="2400" dirty="0" err="1"/>
              <a:t>como</a:t>
            </a:r>
            <a:r>
              <a:rPr lang="en-GB" sz="2400" dirty="0"/>
              <a:t> </a:t>
            </a:r>
            <a:r>
              <a:rPr lang="en-GB" sz="2400" dirty="0" err="1"/>
              <a:t>permisos</a:t>
            </a:r>
            <a:r>
              <a:rPr lang="en-GB" sz="2400" dirty="0"/>
              <a:t>, </a:t>
            </a:r>
            <a:r>
              <a:rPr lang="en-GB" sz="2400" dirty="0" err="1"/>
              <a:t>revisiones</a:t>
            </a:r>
            <a:r>
              <a:rPr lang="en-GB" sz="2400" dirty="0"/>
              <a:t>, </a:t>
            </a:r>
            <a:r>
              <a:rPr lang="en-GB" sz="2400" dirty="0" err="1"/>
              <a:t>mantenedores</a:t>
            </a:r>
            <a:r>
              <a:rPr lang="en-GB" sz="2400" dirty="0"/>
              <a:t> y </a:t>
            </a:r>
            <a:r>
              <a:rPr lang="en-GB" sz="2400" dirty="0" err="1"/>
              <a:t>credenciales</a:t>
            </a:r>
            <a:r>
              <a:rPr lang="en-GB" sz="2400" dirty="0"/>
              <a:t>.</a:t>
            </a:r>
            <a:endParaRPr lang="en-US" sz="2400" dirty="0"/>
          </a:p>
        </p:txBody>
      </p:sp>
      <p:pic>
        <p:nvPicPr>
          <p:cNvPr id="7" name="Graphic 6" descr="Lights On with solid fill">
            <a:extLst>
              <a:ext uri="{FF2B5EF4-FFF2-40B4-BE49-F238E27FC236}">
                <a16:creationId xmlns:a16="http://schemas.microsoft.com/office/drawing/2014/main" id="{136AC4FA-FBC6-63E2-4C98-18DC5CEDBB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000" y="2127404"/>
            <a:ext cx="914400" cy="914400"/>
          </a:xfrm>
          <a:prstGeom prst="rect">
            <a:avLst/>
          </a:prstGeom>
        </p:spPr>
      </p:pic>
      <p:pic>
        <p:nvPicPr>
          <p:cNvPr id="8" name="Graphic 7" descr="Gears with solid fill">
            <a:extLst>
              <a:ext uri="{FF2B5EF4-FFF2-40B4-BE49-F238E27FC236}">
                <a16:creationId xmlns:a16="http://schemas.microsoft.com/office/drawing/2014/main" id="{A42D7489-B380-BA74-65CC-C7325A1CF9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760" y="400799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9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7BAC3-B3CD-A616-3D91-798359FC3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52804-036D-7640-D821-1C316CE66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600" dirty="0"/>
              <a:t>3. Vector 1: </a:t>
            </a:r>
            <a:r>
              <a:rPr lang="en-GB" sz="3600" dirty="0" err="1"/>
              <a:t>dependencias</a:t>
            </a:r>
            <a:r>
              <a:rPr lang="en-GB" sz="3600" dirty="0"/>
              <a:t> y </a:t>
            </a:r>
            <a:r>
              <a:rPr lang="en-GB" sz="3600" dirty="0" err="1"/>
              <a:t>componentes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2AD15-4A43-76FE-FCB6-9F80D61C5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7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63B5F31-9AAE-E1BC-3F1E-C089063D91F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51D838-38BD-6E08-D067-70343A385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460" y="1690688"/>
            <a:ext cx="8938870" cy="503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15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51A23-8D41-CC50-FE4F-AD7ECD357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C3DE7-786A-97B9-9774-DE9B55144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600" dirty="0"/>
              <a:t>3. Vector 1: </a:t>
            </a:r>
            <a:r>
              <a:rPr lang="en-GB" sz="3600" dirty="0" err="1"/>
              <a:t>dependencias</a:t>
            </a:r>
            <a:r>
              <a:rPr lang="en-GB" sz="3600" dirty="0"/>
              <a:t> y </a:t>
            </a:r>
            <a:r>
              <a:rPr lang="en-GB" sz="3600" dirty="0" err="1"/>
              <a:t>componentes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5F301-A098-F88A-2207-0D15F3EA0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8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5CE3947-7A10-6884-0128-333926759D1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FE40CA-CE21-6E74-A682-DD8AAC2191DC}"/>
              </a:ext>
            </a:extLst>
          </p:cNvPr>
          <p:cNvSpPr txBox="1"/>
          <p:nvPr/>
        </p:nvSpPr>
        <p:spPr>
          <a:xfrm>
            <a:off x="1231400" y="2085360"/>
            <a:ext cx="960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Investigar</a:t>
            </a:r>
            <a:r>
              <a:rPr lang="en-GB" sz="2400" dirty="0"/>
              <a:t> </a:t>
            </a:r>
            <a:r>
              <a:rPr lang="en-GB" sz="2400" dirty="0" err="1"/>
              <a:t>mejores</a:t>
            </a:r>
            <a:r>
              <a:rPr lang="en-GB" sz="2400" dirty="0"/>
              <a:t> </a:t>
            </a:r>
            <a:r>
              <a:rPr lang="en-GB" sz="2400" dirty="0" err="1"/>
              <a:t>métricas</a:t>
            </a:r>
            <a:r>
              <a:rPr lang="en-GB" sz="2400" dirty="0"/>
              <a:t> para </a:t>
            </a:r>
            <a:r>
              <a:rPr lang="en-GB" sz="2400" dirty="0" err="1"/>
              <a:t>elegir</a:t>
            </a:r>
            <a:r>
              <a:rPr lang="en-GB" sz="2400" dirty="0"/>
              <a:t> </a:t>
            </a:r>
            <a:r>
              <a:rPr lang="en-GB" sz="2400" dirty="0" err="1"/>
              <a:t>dependencias</a:t>
            </a:r>
            <a:r>
              <a:rPr lang="en-GB" sz="2400" dirty="0"/>
              <a:t> </a:t>
            </a:r>
            <a:r>
              <a:rPr lang="en-GB" sz="2400" dirty="0" err="1"/>
              <a:t>seguras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0267AC-13EF-0079-98B4-BF4A0E89D686}"/>
              </a:ext>
            </a:extLst>
          </p:cNvPr>
          <p:cNvSpPr txBox="1"/>
          <p:nvPr/>
        </p:nvSpPr>
        <p:spPr>
          <a:xfrm>
            <a:off x="1231400" y="3680361"/>
            <a:ext cx="9729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Una </a:t>
            </a:r>
            <a:r>
              <a:rPr lang="en-GB" sz="2400" dirty="0" err="1"/>
              <a:t>oportunidad</a:t>
            </a:r>
            <a:r>
              <a:rPr lang="en-GB" sz="2400" dirty="0"/>
              <a:t> de </a:t>
            </a:r>
            <a:r>
              <a:rPr lang="en-GB" sz="2400" dirty="0" err="1"/>
              <a:t>producto</a:t>
            </a:r>
            <a:r>
              <a:rPr lang="en-GB" sz="2400" dirty="0"/>
              <a:t> </a:t>
            </a:r>
            <a:r>
              <a:rPr lang="en-GB" sz="2400" dirty="0" err="1"/>
              <a:t>sería</a:t>
            </a:r>
            <a:r>
              <a:rPr lang="en-GB" sz="2400" dirty="0"/>
              <a:t> un </a:t>
            </a:r>
            <a:r>
              <a:rPr lang="en-GB" sz="2400" dirty="0" err="1"/>
              <a:t>asistente</a:t>
            </a:r>
            <a:r>
              <a:rPr lang="en-GB" sz="2400" dirty="0"/>
              <a:t> de </a:t>
            </a:r>
            <a:r>
              <a:rPr lang="en-GB" sz="2400" dirty="0" err="1"/>
              <a:t>selección</a:t>
            </a:r>
            <a:r>
              <a:rPr lang="en-GB" sz="2400" dirty="0"/>
              <a:t> de </a:t>
            </a:r>
            <a:r>
              <a:rPr lang="en-GB" sz="2400" dirty="0" err="1"/>
              <a:t>componentes</a:t>
            </a:r>
            <a:r>
              <a:rPr lang="en-GB" sz="2400" dirty="0"/>
              <a:t> </a:t>
            </a:r>
            <a:r>
              <a:rPr lang="en-GB" sz="2400" dirty="0" err="1"/>
              <a:t>que</a:t>
            </a:r>
            <a:r>
              <a:rPr lang="en-GB" sz="2400" dirty="0"/>
              <a:t> no solo </a:t>
            </a:r>
            <a:r>
              <a:rPr lang="en-GB" sz="2400" dirty="0" err="1"/>
              <a:t>muestre</a:t>
            </a:r>
            <a:r>
              <a:rPr lang="en-GB" sz="2400" dirty="0"/>
              <a:t> CVEs, </a:t>
            </a:r>
            <a:r>
              <a:rPr lang="en-GB" sz="2400" dirty="0" err="1"/>
              <a:t>sino</a:t>
            </a:r>
            <a:r>
              <a:rPr lang="en-GB" sz="2400" dirty="0"/>
              <a:t> </a:t>
            </a:r>
            <a:r>
              <a:rPr lang="en-GB" sz="2400" dirty="0" err="1"/>
              <a:t>señales</a:t>
            </a:r>
            <a:r>
              <a:rPr lang="en-GB" sz="2400" dirty="0"/>
              <a:t> de </a:t>
            </a:r>
            <a:r>
              <a:rPr lang="en-GB" sz="2400" dirty="0" err="1"/>
              <a:t>mantenimiento</a:t>
            </a:r>
            <a:r>
              <a:rPr lang="en-GB" sz="2400" dirty="0"/>
              <a:t>, </a:t>
            </a:r>
            <a:r>
              <a:rPr lang="en-GB" sz="2400" dirty="0" err="1"/>
              <a:t>actividad</a:t>
            </a:r>
            <a:r>
              <a:rPr lang="en-GB" sz="2400" dirty="0"/>
              <a:t> del </a:t>
            </a:r>
            <a:r>
              <a:rPr lang="en-GB" sz="2400" dirty="0" err="1"/>
              <a:t>proyecto</a:t>
            </a:r>
            <a:r>
              <a:rPr lang="en-GB" sz="2400" dirty="0"/>
              <a:t>, </a:t>
            </a:r>
            <a:r>
              <a:rPr lang="en-GB" sz="2400" dirty="0" err="1"/>
              <a:t>historial</a:t>
            </a:r>
            <a:r>
              <a:rPr lang="en-GB" sz="2400" dirty="0"/>
              <a:t> de releases, </a:t>
            </a:r>
            <a:r>
              <a:rPr lang="en-GB" sz="2400" dirty="0" err="1"/>
              <a:t>popularidad</a:t>
            </a:r>
            <a:r>
              <a:rPr lang="en-GB" sz="2400" dirty="0"/>
              <a:t>, </a:t>
            </a:r>
            <a:r>
              <a:rPr lang="en-GB" sz="2400" dirty="0" err="1"/>
              <a:t>velocidad</a:t>
            </a:r>
            <a:r>
              <a:rPr lang="en-GB" sz="2400" dirty="0"/>
              <a:t> de </a:t>
            </a:r>
            <a:r>
              <a:rPr lang="en-GB" sz="2400" dirty="0" err="1"/>
              <a:t>respuesta</a:t>
            </a:r>
            <a:r>
              <a:rPr lang="en-GB" sz="2400" dirty="0"/>
              <a:t> a </a:t>
            </a:r>
            <a:r>
              <a:rPr lang="en-GB" sz="2400" dirty="0" err="1"/>
              <a:t>vulnerabilidades</a:t>
            </a:r>
            <a:r>
              <a:rPr lang="en-GB" sz="2400" dirty="0"/>
              <a:t>, </a:t>
            </a:r>
            <a:r>
              <a:rPr lang="en-GB" sz="2400" dirty="0" err="1"/>
              <a:t>riesgo</a:t>
            </a:r>
            <a:r>
              <a:rPr lang="en-GB" sz="2400" dirty="0"/>
              <a:t> de </a:t>
            </a:r>
            <a:r>
              <a:rPr lang="en-GB" sz="2400" dirty="0" err="1"/>
              <a:t>abandono</a:t>
            </a:r>
            <a:r>
              <a:rPr lang="en-GB" sz="2400" dirty="0"/>
              <a:t> y </a:t>
            </a:r>
            <a:r>
              <a:rPr lang="en-GB" sz="2400" dirty="0" err="1"/>
              <a:t>compatibilidad</a:t>
            </a:r>
            <a:r>
              <a:rPr lang="en-GB" sz="2400" dirty="0"/>
              <a:t> con </a:t>
            </a:r>
            <a:r>
              <a:rPr lang="en-GB" sz="2400" dirty="0" err="1"/>
              <a:t>el</a:t>
            </a:r>
            <a:r>
              <a:rPr lang="en-GB" sz="2400" dirty="0"/>
              <a:t> </a:t>
            </a:r>
            <a:r>
              <a:rPr lang="en-GB" sz="2400" dirty="0" err="1"/>
              <a:t>proyecto</a:t>
            </a:r>
            <a:r>
              <a:rPr lang="en-GB" sz="2400" dirty="0"/>
              <a:t>.</a:t>
            </a:r>
            <a:endParaRPr lang="en-US" sz="2400" dirty="0"/>
          </a:p>
        </p:txBody>
      </p:sp>
      <p:pic>
        <p:nvPicPr>
          <p:cNvPr id="7" name="Graphic 6" descr="Lights On with solid fill">
            <a:extLst>
              <a:ext uri="{FF2B5EF4-FFF2-40B4-BE49-F238E27FC236}">
                <a16:creationId xmlns:a16="http://schemas.microsoft.com/office/drawing/2014/main" id="{49310D85-4120-DDB2-7C8A-DDF995D817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809" y="1858992"/>
            <a:ext cx="914400" cy="914400"/>
          </a:xfrm>
          <a:prstGeom prst="rect">
            <a:avLst/>
          </a:prstGeom>
        </p:spPr>
      </p:pic>
      <p:pic>
        <p:nvPicPr>
          <p:cNvPr id="8" name="Graphic 7" descr="Gears with solid fill">
            <a:extLst>
              <a:ext uri="{FF2B5EF4-FFF2-40B4-BE49-F238E27FC236}">
                <a16:creationId xmlns:a16="http://schemas.microsoft.com/office/drawing/2014/main" id="{E829F831-8E98-036F-2C1A-CF4F776837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870" y="408460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3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00F74-B15D-2A4D-EF60-36B45270D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A5020-6E4E-A2DF-ACBC-D6D71F895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600" dirty="0"/>
              <a:t>4. Vector 2: </a:t>
            </a:r>
            <a:r>
              <a:rPr lang="en-GB" sz="3600" dirty="0" err="1"/>
              <a:t>infraestructura</a:t>
            </a:r>
            <a:r>
              <a:rPr lang="en-GB" sz="3600" dirty="0"/>
              <a:t> de build y deployment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E43F3-B7FF-A7EF-D6CF-D49F7AD08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9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8076CB1-A214-EF60-BE57-14AFA1EC00D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0358C4-594B-BA8D-9973-706DF6926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630" y="1737605"/>
            <a:ext cx="8206740" cy="461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86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ACC47-EBD2-3D63-2EEF-F9E904B90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F4BD2-25C3-72C5-D3FA-65DF6F32F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600" dirty="0"/>
              <a:t>4. Vector 2: </a:t>
            </a:r>
            <a:r>
              <a:rPr lang="en-GB" sz="3600" dirty="0" err="1"/>
              <a:t>infraestructura</a:t>
            </a:r>
            <a:r>
              <a:rPr lang="en-GB" sz="3600" dirty="0"/>
              <a:t> de build y deployment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3BBD7-845A-C121-5E83-67347BCAA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10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58E8A7C-D484-7725-134F-A655E58DD3A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C7D73-A792-4780-69A2-A793C6BEE060}"/>
              </a:ext>
            </a:extLst>
          </p:cNvPr>
          <p:cNvSpPr txBox="1"/>
          <p:nvPr/>
        </p:nvSpPr>
        <p:spPr>
          <a:xfrm>
            <a:off x="1653212" y="2676780"/>
            <a:ext cx="9185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Crear </a:t>
            </a:r>
            <a:r>
              <a:rPr lang="en-GB" sz="2400" dirty="0" err="1"/>
              <a:t>herramientas</a:t>
            </a:r>
            <a:r>
              <a:rPr lang="en-GB" sz="2400" dirty="0"/>
              <a:t> de </a:t>
            </a:r>
            <a:r>
              <a:rPr lang="en-GB" sz="2400" dirty="0" err="1"/>
              <a:t>análisis</a:t>
            </a:r>
            <a:r>
              <a:rPr lang="en-GB" sz="2400" dirty="0"/>
              <a:t> de </a:t>
            </a:r>
            <a:r>
              <a:rPr lang="en-GB" sz="2400" dirty="0" err="1"/>
              <a:t>seguridad</a:t>
            </a:r>
            <a:r>
              <a:rPr lang="en-GB" sz="2400" dirty="0"/>
              <a:t> para pipelines CI/CD.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43272E-0546-2BC1-0AEB-F55C61761837}"/>
              </a:ext>
            </a:extLst>
          </p:cNvPr>
          <p:cNvSpPr txBox="1"/>
          <p:nvPr/>
        </p:nvSpPr>
        <p:spPr>
          <a:xfrm>
            <a:off x="1653212" y="4049692"/>
            <a:ext cx="9185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Se </a:t>
            </a:r>
            <a:r>
              <a:rPr lang="en-GB" sz="2400" dirty="0" err="1"/>
              <a:t>podría</a:t>
            </a:r>
            <a:r>
              <a:rPr lang="en-GB" sz="2400" dirty="0"/>
              <a:t> </a:t>
            </a:r>
            <a:r>
              <a:rPr lang="en-GB" sz="2400" dirty="0" err="1"/>
              <a:t>ofrecer</a:t>
            </a:r>
            <a:r>
              <a:rPr lang="en-GB" sz="2400" dirty="0"/>
              <a:t> “CI/CD security posture management” </a:t>
            </a:r>
            <a:r>
              <a:rPr lang="en-GB" sz="2400" dirty="0" err="1"/>
              <a:t>enfocado</a:t>
            </a:r>
            <a:r>
              <a:rPr lang="en-GB" sz="2400" dirty="0"/>
              <a:t> en </a:t>
            </a:r>
            <a:r>
              <a:rPr lang="en-GB" sz="2400" dirty="0" err="1"/>
              <a:t>integridad</a:t>
            </a:r>
            <a:r>
              <a:rPr lang="en-GB" sz="2400" dirty="0"/>
              <a:t> del build y </a:t>
            </a:r>
            <a:r>
              <a:rPr lang="en-GB" sz="2400" dirty="0" err="1"/>
              <a:t>trazabilidad</a:t>
            </a:r>
            <a:r>
              <a:rPr lang="en-GB" sz="2400" dirty="0"/>
              <a:t> de </a:t>
            </a:r>
            <a:r>
              <a:rPr lang="en-GB" sz="2400" dirty="0" err="1"/>
              <a:t>artefactos</a:t>
            </a:r>
            <a:r>
              <a:rPr lang="en-GB" sz="2400" dirty="0"/>
              <a:t>.</a:t>
            </a:r>
            <a:endParaRPr lang="en-US" sz="2400" dirty="0"/>
          </a:p>
        </p:txBody>
      </p:sp>
      <p:pic>
        <p:nvPicPr>
          <p:cNvPr id="7" name="Graphic 6" descr="Gears with solid fill">
            <a:extLst>
              <a:ext uri="{FF2B5EF4-FFF2-40B4-BE49-F238E27FC236}">
                <a16:creationId xmlns:a16="http://schemas.microsoft.com/office/drawing/2014/main" id="{3BF3A4BA-6728-2E9B-FE7A-00B2D25ACF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760" y="4007991"/>
            <a:ext cx="914400" cy="914400"/>
          </a:xfrm>
          <a:prstGeom prst="rect">
            <a:avLst/>
          </a:prstGeom>
        </p:spPr>
      </p:pic>
      <p:pic>
        <p:nvPicPr>
          <p:cNvPr id="8" name="Graphic 7" descr="Lights On with solid fill">
            <a:extLst>
              <a:ext uri="{FF2B5EF4-FFF2-40B4-BE49-F238E27FC236}">
                <a16:creationId xmlns:a16="http://schemas.microsoft.com/office/drawing/2014/main" id="{06A59312-61D4-CC2A-3F45-F74A22E03E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" y="245041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05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D019-492F-4692-55E9-7AE5F1CA4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ABADF-D853-D63C-B4EE-DDCE00555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600" dirty="0"/>
              <a:t>5. Vector 3: </a:t>
            </a:r>
            <a:r>
              <a:rPr lang="en-GB" sz="3600" dirty="0" err="1"/>
              <a:t>humanos</a:t>
            </a:r>
            <a:r>
              <a:rPr lang="en-GB" sz="3600" dirty="0"/>
              <a:t>, </a:t>
            </a:r>
            <a:r>
              <a:rPr lang="en-GB" sz="3600" dirty="0" err="1"/>
              <a:t>cultura</a:t>
            </a:r>
            <a:r>
              <a:rPr lang="en-GB" sz="3600" dirty="0"/>
              <a:t> y confianza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75834-7061-0404-BD12-742C2A553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11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802166F-C224-C4F8-A4C5-EBBFEAF6B67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FC0487-2154-5DBC-F89D-0AA610E65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0" y="1457325"/>
            <a:ext cx="720090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31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965AB-56BE-DEDC-2BB2-3D79C0E31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4BFA-F03B-9D2A-4706-E420A7B2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dirty="0"/>
              <a:t>6. Temas </a:t>
            </a:r>
            <a:r>
              <a:rPr lang="en-GB" sz="3600" dirty="0" err="1"/>
              <a:t>transversales</a:t>
            </a:r>
            <a:r>
              <a:rPr lang="en-GB" sz="3600" dirty="0"/>
              <a:t>: SBOM, </a:t>
            </a:r>
            <a:r>
              <a:rPr lang="en-GB" sz="3600" dirty="0" err="1"/>
              <a:t>trazabilidad</a:t>
            </a:r>
            <a:r>
              <a:rPr lang="en-GB" sz="3600" dirty="0"/>
              <a:t>, LLMs y </a:t>
            </a:r>
            <a:r>
              <a:rPr lang="en-GB" sz="3600" dirty="0" err="1"/>
              <a:t>estándares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E84C0-9BAB-18E6-F206-CFDAF17AF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12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78624DF-313B-7556-DB41-6EDB9C548B8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0B3EE8-7F2E-84E0-60FC-651E52509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539875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432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0DD7E-3A91-C062-7324-E0A13D52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CF1A9-D972-4274-80D3-0F89A669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dirty="0"/>
              <a:t>6. Temas </a:t>
            </a:r>
            <a:r>
              <a:rPr lang="en-GB" sz="3600" dirty="0" err="1"/>
              <a:t>transversales</a:t>
            </a:r>
            <a:r>
              <a:rPr lang="en-GB" sz="3600" dirty="0"/>
              <a:t>: SBOM, </a:t>
            </a:r>
            <a:r>
              <a:rPr lang="en-GB" sz="3600" dirty="0" err="1"/>
              <a:t>trazabilidad</a:t>
            </a:r>
            <a:r>
              <a:rPr lang="en-GB" sz="3600" dirty="0"/>
              <a:t>, LLMs y </a:t>
            </a:r>
            <a:r>
              <a:rPr lang="en-GB" sz="3600" dirty="0" err="1"/>
              <a:t>estándares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0C420-1CB2-D292-1464-942E0265E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13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98C87AC-16BF-754A-2699-CB0D8A89311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E0172-CF63-548E-CF2A-93CDCAEEB852}"/>
              </a:ext>
            </a:extLst>
          </p:cNvPr>
          <p:cNvSpPr txBox="1"/>
          <p:nvPr/>
        </p:nvSpPr>
        <p:spPr>
          <a:xfrm>
            <a:off x="1775460" y="2085360"/>
            <a:ext cx="9062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Construir</a:t>
            </a:r>
            <a:r>
              <a:rPr lang="en-GB" sz="2400" dirty="0"/>
              <a:t> </a:t>
            </a:r>
            <a:r>
              <a:rPr lang="en-GB" sz="2400" dirty="0" err="1"/>
              <a:t>herramientas</a:t>
            </a:r>
            <a:r>
              <a:rPr lang="en-GB" sz="2400" dirty="0"/>
              <a:t> </a:t>
            </a:r>
            <a:r>
              <a:rPr lang="en-GB" sz="2400" dirty="0" err="1"/>
              <a:t>que</a:t>
            </a:r>
            <a:r>
              <a:rPr lang="en-GB" sz="2400" dirty="0"/>
              <a:t> </a:t>
            </a:r>
            <a:r>
              <a:rPr lang="en-GB" sz="2400" dirty="0" err="1"/>
              <a:t>conviertan</a:t>
            </a:r>
            <a:r>
              <a:rPr lang="en-GB" sz="2400" dirty="0"/>
              <a:t> SBOMs en </a:t>
            </a:r>
            <a:r>
              <a:rPr lang="en-GB" sz="2400" dirty="0" err="1"/>
              <a:t>decisiones</a:t>
            </a:r>
            <a:r>
              <a:rPr lang="en-GB" sz="2400" dirty="0"/>
              <a:t> </a:t>
            </a:r>
            <a:r>
              <a:rPr lang="en-GB" sz="2400" dirty="0" err="1"/>
              <a:t>accionables</a:t>
            </a:r>
            <a:r>
              <a:rPr lang="en-GB" sz="2400" dirty="0"/>
              <a:t>.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C78591-33F7-2514-EA0C-0D883ECB3609}"/>
              </a:ext>
            </a:extLst>
          </p:cNvPr>
          <p:cNvSpPr txBox="1"/>
          <p:nvPr/>
        </p:nvSpPr>
        <p:spPr>
          <a:xfrm>
            <a:off x="1775460" y="3680361"/>
            <a:ext cx="9185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Una </a:t>
            </a:r>
            <a:r>
              <a:rPr lang="en-GB" sz="2400" dirty="0" err="1"/>
              <a:t>oportunidad</a:t>
            </a:r>
            <a:r>
              <a:rPr lang="en-GB" sz="2400" dirty="0"/>
              <a:t> es un </a:t>
            </a:r>
            <a:r>
              <a:rPr lang="en-GB" sz="2400" dirty="0" err="1"/>
              <a:t>sistema</a:t>
            </a:r>
            <a:r>
              <a:rPr lang="en-GB" sz="2400" dirty="0"/>
              <a:t> </a:t>
            </a:r>
            <a:r>
              <a:rPr lang="en-GB" sz="2400" dirty="0" err="1"/>
              <a:t>que</a:t>
            </a:r>
            <a:r>
              <a:rPr lang="en-GB" sz="2400" dirty="0"/>
              <a:t> </a:t>
            </a:r>
            <a:r>
              <a:rPr lang="en-GB" sz="2400" dirty="0" err="1"/>
              <a:t>consuma</a:t>
            </a:r>
            <a:r>
              <a:rPr lang="en-GB" sz="2400" dirty="0"/>
              <a:t> SBOMs, </a:t>
            </a:r>
            <a:r>
              <a:rPr lang="en-GB" sz="2400" dirty="0" err="1"/>
              <a:t>detecte</a:t>
            </a:r>
            <a:r>
              <a:rPr lang="en-GB" sz="2400" dirty="0"/>
              <a:t> </a:t>
            </a:r>
            <a:r>
              <a:rPr lang="en-GB" sz="2400" dirty="0" err="1"/>
              <a:t>exposición</a:t>
            </a:r>
            <a:r>
              <a:rPr lang="en-GB" sz="2400" dirty="0"/>
              <a:t>, </a:t>
            </a:r>
            <a:r>
              <a:rPr lang="en-GB" sz="2400" dirty="0" err="1"/>
              <a:t>priorice</a:t>
            </a:r>
            <a:r>
              <a:rPr lang="en-GB" sz="2400" dirty="0"/>
              <a:t> </a:t>
            </a:r>
            <a:r>
              <a:rPr lang="en-GB" sz="2400" dirty="0" err="1"/>
              <a:t>vulnerabilidades</a:t>
            </a:r>
            <a:r>
              <a:rPr lang="en-GB" sz="2400" dirty="0"/>
              <a:t>, </a:t>
            </a:r>
            <a:r>
              <a:rPr lang="en-GB" sz="2400" dirty="0" err="1"/>
              <a:t>sugiera</a:t>
            </a:r>
            <a:r>
              <a:rPr lang="en-GB" sz="2400" dirty="0"/>
              <a:t> </a:t>
            </a:r>
            <a:r>
              <a:rPr lang="en-GB" sz="2400" dirty="0" err="1"/>
              <a:t>remediaciones</a:t>
            </a:r>
            <a:r>
              <a:rPr lang="en-GB" sz="2400" dirty="0"/>
              <a:t>, </a:t>
            </a:r>
            <a:r>
              <a:rPr lang="en-GB" sz="2400" dirty="0" err="1"/>
              <a:t>evalúe</a:t>
            </a:r>
            <a:r>
              <a:rPr lang="en-GB" sz="2400" dirty="0"/>
              <a:t> </a:t>
            </a:r>
            <a:r>
              <a:rPr lang="en-GB" sz="2400" dirty="0" err="1"/>
              <a:t>licencias</a:t>
            </a:r>
            <a:r>
              <a:rPr lang="en-GB" sz="2400" dirty="0"/>
              <a:t> y </a:t>
            </a:r>
            <a:r>
              <a:rPr lang="en-GB" sz="2400" dirty="0" err="1"/>
              <a:t>genere</a:t>
            </a:r>
            <a:r>
              <a:rPr lang="en-GB" sz="2400" dirty="0"/>
              <a:t> </a:t>
            </a:r>
            <a:r>
              <a:rPr lang="en-GB" sz="2400" dirty="0" err="1"/>
              <a:t>evidencia</a:t>
            </a:r>
            <a:r>
              <a:rPr lang="en-GB" sz="2400" dirty="0"/>
              <a:t> para </a:t>
            </a:r>
            <a:r>
              <a:rPr lang="en-GB" sz="2400" dirty="0" err="1"/>
              <a:t>auditorías</a:t>
            </a:r>
            <a:r>
              <a:rPr lang="en-GB" sz="2400" dirty="0"/>
              <a:t>. </a:t>
            </a:r>
          </a:p>
        </p:txBody>
      </p:sp>
      <p:pic>
        <p:nvPicPr>
          <p:cNvPr id="7" name="Graphic 6" descr="Lights On with solid fill">
            <a:extLst>
              <a:ext uri="{FF2B5EF4-FFF2-40B4-BE49-F238E27FC236}">
                <a16:creationId xmlns:a16="http://schemas.microsoft.com/office/drawing/2014/main" id="{F417AA61-381F-080D-1F77-98C085D855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2043658"/>
            <a:ext cx="914400" cy="914400"/>
          </a:xfrm>
          <a:prstGeom prst="rect">
            <a:avLst/>
          </a:prstGeom>
        </p:spPr>
      </p:pic>
      <p:pic>
        <p:nvPicPr>
          <p:cNvPr id="8" name="Graphic 7" descr="Gears with solid fill">
            <a:extLst>
              <a:ext uri="{FF2B5EF4-FFF2-40B4-BE49-F238E27FC236}">
                <a16:creationId xmlns:a16="http://schemas.microsoft.com/office/drawing/2014/main" id="{FA4E0FBA-4EEF-1BFA-719F-04C559524B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627" y="38233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74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1D196-74E4-95A2-1846-2D49445C6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4954E-7939-66A1-DE53-4D53E468A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600" dirty="0"/>
              <a:t>7. De la confianza </a:t>
            </a:r>
            <a:r>
              <a:rPr lang="en-GB" sz="3600" dirty="0" err="1"/>
              <a:t>implícita</a:t>
            </a:r>
            <a:r>
              <a:rPr lang="en-GB" sz="3600" dirty="0"/>
              <a:t> a la confianza </a:t>
            </a:r>
            <a:r>
              <a:rPr lang="en-GB" sz="3600" dirty="0" err="1"/>
              <a:t>verificable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2844D-128C-56B5-2AB6-FFE93511F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14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83EFC32-52B4-7873-698A-6804B5834E6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95E38C-EC02-3F89-E434-D610C9715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539875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875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49E4D-06B8-864B-3263-8850435A5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89CEB-C2D4-954C-11A4-A31E18BC2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600" dirty="0" err="1"/>
              <a:t>Referencias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6D059-9817-2CED-3677-3D5497C95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15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C91EB66-345C-8558-4A50-E5A414CA4D7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ECBF22-275F-A820-BBC5-4546FB9D48CB}"/>
              </a:ext>
            </a:extLst>
          </p:cNvPr>
          <p:cNvSpPr txBox="1"/>
          <p:nvPr/>
        </p:nvSpPr>
        <p:spPr>
          <a:xfrm>
            <a:off x="1775460" y="2085360"/>
            <a:ext cx="90628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Williams, L., Benedetti, G., Hamer, S., </a:t>
            </a:r>
            <a:r>
              <a:rPr lang="en-GB" sz="2400" dirty="0" err="1"/>
              <a:t>Paramitha</a:t>
            </a:r>
            <a:r>
              <a:rPr lang="en-GB" sz="2400" dirty="0"/>
              <a:t>, R., Rahman, I., Tamanna, M., Tystahl, G., Zahan, N., Morrison, P., Acar, Y., Cukier, M., Kästner, C., Kapravelos, A., </a:t>
            </a:r>
            <a:r>
              <a:rPr lang="en-GB" sz="2400" dirty="0" err="1"/>
              <a:t>Wermke</a:t>
            </a:r>
            <a:r>
              <a:rPr lang="en-GB" sz="2400" dirty="0"/>
              <a:t>, D., &amp; Enck, W. (2025). </a:t>
            </a:r>
            <a:r>
              <a:rPr lang="en-GB" sz="2400" i="1" dirty="0"/>
              <a:t>Research directions in software supply chain security</a:t>
            </a:r>
            <a:r>
              <a:rPr lang="en-GB" sz="2400" dirty="0"/>
              <a:t>. </a:t>
            </a:r>
            <a:r>
              <a:rPr lang="en-GB" sz="2400" b="1" dirty="0"/>
              <a:t>ACM Transactions on Software Engineering and Methodology, 34</a:t>
            </a:r>
            <a:r>
              <a:rPr lang="en-GB" sz="2400" dirty="0"/>
              <a:t>(5), Article 146. </a:t>
            </a:r>
            <a:r>
              <a:rPr lang="en-GB" sz="2400" dirty="0">
                <a:hlinkClick r:id="rId3"/>
              </a:rPr>
              <a:t>https://doi.org/10.1145/3714464</a:t>
            </a:r>
            <a:endParaRPr lang="en-GB" sz="2400" dirty="0"/>
          </a:p>
        </p:txBody>
      </p:sp>
      <p:pic>
        <p:nvPicPr>
          <p:cNvPr id="10" name="Graphic 9" descr="Graduation cap with solid fill">
            <a:extLst>
              <a:ext uri="{FF2B5EF4-FFF2-40B4-BE49-F238E27FC236}">
                <a16:creationId xmlns:a16="http://schemas.microsoft.com/office/drawing/2014/main" id="{E728F8A1-B64C-BED5-C860-7013F9D450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661" y="19888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400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1623</TotalTime>
  <Words>532</Words>
  <Application>Microsoft Macintosh PowerPoint</Application>
  <PresentationFormat>Widescreen</PresentationFormat>
  <Paragraphs>76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Producción de Software</vt:lpstr>
      <vt:lpstr>Research Directions in Software Supply Chain Security</vt:lpstr>
      <vt:lpstr>1. El software moderno como cadena de suministro</vt:lpstr>
      <vt:lpstr>1. El software moderno como cadena de suministro</vt:lpstr>
      <vt:lpstr>2. Tres vectores principales de ataque</vt:lpstr>
      <vt:lpstr>2. Tres vectores principales de ataque</vt:lpstr>
      <vt:lpstr>3. Vector 1: dependencias y componentes</vt:lpstr>
      <vt:lpstr>3. Vector 1: dependencias y componentes</vt:lpstr>
      <vt:lpstr>4. Vector 2: infraestructura de build y deployment</vt:lpstr>
      <vt:lpstr>4. Vector 2: infraestructura de build y deployment</vt:lpstr>
      <vt:lpstr>5. Vector 3: humanos, cultura y confianza</vt:lpstr>
      <vt:lpstr>6. Temas transversales: SBOM, trazabilidad, LLMs y estándares</vt:lpstr>
      <vt:lpstr>6. Temas transversales: SBOM, trazabilidad, LLMs y estándares</vt:lpstr>
      <vt:lpstr>7. De la confianza implícita a la confianza verificable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Valenzuela, Pablo Andrés (INF)</dc:creator>
  <cp:lastModifiedBy>Valenzuela, Pablo Andrés (INF)</cp:lastModifiedBy>
  <cp:revision>13</cp:revision>
  <dcterms:created xsi:type="dcterms:W3CDTF">2026-04-27T15:47:00Z</dcterms:created>
  <dcterms:modified xsi:type="dcterms:W3CDTF">2026-05-11T18:59:10Z</dcterms:modified>
</cp:coreProperties>
</file>