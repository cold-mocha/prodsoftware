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80" r:id="rId5"/>
    <p:sldId id="258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99"/>
    <p:restoredTop sz="84440"/>
  </p:normalViewPr>
  <p:slideViewPr>
    <p:cSldViewPr>
      <p:cViewPr varScale="1">
        <p:scale>
          <a:sx n="113" d="100"/>
          <a:sy n="113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28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77A6-1B43-8597-75E6-0DE46A8F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FA698-CB65-FADC-9DD4-D2DD89311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DE307-CB71-5076-D040-51111E1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EEA8E-07E2-1DBA-FA85-139BE8CC3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77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7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11.05.26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11.05.26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11.05.26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11.05.26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11.05.26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11.05.26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11.05.26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11 Mayo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C4B8-3DC9-0278-8D2F-6E7A1274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Gestión</a:t>
            </a:r>
            <a:r>
              <a:rPr lang="en-GB" b="1" dirty="0"/>
              <a:t> de </a:t>
            </a:r>
            <a:r>
              <a:rPr lang="en-GB" b="1" dirty="0" err="1"/>
              <a:t>vulnerabilidades</a:t>
            </a:r>
            <a:r>
              <a:rPr lang="en-GB" b="1" dirty="0"/>
              <a:t> en la </a:t>
            </a:r>
            <a:r>
              <a:rPr lang="en-GB" b="1" dirty="0" err="1"/>
              <a:t>cadena</a:t>
            </a:r>
            <a:r>
              <a:rPr lang="en-GB" b="1" dirty="0"/>
              <a:t> de </a:t>
            </a:r>
            <a:r>
              <a:rPr lang="en-GB" b="1" dirty="0" err="1"/>
              <a:t>suministro</a:t>
            </a:r>
            <a:r>
              <a:rPr lang="en-GB" b="1" dirty="0"/>
              <a:t> de software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A6CB-BD5A-3326-8F74-2EDFF901D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Por </a:t>
            </a:r>
            <a:r>
              <a:rPr lang="en-GB" dirty="0" err="1"/>
              <a:t>qué</a:t>
            </a:r>
            <a:r>
              <a:rPr lang="en-GB" dirty="0"/>
              <a:t> </a:t>
            </a:r>
            <a:r>
              <a:rPr lang="en-GB" dirty="0" err="1"/>
              <a:t>ya</a:t>
            </a:r>
            <a:r>
              <a:rPr lang="en-GB" dirty="0"/>
              <a:t> no basta con </a:t>
            </a:r>
            <a:r>
              <a:rPr lang="en-GB" dirty="0" err="1"/>
              <a:t>analizar</a:t>
            </a:r>
            <a:r>
              <a:rPr lang="en-GB" dirty="0"/>
              <a:t> solo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código</a:t>
            </a:r>
            <a:r>
              <a:rPr lang="en-GB" dirty="0"/>
              <a:t> </a:t>
            </a:r>
            <a:r>
              <a:rPr lang="en-GB" dirty="0" err="1"/>
              <a:t>propio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Qué</a:t>
            </a:r>
            <a:r>
              <a:rPr lang="en-GB" dirty="0"/>
              <a:t> es la </a:t>
            </a:r>
            <a:r>
              <a:rPr lang="en-GB" dirty="0" err="1"/>
              <a:t>cadena</a:t>
            </a:r>
            <a:r>
              <a:rPr lang="en-GB" dirty="0"/>
              <a:t> de </a:t>
            </a:r>
            <a:r>
              <a:rPr lang="en-GB" dirty="0" err="1"/>
              <a:t>suministro</a:t>
            </a:r>
            <a:r>
              <a:rPr lang="en-GB" dirty="0"/>
              <a:t> de software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De </a:t>
            </a:r>
            <a:r>
              <a:rPr lang="en-GB" dirty="0" err="1"/>
              <a:t>encontrar</a:t>
            </a:r>
            <a:r>
              <a:rPr lang="en-GB" dirty="0"/>
              <a:t> </a:t>
            </a:r>
            <a:r>
              <a:rPr lang="en-GB" dirty="0" err="1"/>
              <a:t>vulnerabilidades</a:t>
            </a:r>
            <a:r>
              <a:rPr lang="en-GB" dirty="0"/>
              <a:t> a </a:t>
            </a:r>
            <a:r>
              <a:rPr lang="en-GB" dirty="0" err="1"/>
              <a:t>gestionar</a:t>
            </a:r>
            <a:r>
              <a:rPr lang="en-GB" dirty="0"/>
              <a:t> </a:t>
            </a:r>
            <a:r>
              <a:rPr lang="en-GB" dirty="0" err="1"/>
              <a:t>exposición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Areas de </a:t>
            </a:r>
            <a:r>
              <a:rPr lang="en-GB" dirty="0" err="1"/>
              <a:t>seguridad</a:t>
            </a:r>
            <a:r>
              <a:rPr lang="en-GB" dirty="0"/>
              <a:t>: </a:t>
            </a:r>
            <a:r>
              <a:rPr lang="en-GB" dirty="0" err="1"/>
              <a:t>ordenar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proceso</a:t>
            </a:r>
            <a:r>
              <a:rPr lang="en-GB" dirty="0"/>
              <a:t> con P-SSCRM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Qué</a:t>
            </a:r>
            <a:r>
              <a:rPr lang="en-GB" dirty="0"/>
              <a:t> </a:t>
            </a:r>
            <a:r>
              <a:rPr lang="en-GB" dirty="0" err="1"/>
              <a:t>están</a:t>
            </a:r>
            <a:r>
              <a:rPr lang="en-GB" dirty="0"/>
              <a:t> </a:t>
            </a:r>
            <a:r>
              <a:rPr lang="en-GB" dirty="0" err="1"/>
              <a:t>adoptando</a:t>
            </a:r>
            <a:r>
              <a:rPr lang="en-GB" dirty="0"/>
              <a:t> </a:t>
            </a:r>
            <a:r>
              <a:rPr lang="en-GB" dirty="0" err="1"/>
              <a:t>realmente</a:t>
            </a:r>
            <a:r>
              <a:rPr lang="en-GB" dirty="0"/>
              <a:t> las </a:t>
            </a:r>
            <a:r>
              <a:rPr lang="en-GB" dirty="0" err="1"/>
              <a:t>organizaciones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Transformar</a:t>
            </a:r>
            <a:r>
              <a:rPr lang="en-GB" dirty="0"/>
              <a:t> </a:t>
            </a:r>
            <a:r>
              <a:rPr lang="en-GB" dirty="0" err="1"/>
              <a:t>evidencia</a:t>
            </a:r>
            <a:r>
              <a:rPr lang="en-GB" dirty="0"/>
              <a:t> en </a:t>
            </a:r>
            <a:r>
              <a:rPr lang="en-GB" dirty="0" err="1"/>
              <a:t>decisiones</a:t>
            </a:r>
            <a:endParaRPr lang="en-GB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Cierre: de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aisladas</a:t>
            </a:r>
            <a:r>
              <a:rPr lang="en-GB" dirty="0"/>
              <a:t> a </a:t>
            </a:r>
            <a:r>
              <a:rPr lang="en-GB" dirty="0" err="1"/>
              <a:t>gestión</a:t>
            </a:r>
            <a:r>
              <a:rPr lang="en-GB" dirty="0"/>
              <a:t> continua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1D78-58CC-3EF4-A7FF-4E07E65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6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7933-4A48-025B-FEDF-A3C2E1DE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460" y="663257"/>
            <a:ext cx="957834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¿</a:t>
            </a:r>
            <a:r>
              <a:rPr lang="en-GB" sz="2800" dirty="0" err="1"/>
              <a:t>Dónde</a:t>
            </a:r>
            <a:r>
              <a:rPr lang="en-GB" sz="2800" dirty="0"/>
              <a:t> </a:t>
            </a:r>
            <a:r>
              <a:rPr lang="en-GB" sz="2800" dirty="0" err="1"/>
              <a:t>puede</a:t>
            </a:r>
            <a:r>
              <a:rPr lang="en-GB" sz="2800" dirty="0"/>
              <a:t> </a:t>
            </a:r>
            <a:r>
              <a:rPr lang="en-GB" sz="2800" dirty="0" err="1"/>
              <a:t>entrar</a:t>
            </a:r>
            <a:r>
              <a:rPr lang="en-GB" sz="2800" dirty="0"/>
              <a:t> </a:t>
            </a:r>
            <a:r>
              <a:rPr lang="en-GB" sz="2800" dirty="0" err="1"/>
              <a:t>una</a:t>
            </a:r>
            <a:r>
              <a:rPr lang="en-GB" sz="2800" dirty="0"/>
              <a:t> </a:t>
            </a:r>
            <a:r>
              <a:rPr lang="en-GB" sz="2800" dirty="0" err="1"/>
              <a:t>vulnerabilidad</a:t>
            </a:r>
            <a:r>
              <a:rPr lang="en-GB" sz="2800" dirty="0"/>
              <a:t> en </a:t>
            </a:r>
            <a:r>
              <a:rPr lang="en-GB" sz="2800" dirty="0" err="1"/>
              <a:t>una</a:t>
            </a:r>
            <a:r>
              <a:rPr lang="en-GB" sz="2800" dirty="0"/>
              <a:t> </a:t>
            </a:r>
            <a:r>
              <a:rPr lang="en-GB" sz="2800" dirty="0" err="1"/>
              <a:t>aplicación</a:t>
            </a:r>
            <a:r>
              <a:rPr lang="en-GB" sz="2800" dirty="0"/>
              <a:t> moderna?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937E-1FFC-8F94-6799-F776588F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27B060-22D7-EA8D-B8F8-2D3EF4956F9E}"/>
              </a:ext>
            </a:extLst>
          </p:cNvPr>
          <p:cNvSpPr txBox="1">
            <a:spLocks/>
          </p:cNvSpPr>
          <p:nvPr/>
        </p:nvSpPr>
        <p:spPr>
          <a:xfrm>
            <a:off x="1775460" y="2650881"/>
            <a:ext cx="9578340" cy="13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2800" dirty="0"/>
              <a:t>¿</a:t>
            </a:r>
            <a:r>
              <a:rPr lang="en-GB" sz="2800" dirty="0" err="1"/>
              <a:t>Qué</a:t>
            </a:r>
            <a:r>
              <a:rPr lang="en-GB" sz="2800" dirty="0"/>
              <a:t> </a:t>
            </a:r>
            <a:r>
              <a:rPr lang="en-GB" sz="2800" dirty="0" err="1"/>
              <a:t>diferencia</a:t>
            </a:r>
            <a:r>
              <a:rPr lang="en-GB" sz="2800" dirty="0"/>
              <a:t> hay entre </a:t>
            </a:r>
            <a:r>
              <a:rPr lang="en-GB" sz="2800" dirty="0" err="1"/>
              <a:t>una</a:t>
            </a:r>
            <a:r>
              <a:rPr lang="en-GB" sz="2800" dirty="0"/>
              <a:t> </a:t>
            </a:r>
            <a:r>
              <a:rPr lang="en-GB" sz="2800" dirty="0" err="1"/>
              <a:t>vulnerabilidad</a:t>
            </a:r>
            <a:r>
              <a:rPr lang="en-GB" sz="2800" dirty="0"/>
              <a:t> </a:t>
            </a:r>
            <a:r>
              <a:rPr lang="en-GB" sz="2800" dirty="0" err="1"/>
              <a:t>introducida</a:t>
            </a:r>
            <a:r>
              <a:rPr lang="en-GB" sz="2800" dirty="0"/>
              <a:t> </a:t>
            </a:r>
            <a:r>
              <a:rPr lang="en-GB" sz="2800" dirty="0" err="1"/>
              <a:t>accidentalmente</a:t>
            </a:r>
            <a:r>
              <a:rPr lang="en-GB" sz="2800" dirty="0"/>
              <a:t> </a:t>
            </a:r>
            <a:r>
              <a:rPr lang="en-GB" sz="2800" dirty="0" err="1"/>
              <a:t>por</a:t>
            </a:r>
            <a:r>
              <a:rPr lang="en-GB" sz="2800" dirty="0"/>
              <a:t> un </a:t>
            </a:r>
            <a:r>
              <a:rPr lang="en-GB" sz="2800" dirty="0" err="1"/>
              <a:t>desarrollador</a:t>
            </a:r>
            <a:r>
              <a:rPr lang="en-GB" sz="2800" dirty="0"/>
              <a:t> y </a:t>
            </a:r>
            <a:r>
              <a:rPr lang="en-GB" sz="2800" dirty="0" err="1"/>
              <a:t>una</a:t>
            </a:r>
            <a:r>
              <a:rPr lang="en-GB" sz="2800" dirty="0"/>
              <a:t> </a:t>
            </a:r>
            <a:r>
              <a:rPr lang="en-GB" sz="2800" dirty="0" err="1"/>
              <a:t>vulnerabilidad</a:t>
            </a:r>
            <a:r>
              <a:rPr lang="en-GB" sz="2800" dirty="0"/>
              <a:t> </a:t>
            </a:r>
            <a:r>
              <a:rPr lang="en-GB" sz="2800" dirty="0" err="1"/>
              <a:t>introducida</a:t>
            </a:r>
            <a:r>
              <a:rPr lang="en-GB" sz="2800" dirty="0"/>
              <a:t> </a:t>
            </a:r>
            <a:r>
              <a:rPr lang="en-GB" sz="2800" dirty="0" err="1"/>
              <a:t>deliberadamente</a:t>
            </a:r>
            <a:r>
              <a:rPr lang="en-GB" sz="2800" dirty="0"/>
              <a:t> a </a:t>
            </a:r>
            <a:r>
              <a:rPr lang="en-GB" sz="2800" dirty="0" err="1"/>
              <a:t>través</a:t>
            </a:r>
            <a:r>
              <a:rPr lang="en-GB" sz="2800" dirty="0"/>
              <a:t> de </a:t>
            </a:r>
            <a:r>
              <a:rPr lang="en-GB" sz="2800" dirty="0" err="1"/>
              <a:t>una</a:t>
            </a:r>
            <a:r>
              <a:rPr lang="en-GB" sz="2800" dirty="0"/>
              <a:t> </a:t>
            </a:r>
            <a:r>
              <a:rPr lang="en-GB" sz="2800" dirty="0" err="1"/>
              <a:t>dependencia</a:t>
            </a:r>
            <a:r>
              <a:rPr lang="en-GB" sz="2800" dirty="0"/>
              <a:t> o del </a:t>
            </a:r>
            <a:r>
              <a:rPr lang="en-GB" sz="2800" dirty="0" err="1"/>
              <a:t>proceso</a:t>
            </a:r>
            <a:r>
              <a:rPr lang="en-GB" sz="2800" dirty="0"/>
              <a:t> de build?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9E6252F-5EF7-D455-3B4B-FD7CA63FB9D3}"/>
              </a:ext>
            </a:extLst>
          </p:cNvPr>
          <p:cNvSpPr txBox="1">
            <a:spLocks/>
          </p:cNvSpPr>
          <p:nvPr/>
        </p:nvSpPr>
        <p:spPr>
          <a:xfrm>
            <a:off x="1775460" y="4983797"/>
            <a:ext cx="95783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2800" dirty="0"/>
              <a:t>Cuando </a:t>
            </a:r>
            <a:r>
              <a:rPr lang="en-GB" sz="2800" dirty="0" err="1"/>
              <a:t>una</a:t>
            </a:r>
            <a:r>
              <a:rPr lang="en-GB" sz="2800" dirty="0"/>
              <a:t> </a:t>
            </a:r>
            <a:r>
              <a:rPr lang="en-GB" sz="2800" dirty="0" err="1"/>
              <a:t>organización</a:t>
            </a:r>
            <a:r>
              <a:rPr lang="en-GB" sz="2800" dirty="0"/>
              <a:t> </a:t>
            </a:r>
            <a:r>
              <a:rPr lang="en-GB" sz="2800" dirty="0" err="1"/>
              <a:t>usa</a:t>
            </a:r>
            <a:r>
              <a:rPr lang="en-GB" sz="2800" dirty="0"/>
              <a:t> </a:t>
            </a:r>
            <a:r>
              <a:rPr lang="en-GB" sz="2800" dirty="0" err="1"/>
              <a:t>componentes</a:t>
            </a:r>
            <a:r>
              <a:rPr lang="en-GB" sz="2800" dirty="0"/>
              <a:t> </a:t>
            </a:r>
            <a:r>
              <a:rPr lang="en-GB" sz="2800" dirty="0" err="1"/>
              <a:t>externos</a:t>
            </a:r>
            <a:r>
              <a:rPr lang="en-GB" sz="2800" dirty="0"/>
              <a:t> para </a:t>
            </a:r>
            <a:r>
              <a:rPr lang="en-GB" sz="2800" dirty="0" err="1"/>
              <a:t>acelerar</a:t>
            </a:r>
            <a:r>
              <a:rPr lang="en-GB" sz="2800" dirty="0"/>
              <a:t> </a:t>
            </a:r>
            <a:r>
              <a:rPr lang="en-GB" sz="2800" dirty="0" err="1"/>
              <a:t>el</a:t>
            </a:r>
            <a:r>
              <a:rPr lang="en-GB" sz="2800" dirty="0"/>
              <a:t> </a:t>
            </a:r>
            <a:r>
              <a:rPr lang="en-GB" sz="2800" dirty="0" err="1"/>
              <a:t>desarrollo</a:t>
            </a:r>
            <a:r>
              <a:rPr lang="en-GB" sz="2800" dirty="0"/>
              <a:t>, ¿</a:t>
            </a:r>
            <a:r>
              <a:rPr lang="en-GB" sz="2800" dirty="0" err="1"/>
              <a:t>está</a:t>
            </a:r>
            <a:r>
              <a:rPr lang="en-GB" sz="2800" dirty="0"/>
              <a:t> </a:t>
            </a:r>
            <a:r>
              <a:rPr lang="en-GB" sz="2800" dirty="0" err="1"/>
              <a:t>reduciendo</a:t>
            </a:r>
            <a:r>
              <a:rPr lang="en-GB" sz="2800" dirty="0"/>
              <a:t> </a:t>
            </a:r>
            <a:r>
              <a:rPr lang="en-GB" sz="2800" dirty="0" err="1"/>
              <a:t>costos</a:t>
            </a:r>
            <a:r>
              <a:rPr lang="en-GB" sz="2800" dirty="0"/>
              <a:t> o </a:t>
            </a:r>
            <a:r>
              <a:rPr lang="en-GB" sz="2800" dirty="0" err="1"/>
              <a:t>está</a:t>
            </a:r>
            <a:r>
              <a:rPr lang="en-GB" sz="2800" dirty="0"/>
              <a:t> </a:t>
            </a:r>
            <a:r>
              <a:rPr lang="en-GB" sz="2800" dirty="0" err="1"/>
              <a:t>desplazando</a:t>
            </a:r>
            <a:r>
              <a:rPr lang="en-GB" sz="2800" dirty="0"/>
              <a:t> </a:t>
            </a:r>
            <a:r>
              <a:rPr lang="en-GB" sz="2800" dirty="0" err="1"/>
              <a:t>parte</a:t>
            </a:r>
            <a:r>
              <a:rPr lang="en-GB" sz="2800" dirty="0"/>
              <a:t> del </a:t>
            </a:r>
            <a:r>
              <a:rPr lang="en-GB" sz="2800" dirty="0" err="1"/>
              <a:t>riesgo</a:t>
            </a:r>
            <a:r>
              <a:rPr lang="en-GB" sz="2800" dirty="0"/>
              <a:t> </a:t>
            </a:r>
            <a:r>
              <a:rPr lang="en-GB" sz="2800" dirty="0" err="1"/>
              <a:t>hacia</a:t>
            </a:r>
            <a:r>
              <a:rPr lang="en-GB" sz="2800" dirty="0"/>
              <a:t> </a:t>
            </a:r>
            <a:r>
              <a:rPr lang="en-GB" sz="2800" dirty="0" err="1"/>
              <a:t>una</a:t>
            </a:r>
            <a:r>
              <a:rPr lang="en-GB" sz="2800" dirty="0"/>
              <a:t> zona </a:t>
            </a:r>
            <a:r>
              <a:rPr lang="en-GB" sz="2800" dirty="0" err="1"/>
              <a:t>menos</a:t>
            </a:r>
            <a:r>
              <a:rPr lang="en-GB" sz="2800" dirty="0"/>
              <a:t> visible?</a:t>
            </a:r>
          </a:p>
        </p:txBody>
      </p:sp>
      <p:pic>
        <p:nvPicPr>
          <p:cNvPr id="5" name="Graphic 4" descr="Badge Question Mark with solid fill">
            <a:extLst>
              <a:ext uri="{FF2B5EF4-FFF2-40B4-BE49-F238E27FC236}">
                <a16:creationId xmlns:a16="http://schemas.microsoft.com/office/drawing/2014/main" id="{DDFF747E-FA34-892C-084C-2C9D55488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868838"/>
            <a:ext cx="914400" cy="914400"/>
          </a:xfrm>
          <a:prstGeom prst="rect">
            <a:avLst/>
          </a:prstGeom>
        </p:spPr>
      </p:pic>
      <p:pic>
        <p:nvPicPr>
          <p:cNvPr id="3" name="Graphic 2" descr="Badge Question Mark with solid fill">
            <a:extLst>
              <a:ext uri="{FF2B5EF4-FFF2-40B4-BE49-F238E27FC236}">
                <a16:creationId xmlns:a16="http://schemas.microsoft.com/office/drawing/2014/main" id="{90A47A23-D8D4-0F37-3169-F9CFB3317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" y="2890594"/>
            <a:ext cx="914400" cy="914400"/>
          </a:xfrm>
          <a:prstGeom prst="rect">
            <a:avLst/>
          </a:prstGeom>
        </p:spPr>
      </p:pic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9A314E64-5A28-6EF1-18CE-33DE33B04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51893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9C90-7C84-CA95-122E-B0E60046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EEB5-47F1-9C04-2B84-48AC0FCD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1. Por </a:t>
            </a:r>
            <a:r>
              <a:rPr lang="en-GB" sz="3600" dirty="0" err="1"/>
              <a:t>qué</a:t>
            </a:r>
            <a:r>
              <a:rPr lang="en-GB" sz="3600" dirty="0"/>
              <a:t> </a:t>
            </a:r>
            <a:r>
              <a:rPr lang="en-GB" sz="3600" dirty="0" err="1"/>
              <a:t>ya</a:t>
            </a:r>
            <a:r>
              <a:rPr lang="en-GB" sz="3600" dirty="0"/>
              <a:t> no basta con </a:t>
            </a:r>
            <a:r>
              <a:rPr lang="en-GB" sz="3600" dirty="0" err="1"/>
              <a:t>analizar</a:t>
            </a:r>
            <a:r>
              <a:rPr lang="en-GB" sz="3600" dirty="0"/>
              <a:t> solo </a:t>
            </a:r>
            <a:r>
              <a:rPr lang="en-GB" sz="3600" dirty="0" err="1"/>
              <a:t>el</a:t>
            </a:r>
            <a:r>
              <a:rPr lang="en-GB" sz="3600" dirty="0"/>
              <a:t>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propio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B3840-ABEC-9DA0-8BB6-02A9D617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3B7A94-B6F9-0BDA-9C08-B0257E07E0B5}"/>
              </a:ext>
            </a:extLst>
          </p:cNvPr>
          <p:cNvSpPr/>
          <p:nvPr/>
        </p:nvSpPr>
        <p:spPr>
          <a:xfrm>
            <a:off x="3502660" y="1928654"/>
            <a:ext cx="2880360" cy="2582228"/>
          </a:xfrm>
          <a:prstGeom prst="ellipse">
            <a:avLst/>
          </a:prstGeom>
          <a:solidFill>
            <a:schemeClr val="accent5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Dependencias</a:t>
            </a:r>
            <a:r>
              <a:rPr lang="en-US" b="1" dirty="0">
                <a:solidFill>
                  <a:schemeClr val="tx1"/>
                </a:solidFill>
              </a:rPr>
              <a:t> de Código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9105B7-C612-79F7-210E-C2CC736382DF}"/>
              </a:ext>
            </a:extLst>
          </p:cNvPr>
          <p:cNvSpPr/>
          <p:nvPr/>
        </p:nvSpPr>
        <p:spPr>
          <a:xfrm>
            <a:off x="6096000" y="1988820"/>
            <a:ext cx="2880360" cy="2582228"/>
          </a:xfrm>
          <a:prstGeom prst="ellipse">
            <a:avLst/>
          </a:prstGeom>
          <a:solidFill>
            <a:schemeClr val="accent4">
              <a:lumMod val="40000"/>
              <a:lumOff val="6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Humanos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17A834-46E0-6C68-3BF6-790CF98C695F}"/>
              </a:ext>
            </a:extLst>
          </p:cNvPr>
          <p:cNvSpPr/>
          <p:nvPr/>
        </p:nvSpPr>
        <p:spPr>
          <a:xfrm>
            <a:off x="4799330" y="3340100"/>
            <a:ext cx="2880360" cy="2582228"/>
          </a:xfrm>
          <a:prstGeom prst="ellipse">
            <a:avLst/>
          </a:prstGeom>
          <a:solidFill>
            <a:schemeClr val="accent6">
              <a:lumMod val="40000"/>
              <a:lumOff val="6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CI/CD</a:t>
            </a:r>
          </a:p>
        </p:txBody>
      </p:sp>
    </p:spTree>
    <p:extLst>
      <p:ext uri="{BB962C8B-B14F-4D97-AF65-F5344CB8AC3E}">
        <p14:creationId xmlns:p14="http://schemas.microsoft.com/office/powerpoint/2010/main" val="205214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21B0-EFB9-D9B0-26D8-FFDE408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2. </a:t>
            </a:r>
            <a:r>
              <a:rPr lang="en-GB" sz="4000" dirty="0" err="1"/>
              <a:t>Qué</a:t>
            </a:r>
            <a:r>
              <a:rPr lang="en-GB" sz="4000" dirty="0"/>
              <a:t> es la </a:t>
            </a:r>
            <a:r>
              <a:rPr lang="en-GB" sz="4000" dirty="0" err="1"/>
              <a:t>cadena</a:t>
            </a:r>
            <a:r>
              <a:rPr lang="en-GB" sz="4000" dirty="0"/>
              <a:t> de </a:t>
            </a:r>
            <a:r>
              <a:rPr lang="en-GB" sz="4000" dirty="0" err="1"/>
              <a:t>suministro</a:t>
            </a:r>
            <a:r>
              <a:rPr lang="en-GB" sz="4000" dirty="0"/>
              <a:t> de software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C2D38-FAB1-ACB4-5EEB-0BB2446B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87585-6D17-C011-8C1D-A883F5A7A71E}"/>
              </a:ext>
            </a:extLst>
          </p:cNvPr>
          <p:cNvSpPr txBox="1"/>
          <p:nvPr/>
        </p:nvSpPr>
        <p:spPr>
          <a:xfrm>
            <a:off x="1775460" y="1859340"/>
            <a:ext cx="9062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Dónde</a:t>
            </a:r>
            <a:r>
              <a:rPr lang="en-GB" sz="2400" dirty="0"/>
              <a:t> termina </a:t>
            </a:r>
            <a:r>
              <a:rPr lang="en-GB" sz="2400" dirty="0" err="1"/>
              <a:t>realmente</a:t>
            </a:r>
            <a:r>
              <a:rPr lang="en-GB" sz="2400" dirty="0"/>
              <a:t> </a:t>
            </a:r>
            <a:r>
              <a:rPr lang="en-GB" sz="2400" dirty="0" err="1"/>
              <a:t>el</a:t>
            </a:r>
            <a:r>
              <a:rPr lang="en-GB" sz="2400" dirty="0"/>
              <a:t> “software”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desarrolla</a:t>
            </a:r>
            <a:r>
              <a:rPr lang="en-GB" sz="2400" dirty="0"/>
              <a:t> un </a:t>
            </a:r>
            <a:r>
              <a:rPr lang="en-GB" sz="2400" dirty="0" err="1"/>
              <a:t>equipo</a:t>
            </a:r>
            <a:r>
              <a:rPr lang="en-GB" sz="2400" dirty="0"/>
              <a:t>: en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código</a:t>
            </a:r>
            <a:r>
              <a:rPr lang="en-GB" sz="2400" dirty="0"/>
              <a:t> </a:t>
            </a:r>
            <a:r>
              <a:rPr lang="en-GB" sz="2400" dirty="0" err="1"/>
              <a:t>fuente</a:t>
            </a:r>
            <a:r>
              <a:rPr lang="en-GB" sz="2400" dirty="0"/>
              <a:t>, en las </a:t>
            </a:r>
            <a:r>
              <a:rPr lang="en-GB" sz="2400" dirty="0" err="1"/>
              <a:t>dependencias</a:t>
            </a:r>
            <a:r>
              <a:rPr lang="en-GB" sz="2400" dirty="0"/>
              <a:t>, en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artefacto</a:t>
            </a:r>
            <a:r>
              <a:rPr lang="en-GB" sz="2400" dirty="0"/>
              <a:t> </a:t>
            </a:r>
            <a:r>
              <a:rPr lang="en-GB" sz="2400" dirty="0" err="1"/>
              <a:t>compilado</a:t>
            </a:r>
            <a:r>
              <a:rPr lang="en-GB" sz="2400" dirty="0"/>
              <a:t>, en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contenedor</a:t>
            </a:r>
            <a:r>
              <a:rPr lang="en-GB" sz="2400" dirty="0"/>
              <a:t>, en </a:t>
            </a:r>
            <a:r>
              <a:rPr lang="en-GB" sz="2400" dirty="0" err="1"/>
              <a:t>el</a:t>
            </a:r>
            <a:r>
              <a:rPr lang="en-GB" sz="2400" dirty="0"/>
              <a:t> pipeline o en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sistema</a:t>
            </a:r>
            <a:r>
              <a:rPr lang="en-GB" sz="2400" dirty="0"/>
              <a:t> </a:t>
            </a:r>
            <a:r>
              <a:rPr lang="en-GB" sz="2400" dirty="0" err="1"/>
              <a:t>desplegado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D7142-747B-167C-57BE-A5C9512FA24E}"/>
              </a:ext>
            </a:extLst>
          </p:cNvPr>
          <p:cNvSpPr txBox="1"/>
          <p:nvPr/>
        </p:nvSpPr>
        <p:spPr>
          <a:xfrm>
            <a:off x="1775460" y="3752016"/>
            <a:ext cx="9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 dos </a:t>
            </a:r>
            <a:r>
              <a:rPr lang="en-GB" sz="2400" dirty="0" err="1"/>
              <a:t>equipos</a:t>
            </a:r>
            <a:r>
              <a:rPr lang="en-GB" sz="2400" dirty="0"/>
              <a:t> </a:t>
            </a:r>
            <a:r>
              <a:rPr lang="en-GB" sz="2400" dirty="0" err="1"/>
              <a:t>usan</a:t>
            </a:r>
            <a:r>
              <a:rPr lang="en-GB" sz="2400" dirty="0"/>
              <a:t>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mismo</a:t>
            </a:r>
            <a:r>
              <a:rPr lang="en-GB" sz="2400" dirty="0"/>
              <a:t> </a:t>
            </a:r>
            <a:r>
              <a:rPr lang="en-GB" sz="2400" dirty="0" err="1"/>
              <a:t>código</a:t>
            </a:r>
            <a:r>
              <a:rPr lang="en-GB" sz="2400" dirty="0"/>
              <a:t> </a:t>
            </a:r>
            <a:r>
              <a:rPr lang="en-GB" sz="2400" dirty="0" err="1"/>
              <a:t>fuente</a:t>
            </a:r>
            <a:r>
              <a:rPr lang="en-GB" sz="2400" dirty="0"/>
              <a:t>, </a:t>
            </a:r>
            <a:r>
              <a:rPr lang="en-GB" sz="2400" dirty="0" err="1"/>
              <a:t>pero</a:t>
            </a:r>
            <a:r>
              <a:rPr lang="en-GB" sz="2400" dirty="0"/>
              <a:t> </a:t>
            </a:r>
            <a:r>
              <a:rPr lang="en-GB" sz="2400" dirty="0" err="1"/>
              <a:t>distintos</a:t>
            </a:r>
            <a:r>
              <a:rPr lang="en-GB" sz="2400" dirty="0"/>
              <a:t> pipelines, </a:t>
            </a:r>
            <a:r>
              <a:rPr lang="en-GB" sz="2400" dirty="0" err="1"/>
              <a:t>imágenes</a:t>
            </a:r>
            <a:r>
              <a:rPr lang="en-GB" sz="2400" dirty="0"/>
              <a:t> base, </a:t>
            </a:r>
            <a:r>
              <a:rPr lang="en-GB" sz="2400" dirty="0" err="1"/>
              <a:t>secretos</a:t>
            </a:r>
            <a:r>
              <a:rPr lang="en-GB" sz="2400" dirty="0"/>
              <a:t> y </a:t>
            </a:r>
            <a:r>
              <a:rPr lang="en-GB" sz="2400" dirty="0" err="1"/>
              <a:t>dependencias</a:t>
            </a:r>
            <a:r>
              <a:rPr lang="en-GB" sz="2400" dirty="0"/>
              <a:t> </a:t>
            </a:r>
            <a:r>
              <a:rPr lang="en-GB" sz="2400" dirty="0" err="1"/>
              <a:t>transitivas</a:t>
            </a:r>
            <a:r>
              <a:rPr lang="en-GB" sz="2400" dirty="0"/>
              <a:t>, ¿</a:t>
            </a:r>
            <a:r>
              <a:rPr lang="en-GB" sz="2400" dirty="0" err="1"/>
              <a:t>producen</a:t>
            </a:r>
            <a:r>
              <a:rPr lang="en-GB" sz="2400" dirty="0"/>
              <a:t>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mismo</a:t>
            </a:r>
            <a:r>
              <a:rPr lang="en-GB" sz="2400" dirty="0"/>
              <a:t> software </a:t>
            </a:r>
            <a:r>
              <a:rPr lang="en-GB" sz="2400" dirty="0" err="1"/>
              <a:t>desde</a:t>
            </a:r>
            <a:r>
              <a:rPr lang="en-GB" sz="2400" dirty="0"/>
              <a:t> </a:t>
            </a:r>
            <a:r>
              <a:rPr lang="en-GB" sz="2400" dirty="0" err="1"/>
              <a:t>el</a:t>
            </a:r>
            <a:r>
              <a:rPr lang="en-GB" sz="2400" dirty="0"/>
              <a:t> punto de vista de </a:t>
            </a:r>
            <a:r>
              <a:rPr lang="en-GB" sz="2400" dirty="0" err="1"/>
              <a:t>seguridad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DBE42-1AF0-47B0-5844-12CD32017153}"/>
              </a:ext>
            </a:extLst>
          </p:cNvPr>
          <p:cNvSpPr txBox="1"/>
          <p:nvPr/>
        </p:nvSpPr>
        <p:spPr>
          <a:xfrm>
            <a:off x="1775460" y="5275362"/>
            <a:ext cx="906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elementos</a:t>
            </a:r>
            <a:r>
              <a:rPr lang="en-GB" sz="2400" dirty="0"/>
              <a:t> de la </a:t>
            </a:r>
            <a:r>
              <a:rPr lang="en-GB" sz="2400" dirty="0" err="1"/>
              <a:t>cadena</a:t>
            </a:r>
            <a:r>
              <a:rPr lang="en-GB" sz="2400" dirty="0"/>
              <a:t> de </a:t>
            </a:r>
            <a:r>
              <a:rPr lang="en-GB" sz="2400" dirty="0" err="1"/>
              <a:t>suministro</a:t>
            </a:r>
            <a:r>
              <a:rPr lang="en-GB" sz="2400" dirty="0"/>
              <a:t> son </a:t>
            </a:r>
            <a:r>
              <a:rPr lang="en-GB" sz="2400" dirty="0" err="1"/>
              <a:t>más</a:t>
            </a:r>
            <a:r>
              <a:rPr lang="en-GB" sz="2400" dirty="0"/>
              <a:t> </a:t>
            </a:r>
            <a:r>
              <a:rPr lang="en-GB" sz="2400" dirty="0" err="1"/>
              <a:t>difíciles</a:t>
            </a:r>
            <a:r>
              <a:rPr lang="en-GB" sz="2400" dirty="0"/>
              <a:t> de </a:t>
            </a:r>
            <a:r>
              <a:rPr lang="en-GB" sz="2400" dirty="0" err="1"/>
              <a:t>observar</a:t>
            </a:r>
            <a:r>
              <a:rPr lang="en-GB" sz="2400" dirty="0"/>
              <a:t>: </a:t>
            </a:r>
            <a:r>
              <a:rPr lang="en-GB" sz="2400" dirty="0" err="1"/>
              <a:t>los</a:t>
            </a:r>
            <a:r>
              <a:rPr lang="en-GB" sz="2400" dirty="0"/>
              <a:t> </a:t>
            </a:r>
            <a:r>
              <a:rPr lang="en-GB" sz="2400" dirty="0" err="1"/>
              <a:t>componentes</a:t>
            </a:r>
            <a:r>
              <a:rPr lang="en-GB" sz="2400" dirty="0"/>
              <a:t>, </a:t>
            </a:r>
            <a:r>
              <a:rPr lang="en-GB" sz="2400" dirty="0" err="1"/>
              <a:t>los</a:t>
            </a:r>
            <a:r>
              <a:rPr lang="en-GB" sz="2400" dirty="0"/>
              <a:t> </a:t>
            </a:r>
            <a:r>
              <a:rPr lang="en-GB" sz="2400" dirty="0" err="1"/>
              <a:t>procesos</a:t>
            </a:r>
            <a:r>
              <a:rPr lang="en-GB" sz="2400" dirty="0"/>
              <a:t> </a:t>
            </a:r>
            <a:r>
              <a:rPr lang="en-GB" sz="2400" dirty="0" err="1"/>
              <a:t>automatizados</a:t>
            </a:r>
            <a:r>
              <a:rPr lang="en-GB" sz="2400" dirty="0"/>
              <a:t> o las </a:t>
            </a:r>
            <a:r>
              <a:rPr lang="en-GB" sz="2400" dirty="0" err="1"/>
              <a:t>decisiones</a:t>
            </a:r>
            <a:r>
              <a:rPr lang="en-GB" sz="2400" dirty="0"/>
              <a:t> </a:t>
            </a:r>
            <a:r>
              <a:rPr lang="en-GB" sz="2400" dirty="0" err="1"/>
              <a:t>humanas</a:t>
            </a:r>
            <a:r>
              <a:rPr lang="en-GB" sz="2400" dirty="0"/>
              <a:t>? ¿Por </a:t>
            </a:r>
            <a:r>
              <a:rPr lang="en-GB" sz="2400" dirty="0" err="1"/>
              <a:t>qué</a:t>
            </a:r>
            <a:r>
              <a:rPr lang="en-GB" sz="2400" dirty="0"/>
              <a:t>?</a:t>
            </a:r>
            <a:endParaRPr lang="en-US" sz="2400" dirty="0"/>
          </a:p>
        </p:txBody>
      </p:sp>
      <p:pic>
        <p:nvPicPr>
          <p:cNvPr id="3" name="Graphic 2" descr="Badge Question Mark with solid fill">
            <a:extLst>
              <a:ext uri="{FF2B5EF4-FFF2-40B4-BE49-F238E27FC236}">
                <a16:creationId xmlns:a16="http://schemas.microsoft.com/office/drawing/2014/main" id="{3927D6A5-F040-7238-CCD9-B61C1FD63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" y="2186970"/>
            <a:ext cx="914400" cy="914400"/>
          </a:xfrm>
          <a:prstGeom prst="rect">
            <a:avLst/>
          </a:prstGeom>
        </p:spPr>
      </p:pic>
      <p:pic>
        <p:nvPicPr>
          <p:cNvPr id="5" name="Graphic 4" descr="Badge Question Mark with solid fill">
            <a:extLst>
              <a:ext uri="{FF2B5EF4-FFF2-40B4-BE49-F238E27FC236}">
                <a16:creationId xmlns:a16="http://schemas.microsoft.com/office/drawing/2014/main" id="{D71C8F85-D2E0-3B96-45AA-EE4C62ADC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3894980"/>
            <a:ext cx="914400" cy="914400"/>
          </a:xfrm>
          <a:prstGeom prst="rect">
            <a:avLst/>
          </a:prstGeom>
        </p:spPr>
      </p:pic>
      <p:pic>
        <p:nvPicPr>
          <p:cNvPr id="9" name="Graphic 8" descr="Badge Question Mark with solid fill">
            <a:extLst>
              <a:ext uri="{FF2B5EF4-FFF2-40B4-BE49-F238E27FC236}">
                <a16:creationId xmlns:a16="http://schemas.microsoft.com/office/drawing/2014/main" id="{44C12793-E831-19B6-834E-7E6BAC690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54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7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7EBC7-44F5-C60C-08FF-BBB68886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1809-C423-7DB1-377A-887D17E5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2. </a:t>
            </a:r>
            <a:r>
              <a:rPr lang="en-GB" sz="4000" dirty="0" err="1"/>
              <a:t>Qué</a:t>
            </a:r>
            <a:r>
              <a:rPr lang="en-GB" sz="4000" dirty="0"/>
              <a:t> es la </a:t>
            </a:r>
            <a:r>
              <a:rPr lang="en-GB" sz="4000" dirty="0" err="1"/>
              <a:t>cadena</a:t>
            </a:r>
            <a:r>
              <a:rPr lang="en-GB" sz="4000" dirty="0"/>
              <a:t> de </a:t>
            </a:r>
            <a:r>
              <a:rPr lang="en-GB" sz="4000" dirty="0" err="1"/>
              <a:t>suministro</a:t>
            </a:r>
            <a:r>
              <a:rPr lang="en-GB" sz="4000" dirty="0"/>
              <a:t> de software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76217-80DD-97F9-E4AD-68EFA3D2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7F3AB4-F9D7-1A9C-3CE2-3B804F02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226" y="1388233"/>
            <a:ext cx="6883547" cy="516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9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C9FFE-E283-9447-68F9-0D8C897E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1E48-F963-58F5-C2D7-3521CFB0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4000" dirty="0"/>
              <a:t>3. De </a:t>
            </a:r>
            <a:r>
              <a:rPr lang="en-GB" sz="4000" dirty="0" err="1"/>
              <a:t>encontrar</a:t>
            </a:r>
            <a:r>
              <a:rPr lang="en-GB" sz="4000" dirty="0"/>
              <a:t> </a:t>
            </a:r>
            <a:r>
              <a:rPr lang="en-GB" sz="4000" dirty="0" err="1"/>
              <a:t>vulnerabilidades</a:t>
            </a:r>
            <a:r>
              <a:rPr lang="en-GB" sz="4000" dirty="0"/>
              <a:t> a </a:t>
            </a:r>
            <a:r>
              <a:rPr lang="en-GB" sz="4000" dirty="0" err="1"/>
              <a:t>gestionar</a:t>
            </a:r>
            <a:r>
              <a:rPr lang="en-GB" sz="4000" dirty="0"/>
              <a:t> </a:t>
            </a:r>
            <a:r>
              <a:rPr lang="en-GB" sz="4000" dirty="0" err="1"/>
              <a:t>exposición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DF113-BDFB-8325-3C72-FE9C6F1C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D5F31-99D9-6A2B-16DB-D6B53472A5BB}"/>
              </a:ext>
            </a:extLst>
          </p:cNvPr>
          <p:cNvSpPr txBox="1"/>
          <p:nvPr/>
        </p:nvSpPr>
        <p:spPr>
          <a:xfrm>
            <a:off x="1775460" y="2085360"/>
            <a:ext cx="9062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 </a:t>
            </a:r>
            <a:r>
              <a:rPr lang="en-GB" sz="2400" dirty="0" err="1"/>
              <a:t>CodeQL</a:t>
            </a:r>
            <a:r>
              <a:rPr lang="en-GB" sz="2400" dirty="0"/>
              <a:t> </a:t>
            </a:r>
            <a:r>
              <a:rPr lang="en-GB" sz="2400" dirty="0" err="1"/>
              <a:t>reporta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crítica</a:t>
            </a:r>
            <a:r>
              <a:rPr lang="en-GB" sz="2400" dirty="0"/>
              <a:t> en </a:t>
            </a:r>
            <a:r>
              <a:rPr lang="en-GB" sz="2400" dirty="0" err="1"/>
              <a:t>código</a:t>
            </a:r>
            <a:r>
              <a:rPr lang="en-GB" sz="2400" dirty="0"/>
              <a:t> </a:t>
            </a:r>
            <a:r>
              <a:rPr lang="en-GB" sz="2400" dirty="0" err="1"/>
              <a:t>propio</a:t>
            </a:r>
            <a:r>
              <a:rPr lang="en-GB" sz="2400" dirty="0"/>
              <a:t> y </a:t>
            </a:r>
            <a:r>
              <a:rPr lang="en-GB" sz="2400" dirty="0" err="1"/>
              <a:t>el</a:t>
            </a:r>
            <a:r>
              <a:rPr lang="en-GB" sz="2400" dirty="0"/>
              <a:t> SBOM </a:t>
            </a:r>
            <a:r>
              <a:rPr lang="en-GB" sz="2400" dirty="0" err="1"/>
              <a:t>reporta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crítica</a:t>
            </a:r>
            <a:r>
              <a:rPr lang="en-GB" sz="2400" dirty="0"/>
              <a:t> en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dependencia</a:t>
            </a:r>
            <a:r>
              <a:rPr lang="en-GB" sz="2400" dirty="0"/>
              <a:t> </a:t>
            </a:r>
            <a:r>
              <a:rPr lang="en-GB" sz="2400" dirty="0" err="1"/>
              <a:t>transitiva</a:t>
            </a:r>
            <a:r>
              <a:rPr lang="en-GB" sz="2400" dirty="0"/>
              <a:t>, ¿</a:t>
            </a:r>
            <a:r>
              <a:rPr lang="en-GB" sz="2400" dirty="0" err="1"/>
              <a:t>cuál</a:t>
            </a:r>
            <a:r>
              <a:rPr lang="en-GB" sz="2400" dirty="0"/>
              <a:t> </a:t>
            </a:r>
            <a:r>
              <a:rPr lang="en-GB" sz="2400" dirty="0" err="1"/>
              <a:t>debería</a:t>
            </a:r>
            <a:r>
              <a:rPr lang="en-GB" sz="2400" dirty="0"/>
              <a:t> </a:t>
            </a:r>
            <a:r>
              <a:rPr lang="en-GB" sz="2400" dirty="0" err="1"/>
              <a:t>atenderse</a:t>
            </a:r>
            <a:r>
              <a:rPr lang="en-GB" sz="2400" dirty="0"/>
              <a:t> primero? 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información</a:t>
            </a:r>
            <a:r>
              <a:rPr lang="en-GB" sz="2400" dirty="0"/>
              <a:t> </a:t>
            </a:r>
            <a:r>
              <a:rPr lang="en-GB" sz="2400" dirty="0" err="1"/>
              <a:t>falta</a:t>
            </a:r>
            <a:r>
              <a:rPr lang="en-GB" sz="2400" dirty="0"/>
              <a:t> para </a:t>
            </a:r>
            <a:r>
              <a:rPr lang="en-GB" sz="2400" dirty="0" err="1"/>
              <a:t>decidir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1202F-94EB-9877-5AF6-AD6AAA11EF82}"/>
              </a:ext>
            </a:extLst>
          </p:cNvPr>
          <p:cNvSpPr txBox="1"/>
          <p:nvPr/>
        </p:nvSpPr>
        <p:spPr>
          <a:xfrm>
            <a:off x="1775460" y="3680361"/>
            <a:ext cx="9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Puede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reportada</a:t>
            </a:r>
            <a:r>
              <a:rPr lang="en-GB" sz="2400" dirty="0"/>
              <a:t> </a:t>
            </a:r>
            <a:r>
              <a:rPr lang="en-GB" sz="2400" dirty="0" err="1"/>
              <a:t>por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herramienta</a:t>
            </a:r>
            <a:r>
              <a:rPr lang="en-GB" sz="2400" dirty="0"/>
              <a:t> no </a:t>
            </a:r>
            <a:r>
              <a:rPr lang="en-GB" sz="2400" dirty="0" err="1"/>
              <a:t>representar</a:t>
            </a:r>
            <a:r>
              <a:rPr lang="en-GB" sz="2400" dirty="0"/>
              <a:t> un </a:t>
            </a:r>
            <a:r>
              <a:rPr lang="en-GB" sz="2400" dirty="0" err="1"/>
              <a:t>riesgo</a:t>
            </a:r>
            <a:r>
              <a:rPr lang="en-GB" sz="2400" dirty="0"/>
              <a:t> real para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sistema</a:t>
            </a:r>
            <a:r>
              <a:rPr lang="en-GB" sz="2400" dirty="0"/>
              <a:t>? 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condiciones</a:t>
            </a:r>
            <a:r>
              <a:rPr lang="en-GB" sz="2400" dirty="0"/>
              <a:t> </a:t>
            </a:r>
            <a:r>
              <a:rPr lang="en-GB" sz="2400" dirty="0" err="1"/>
              <a:t>tendrían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cumplirse</a:t>
            </a:r>
            <a:r>
              <a:rPr lang="en-GB" sz="2400" dirty="0"/>
              <a:t> para </a:t>
            </a:r>
            <a:r>
              <a:rPr lang="en-GB" sz="2400" dirty="0" err="1"/>
              <a:t>justificar</a:t>
            </a:r>
            <a:r>
              <a:rPr lang="en-GB" sz="2400" dirty="0"/>
              <a:t> no </a:t>
            </a:r>
            <a:r>
              <a:rPr lang="en-GB" sz="2400" dirty="0" err="1"/>
              <a:t>corregirla</a:t>
            </a:r>
            <a:r>
              <a:rPr lang="en-GB" sz="2400" dirty="0"/>
              <a:t> </a:t>
            </a:r>
            <a:r>
              <a:rPr lang="en-GB" sz="2400" dirty="0" err="1"/>
              <a:t>inmediatamente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91A6F-FA69-BFC6-F293-29DD4B54094A}"/>
              </a:ext>
            </a:extLst>
          </p:cNvPr>
          <p:cNvSpPr txBox="1"/>
          <p:nvPr/>
        </p:nvSpPr>
        <p:spPr>
          <a:xfrm>
            <a:off x="1775460" y="5275362"/>
            <a:ext cx="906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cambia </a:t>
            </a:r>
            <a:r>
              <a:rPr lang="en-GB" sz="2400" dirty="0" err="1"/>
              <a:t>cuando</a:t>
            </a:r>
            <a:r>
              <a:rPr lang="en-GB" sz="2400" dirty="0"/>
              <a:t> </a:t>
            </a:r>
            <a:r>
              <a:rPr lang="en-GB" sz="2400" dirty="0" err="1"/>
              <a:t>dejamos</a:t>
            </a:r>
            <a:r>
              <a:rPr lang="en-GB" sz="2400" dirty="0"/>
              <a:t> de </a:t>
            </a:r>
            <a:r>
              <a:rPr lang="en-GB" sz="2400" dirty="0" err="1"/>
              <a:t>pensar</a:t>
            </a:r>
            <a:r>
              <a:rPr lang="en-GB" sz="2400" dirty="0"/>
              <a:t> en </a:t>
            </a:r>
            <a:r>
              <a:rPr lang="en-GB" sz="2400" dirty="0" err="1"/>
              <a:t>vulnerabilidades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“</a:t>
            </a:r>
            <a:r>
              <a:rPr lang="en-GB" sz="2400" dirty="0" err="1"/>
              <a:t>hallazgos</a:t>
            </a:r>
            <a:r>
              <a:rPr lang="en-GB" sz="2400" dirty="0"/>
              <a:t>” y </a:t>
            </a:r>
            <a:r>
              <a:rPr lang="en-GB" sz="2400" dirty="0" err="1"/>
              <a:t>empezamos</a:t>
            </a:r>
            <a:r>
              <a:rPr lang="en-GB" sz="2400" dirty="0"/>
              <a:t> a </a:t>
            </a:r>
            <a:r>
              <a:rPr lang="en-GB" sz="2400" dirty="0" err="1"/>
              <a:t>pensarlas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“</a:t>
            </a:r>
            <a:r>
              <a:rPr lang="en-GB" sz="2400" dirty="0" err="1"/>
              <a:t>exposición</a:t>
            </a:r>
            <a:r>
              <a:rPr lang="en-GB" sz="2400" dirty="0"/>
              <a:t> </a:t>
            </a:r>
            <a:r>
              <a:rPr lang="en-GB" sz="2400" dirty="0" err="1"/>
              <a:t>gestionable</a:t>
            </a:r>
            <a:r>
              <a:rPr lang="en-GB" sz="2400" dirty="0"/>
              <a:t>”?</a:t>
            </a:r>
            <a:endParaRPr lang="en-US" sz="2400" dirty="0"/>
          </a:p>
        </p:txBody>
      </p:sp>
      <p:pic>
        <p:nvPicPr>
          <p:cNvPr id="3" name="Graphic 2" descr="Badge Question Mark with solid fill">
            <a:extLst>
              <a:ext uri="{FF2B5EF4-FFF2-40B4-BE49-F238E27FC236}">
                <a16:creationId xmlns:a16="http://schemas.microsoft.com/office/drawing/2014/main" id="{D904A0D1-32F6-4191-294C-E39A98056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2412990"/>
            <a:ext cx="914400" cy="914400"/>
          </a:xfrm>
          <a:prstGeom prst="rect">
            <a:avLst/>
          </a:prstGeom>
        </p:spPr>
      </p:pic>
      <p:pic>
        <p:nvPicPr>
          <p:cNvPr id="5" name="Graphic 4" descr="Badge Question Mark with solid fill">
            <a:extLst>
              <a:ext uri="{FF2B5EF4-FFF2-40B4-BE49-F238E27FC236}">
                <a16:creationId xmlns:a16="http://schemas.microsoft.com/office/drawing/2014/main" id="{C257B5BF-D58B-B347-BE27-CC7BFCACC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" y="3823325"/>
            <a:ext cx="914400" cy="914400"/>
          </a:xfrm>
          <a:prstGeom prst="rect">
            <a:avLst/>
          </a:prstGeom>
        </p:spPr>
      </p:pic>
      <p:pic>
        <p:nvPicPr>
          <p:cNvPr id="9" name="Graphic 8" descr="Badge Question Mark with solid fill">
            <a:extLst>
              <a:ext uri="{FF2B5EF4-FFF2-40B4-BE49-F238E27FC236}">
                <a16:creationId xmlns:a16="http://schemas.microsoft.com/office/drawing/2014/main" id="{8E9C4104-06AE-5F07-A314-3BDEDA50A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54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6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8FDF-5097-4965-222A-D26C2AAA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8545-6CB4-A2FD-CFAB-C3AE0C72A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4000" dirty="0"/>
              <a:t>3. De </a:t>
            </a:r>
            <a:r>
              <a:rPr lang="en-GB" sz="4000" dirty="0" err="1"/>
              <a:t>encontrar</a:t>
            </a:r>
            <a:r>
              <a:rPr lang="en-GB" sz="4000" dirty="0"/>
              <a:t> </a:t>
            </a:r>
            <a:r>
              <a:rPr lang="en-GB" sz="4000" dirty="0" err="1"/>
              <a:t>vulnerabilidades</a:t>
            </a:r>
            <a:r>
              <a:rPr lang="en-GB" sz="4000" dirty="0"/>
              <a:t> a </a:t>
            </a:r>
            <a:r>
              <a:rPr lang="en-GB" sz="4000" dirty="0" err="1"/>
              <a:t>gestionar</a:t>
            </a:r>
            <a:r>
              <a:rPr lang="en-GB" sz="4000" dirty="0"/>
              <a:t> </a:t>
            </a:r>
            <a:r>
              <a:rPr lang="en-GB" sz="4000" dirty="0" err="1"/>
              <a:t>exposición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62401-37E5-C405-40B4-5849F1D3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D018DA-38D7-8429-2A3D-B12452E2B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462088"/>
            <a:ext cx="72009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6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BF4C-622C-F2BD-0DB6-BF0E1D23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B8AE-E5ED-5D82-A59B-E89570F4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4.- Areas de </a:t>
            </a:r>
            <a:r>
              <a:rPr lang="en-GB" sz="3200" dirty="0" err="1"/>
              <a:t>seguridad</a:t>
            </a:r>
            <a:r>
              <a:rPr lang="en-GB" sz="3200" dirty="0"/>
              <a:t>: </a:t>
            </a:r>
            <a:r>
              <a:rPr lang="en-GB" sz="3200" dirty="0" err="1"/>
              <a:t>ordenar</a:t>
            </a:r>
            <a:r>
              <a:rPr lang="en-GB" sz="3200" dirty="0"/>
              <a:t> </a:t>
            </a:r>
            <a:r>
              <a:rPr lang="en-GB" sz="3200" dirty="0" err="1"/>
              <a:t>el</a:t>
            </a:r>
            <a:r>
              <a:rPr lang="en-GB" sz="3200" dirty="0"/>
              <a:t> </a:t>
            </a:r>
            <a:r>
              <a:rPr lang="en-GB" sz="3200" dirty="0" err="1"/>
              <a:t>proceso</a:t>
            </a:r>
            <a:r>
              <a:rPr lang="en-GB" sz="3200" dirty="0"/>
              <a:t> con P-SSCRM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D177D-E6F7-2DC8-A5BA-C3D71C56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85A0F40-D9D5-5A32-D0F9-6754FD370F5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B435B-EBBE-0F1C-ACA2-5DF015433C07}"/>
              </a:ext>
            </a:extLst>
          </p:cNvPr>
          <p:cNvSpPr txBox="1"/>
          <p:nvPr/>
        </p:nvSpPr>
        <p:spPr>
          <a:xfrm>
            <a:off x="1775460" y="1786394"/>
            <a:ext cx="9062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 </a:t>
            </a:r>
            <a:r>
              <a:rPr lang="en-GB" sz="2400" dirty="0" err="1"/>
              <a:t>CodeQL</a:t>
            </a:r>
            <a:r>
              <a:rPr lang="en-GB" sz="2400" dirty="0"/>
              <a:t> </a:t>
            </a:r>
            <a:r>
              <a:rPr lang="en-GB" sz="2400" dirty="0" err="1"/>
              <a:t>reporta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crítica</a:t>
            </a:r>
            <a:r>
              <a:rPr lang="en-GB" sz="2400" dirty="0"/>
              <a:t> en </a:t>
            </a:r>
            <a:r>
              <a:rPr lang="en-GB" sz="2400" dirty="0" err="1"/>
              <a:t>código</a:t>
            </a:r>
            <a:r>
              <a:rPr lang="en-GB" sz="2400" dirty="0"/>
              <a:t> </a:t>
            </a:r>
            <a:r>
              <a:rPr lang="en-GB" sz="2400" dirty="0" err="1"/>
              <a:t>propio</a:t>
            </a:r>
            <a:r>
              <a:rPr lang="en-GB" sz="2400" dirty="0"/>
              <a:t> y </a:t>
            </a:r>
            <a:r>
              <a:rPr lang="en-GB" sz="2400" dirty="0" err="1"/>
              <a:t>el</a:t>
            </a:r>
            <a:r>
              <a:rPr lang="en-GB" sz="2400" dirty="0"/>
              <a:t> SBOM </a:t>
            </a:r>
            <a:r>
              <a:rPr lang="en-GB" sz="2400" dirty="0" err="1"/>
              <a:t>reporta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crítica</a:t>
            </a:r>
            <a:r>
              <a:rPr lang="en-GB" sz="2400" dirty="0"/>
              <a:t> en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dependencia</a:t>
            </a:r>
            <a:r>
              <a:rPr lang="en-GB" sz="2400" dirty="0"/>
              <a:t> </a:t>
            </a:r>
            <a:r>
              <a:rPr lang="en-GB" sz="2400" dirty="0" err="1"/>
              <a:t>transitiva</a:t>
            </a:r>
            <a:r>
              <a:rPr lang="en-GB" sz="2400" dirty="0"/>
              <a:t>, ¿</a:t>
            </a:r>
            <a:r>
              <a:rPr lang="en-GB" sz="2400" dirty="0" err="1"/>
              <a:t>cuál</a:t>
            </a:r>
            <a:r>
              <a:rPr lang="en-GB" sz="2400" dirty="0"/>
              <a:t> </a:t>
            </a:r>
            <a:r>
              <a:rPr lang="en-GB" sz="2400" dirty="0" err="1"/>
              <a:t>debería</a:t>
            </a:r>
            <a:r>
              <a:rPr lang="en-GB" sz="2400" dirty="0"/>
              <a:t> </a:t>
            </a:r>
            <a:r>
              <a:rPr lang="en-GB" sz="2400" dirty="0" err="1"/>
              <a:t>atenderse</a:t>
            </a:r>
            <a:r>
              <a:rPr lang="en-GB" sz="2400" dirty="0"/>
              <a:t> primero? 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información</a:t>
            </a:r>
            <a:r>
              <a:rPr lang="en-GB" sz="2400" dirty="0"/>
              <a:t> </a:t>
            </a:r>
            <a:r>
              <a:rPr lang="en-GB" sz="2400" dirty="0" err="1"/>
              <a:t>falta</a:t>
            </a:r>
            <a:r>
              <a:rPr lang="en-GB" sz="2400" dirty="0"/>
              <a:t> para </a:t>
            </a:r>
            <a:r>
              <a:rPr lang="en-GB" sz="2400" dirty="0" err="1"/>
              <a:t>decidir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E143B-EA80-65D5-4B15-AEA4DC9630A7}"/>
              </a:ext>
            </a:extLst>
          </p:cNvPr>
          <p:cNvSpPr txBox="1"/>
          <p:nvPr/>
        </p:nvSpPr>
        <p:spPr>
          <a:xfrm>
            <a:off x="1775460" y="3680361"/>
            <a:ext cx="9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Puede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reportada</a:t>
            </a:r>
            <a:r>
              <a:rPr lang="en-GB" sz="2400" dirty="0"/>
              <a:t> </a:t>
            </a:r>
            <a:r>
              <a:rPr lang="en-GB" sz="2400" dirty="0" err="1"/>
              <a:t>por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herramienta</a:t>
            </a:r>
            <a:r>
              <a:rPr lang="en-GB" sz="2400" dirty="0"/>
              <a:t> no </a:t>
            </a:r>
            <a:r>
              <a:rPr lang="en-GB" sz="2400" dirty="0" err="1"/>
              <a:t>representar</a:t>
            </a:r>
            <a:r>
              <a:rPr lang="en-GB" sz="2400" dirty="0"/>
              <a:t> un </a:t>
            </a:r>
            <a:r>
              <a:rPr lang="en-GB" sz="2400" dirty="0" err="1"/>
              <a:t>riesgo</a:t>
            </a:r>
            <a:r>
              <a:rPr lang="en-GB" sz="2400" dirty="0"/>
              <a:t> real para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sistema</a:t>
            </a:r>
            <a:r>
              <a:rPr lang="en-GB" sz="2400" dirty="0"/>
              <a:t>? 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condiciones</a:t>
            </a:r>
            <a:r>
              <a:rPr lang="en-GB" sz="2400" dirty="0"/>
              <a:t> </a:t>
            </a:r>
            <a:r>
              <a:rPr lang="en-GB" sz="2400" dirty="0" err="1"/>
              <a:t>tendrían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cumplirse</a:t>
            </a:r>
            <a:r>
              <a:rPr lang="en-GB" sz="2400" dirty="0"/>
              <a:t> para </a:t>
            </a:r>
            <a:r>
              <a:rPr lang="en-GB" sz="2400" dirty="0" err="1"/>
              <a:t>justificar</a:t>
            </a:r>
            <a:r>
              <a:rPr lang="en-GB" sz="2400" dirty="0"/>
              <a:t> no </a:t>
            </a:r>
            <a:r>
              <a:rPr lang="en-GB" sz="2400" dirty="0" err="1"/>
              <a:t>corregirla</a:t>
            </a:r>
            <a:r>
              <a:rPr lang="en-GB" sz="2400" dirty="0"/>
              <a:t> </a:t>
            </a:r>
            <a:r>
              <a:rPr lang="en-GB" sz="2400" dirty="0" err="1"/>
              <a:t>inmediatamente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33492-8103-9380-D85B-4AB94C26C620}"/>
              </a:ext>
            </a:extLst>
          </p:cNvPr>
          <p:cNvSpPr txBox="1"/>
          <p:nvPr/>
        </p:nvSpPr>
        <p:spPr>
          <a:xfrm>
            <a:off x="1775460" y="5275362"/>
            <a:ext cx="906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cambia </a:t>
            </a:r>
            <a:r>
              <a:rPr lang="en-GB" sz="2400" dirty="0" err="1"/>
              <a:t>cuando</a:t>
            </a:r>
            <a:r>
              <a:rPr lang="en-GB" sz="2400" dirty="0"/>
              <a:t> </a:t>
            </a:r>
            <a:r>
              <a:rPr lang="en-GB" sz="2400" dirty="0" err="1"/>
              <a:t>dejamos</a:t>
            </a:r>
            <a:r>
              <a:rPr lang="en-GB" sz="2400" dirty="0"/>
              <a:t> de </a:t>
            </a:r>
            <a:r>
              <a:rPr lang="en-GB" sz="2400" dirty="0" err="1"/>
              <a:t>pensar</a:t>
            </a:r>
            <a:r>
              <a:rPr lang="en-GB" sz="2400" dirty="0"/>
              <a:t> en </a:t>
            </a:r>
            <a:r>
              <a:rPr lang="en-GB" sz="2400" dirty="0" err="1"/>
              <a:t>vulnerabilidades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“</a:t>
            </a:r>
            <a:r>
              <a:rPr lang="en-GB" sz="2400" dirty="0" err="1"/>
              <a:t>hallazgos</a:t>
            </a:r>
            <a:r>
              <a:rPr lang="en-GB" sz="2400" dirty="0"/>
              <a:t>” y </a:t>
            </a:r>
            <a:r>
              <a:rPr lang="en-GB" sz="2400" dirty="0" err="1"/>
              <a:t>empezamos</a:t>
            </a:r>
            <a:r>
              <a:rPr lang="en-GB" sz="2400" dirty="0"/>
              <a:t> a </a:t>
            </a:r>
            <a:r>
              <a:rPr lang="en-GB" sz="2400" dirty="0" err="1"/>
              <a:t>pensarlas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“</a:t>
            </a:r>
            <a:r>
              <a:rPr lang="en-GB" sz="2400" dirty="0" err="1"/>
              <a:t>exposición</a:t>
            </a:r>
            <a:r>
              <a:rPr lang="en-GB" sz="2400" dirty="0"/>
              <a:t> </a:t>
            </a:r>
            <a:r>
              <a:rPr lang="en-GB" sz="2400" dirty="0" err="1"/>
              <a:t>gestionable</a:t>
            </a:r>
            <a:r>
              <a:rPr lang="en-GB" sz="2400" dirty="0"/>
              <a:t>”?</a:t>
            </a:r>
            <a:endParaRPr lang="en-US" sz="2400" dirty="0"/>
          </a:p>
        </p:txBody>
      </p:sp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55558C96-49CA-55C9-4736-2579A10B51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114024"/>
            <a:ext cx="914400" cy="914400"/>
          </a:xfrm>
          <a:prstGeom prst="rect">
            <a:avLst/>
          </a:prstGeom>
        </p:spPr>
      </p:pic>
      <p:pic>
        <p:nvPicPr>
          <p:cNvPr id="9" name="Graphic 8" descr="Badge Question Mark with solid fill">
            <a:extLst>
              <a:ext uri="{FF2B5EF4-FFF2-40B4-BE49-F238E27FC236}">
                <a16:creationId xmlns:a16="http://schemas.microsoft.com/office/drawing/2014/main" id="{65F9FC74-3382-6139-49BE-978F4025AB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3829577"/>
            <a:ext cx="914400" cy="914400"/>
          </a:xfrm>
          <a:prstGeom prst="rect">
            <a:avLst/>
          </a:prstGeom>
        </p:spPr>
      </p:pic>
      <p:pic>
        <p:nvPicPr>
          <p:cNvPr id="10" name="Graphic 9" descr="Badge Question Mark with solid fill">
            <a:extLst>
              <a:ext uri="{FF2B5EF4-FFF2-40B4-BE49-F238E27FC236}">
                <a16:creationId xmlns:a16="http://schemas.microsoft.com/office/drawing/2014/main" id="{8E807E43-30E3-C5EA-ED4C-D8F3771CCC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54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5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BF2F-72C2-47F8-52BB-ECF2B1C4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1DFF-F082-C360-617D-11A16BAF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4.- Areas de </a:t>
            </a:r>
            <a:r>
              <a:rPr lang="en-GB" sz="3200" dirty="0" err="1"/>
              <a:t>seguridad</a:t>
            </a:r>
            <a:r>
              <a:rPr lang="en-GB" sz="3200" dirty="0"/>
              <a:t>: </a:t>
            </a:r>
            <a:r>
              <a:rPr lang="en-GB" sz="3200" dirty="0" err="1"/>
              <a:t>ordenar</a:t>
            </a:r>
            <a:r>
              <a:rPr lang="en-GB" sz="3200" dirty="0"/>
              <a:t> </a:t>
            </a:r>
            <a:r>
              <a:rPr lang="en-GB" sz="3200" dirty="0" err="1"/>
              <a:t>el</a:t>
            </a:r>
            <a:r>
              <a:rPr lang="en-GB" sz="3200" dirty="0"/>
              <a:t> </a:t>
            </a:r>
            <a:r>
              <a:rPr lang="en-GB" sz="3200" dirty="0" err="1"/>
              <a:t>proceso</a:t>
            </a:r>
            <a:r>
              <a:rPr lang="en-GB" sz="3200" dirty="0"/>
              <a:t> con P-SSCRM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EAA08-1084-4350-1B61-E7F65B6D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9E1940F-CEF9-5055-6C8B-BDEF4F300B5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85F9A9-A6A9-77E7-45C5-65FECB2BB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6208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5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72C6-F820-F0E6-0889-084615FD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631A-2261-2894-FC6A-A31FC0D1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5. </a:t>
            </a: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están</a:t>
            </a:r>
            <a:r>
              <a:rPr lang="en-GB" sz="3200" dirty="0"/>
              <a:t> </a:t>
            </a:r>
            <a:r>
              <a:rPr lang="en-GB" sz="3200" dirty="0" err="1"/>
              <a:t>adoptando</a:t>
            </a:r>
            <a:r>
              <a:rPr lang="en-GB" sz="3200" dirty="0"/>
              <a:t> </a:t>
            </a:r>
            <a:r>
              <a:rPr lang="en-GB" sz="3200" dirty="0" err="1"/>
              <a:t>realmente</a:t>
            </a:r>
            <a:r>
              <a:rPr lang="en-GB" sz="3200" dirty="0"/>
              <a:t> las </a:t>
            </a:r>
            <a:r>
              <a:rPr lang="en-GB" sz="3200" dirty="0" err="1"/>
              <a:t>organizaciones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7362B-F737-897F-0445-99382071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88A07AF-2DB8-1EF3-A8D7-0A530FCEC5F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B3F2C2D-F361-898A-981B-43E45A77340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FAECB02-8119-FC51-BD3F-150CC154E29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F6F3E-3301-EC7F-91C2-A06D0AB0E742}"/>
              </a:ext>
            </a:extLst>
          </p:cNvPr>
          <p:cNvSpPr txBox="1"/>
          <p:nvPr/>
        </p:nvSpPr>
        <p:spPr>
          <a:xfrm>
            <a:off x="1775460" y="2085360"/>
            <a:ext cx="906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¿Por 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algunas</a:t>
            </a:r>
            <a:r>
              <a:rPr lang="en-GB" sz="2400" dirty="0"/>
              <a:t> </a:t>
            </a:r>
            <a:r>
              <a:rPr lang="en-GB" sz="2400" dirty="0" err="1"/>
              <a:t>prácticas</a:t>
            </a:r>
            <a:r>
              <a:rPr lang="en-GB" sz="2400" dirty="0"/>
              <a:t> de </a:t>
            </a:r>
            <a:r>
              <a:rPr lang="en-GB" sz="2400" dirty="0" err="1"/>
              <a:t>seguridad</a:t>
            </a:r>
            <a:r>
              <a:rPr lang="en-GB" sz="2400" dirty="0"/>
              <a:t> se </a:t>
            </a:r>
            <a:r>
              <a:rPr lang="en-GB" sz="2400" dirty="0" err="1"/>
              <a:t>adoptan</a:t>
            </a:r>
            <a:r>
              <a:rPr lang="en-GB" sz="2400" dirty="0"/>
              <a:t> </a:t>
            </a:r>
            <a:r>
              <a:rPr lang="en-GB" sz="2400" dirty="0" err="1"/>
              <a:t>más</a:t>
            </a:r>
            <a:r>
              <a:rPr lang="en-GB" sz="2400" dirty="0"/>
              <a:t> </a:t>
            </a:r>
            <a:r>
              <a:rPr lang="en-GB" sz="2400" dirty="0" err="1"/>
              <a:t>rápido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otras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E285F-2BE4-5159-B66B-ECFF48C088F0}"/>
              </a:ext>
            </a:extLst>
          </p:cNvPr>
          <p:cNvSpPr txBox="1"/>
          <p:nvPr/>
        </p:nvSpPr>
        <p:spPr>
          <a:xfrm>
            <a:off x="1775459" y="3429000"/>
            <a:ext cx="9117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¿Por 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podría</a:t>
            </a:r>
            <a:r>
              <a:rPr lang="en-GB" sz="2400" dirty="0"/>
              <a:t> ser </a:t>
            </a:r>
            <a:r>
              <a:rPr lang="en-GB" sz="2400" dirty="0" err="1"/>
              <a:t>difícil</a:t>
            </a:r>
            <a:r>
              <a:rPr lang="en-GB" sz="2400" dirty="0"/>
              <a:t> </a:t>
            </a:r>
            <a:r>
              <a:rPr lang="en-GB" sz="2400" dirty="0" err="1"/>
              <a:t>implementar</a:t>
            </a:r>
            <a:r>
              <a:rPr lang="en-GB" sz="2400" dirty="0"/>
              <a:t> </a:t>
            </a:r>
            <a:r>
              <a:rPr lang="en-GB" sz="2400" dirty="0" err="1"/>
              <a:t>tareas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uso</a:t>
            </a:r>
            <a:r>
              <a:rPr lang="en-GB" sz="2400" dirty="0"/>
              <a:t> de SBOM, la </a:t>
            </a:r>
            <a:r>
              <a:rPr lang="en-GB" sz="2400" dirty="0" err="1"/>
              <a:t>trazabilidad</a:t>
            </a:r>
            <a:r>
              <a:rPr lang="en-GB" sz="2400" dirty="0"/>
              <a:t> del </a:t>
            </a:r>
            <a:r>
              <a:rPr lang="en-GB" sz="2400" dirty="0" err="1"/>
              <a:t>origen</a:t>
            </a:r>
            <a:r>
              <a:rPr lang="en-GB" sz="2400" dirty="0"/>
              <a:t> de </a:t>
            </a:r>
            <a:r>
              <a:rPr lang="en-GB" sz="2400" dirty="0" err="1"/>
              <a:t>los</a:t>
            </a:r>
            <a:r>
              <a:rPr lang="en-GB" sz="2400" dirty="0"/>
              <a:t> </a:t>
            </a:r>
            <a:r>
              <a:rPr lang="en-GB" sz="2400" dirty="0" err="1"/>
              <a:t>artefactos</a:t>
            </a:r>
            <a:r>
              <a:rPr lang="en-GB" sz="2400" dirty="0"/>
              <a:t> o </a:t>
            </a:r>
            <a:r>
              <a:rPr lang="en-GB" sz="2400" dirty="0" err="1"/>
              <a:t>los</a:t>
            </a:r>
            <a:r>
              <a:rPr lang="en-GB" sz="2400" dirty="0"/>
              <a:t> builds </a:t>
            </a:r>
            <a:r>
              <a:rPr lang="en-GB" sz="2400" dirty="0" err="1"/>
              <a:t>reproducibles</a:t>
            </a:r>
            <a:r>
              <a:rPr lang="en-GB" sz="24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D8024-81FB-5F7D-6A77-EC6AE1495CB6}"/>
              </a:ext>
            </a:extLst>
          </p:cNvPr>
          <p:cNvSpPr txBox="1"/>
          <p:nvPr/>
        </p:nvSpPr>
        <p:spPr>
          <a:xfrm>
            <a:off x="1775458" y="5275362"/>
            <a:ext cx="9062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riesgos</a:t>
            </a:r>
            <a:r>
              <a:rPr lang="en-GB" sz="2400" dirty="0"/>
              <a:t> </a:t>
            </a:r>
            <a:r>
              <a:rPr lang="en-GB" sz="2400" dirty="0" err="1"/>
              <a:t>quedan</a:t>
            </a:r>
            <a:r>
              <a:rPr lang="en-GB" sz="2400" dirty="0"/>
              <a:t> sin </a:t>
            </a:r>
            <a:r>
              <a:rPr lang="en-GB" sz="2400" dirty="0" err="1"/>
              <a:t>cubrir</a:t>
            </a:r>
            <a:r>
              <a:rPr lang="en-GB" sz="2400" dirty="0"/>
              <a:t> </a:t>
            </a:r>
            <a:r>
              <a:rPr lang="en-GB" sz="2400" dirty="0" err="1"/>
              <a:t>cuando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organización</a:t>
            </a:r>
            <a:r>
              <a:rPr lang="en-GB" sz="2400" dirty="0"/>
              <a:t> solo </a:t>
            </a:r>
            <a:r>
              <a:rPr lang="en-GB" sz="2400" dirty="0" err="1"/>
              <a:t>aplica</a:t>
            </a:r>
            <a:r>
              <a:rPr lang="en-GB" sz="2400" dirty="0"/>
              <a:t> </a:t>
            </a:r>
            <a:r>
              <a:rPr lang="en-GB" sz="2400" dirty="0" err="1"/>
              <a:t>controles</a:t>
            </a:r>
            <a:r>
              <a:rPr lang="en-GB" sz="2400" dirty="0"/>
              <a:t> </a:t>
            </a:r>
            <a:r>
              <a:rPr lang="en-GB" sz="2400" dirty="0" err="1"/>
              <a:t>tradicionales</a:t>
            </a:r>
            <a:r>
              <a:rPr lang="en-GB" sz="2400" dirty="0"/>
              <a:t>?</a:t>
            </a:r>
            <a:endParaRPr lang="en-US" sz="2400" dirty="0"/>
          </a:p>
        </p:txBody>
      </p:sp>
      <p:pic>
        <p:nvPicPr>
          <p:cNvPr id="10" name="Graphic 9" descr="Badge Question Mark with solid fill">
            <a:extLst>
              <a:ext uri="{FF2B5EF4-FFF2-40B4-BE49-F238E27FC236}">
                <a16:creationId xmlns:a16="http://schemas.microsoft.com/office/drawing/2014/main" id="{EBB18FA0-A54A-400C-AD21-2C71F8385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043658"/>
            <a:ext cx="914400" cy="914400"/>
          </a:xfrm>
          <a:prstGeom prst="rect">
            <a:avLst/>
          </a:prstGeom>
        </p:spPr>
      </p:pic>
      <p:pic>
        <p:nvPicPr>
          <p:cNvPr id="11" name="Graphic 10" descr="Badge Question Mark with solid fill">
            <a:extLst>
              <a:ext uri="{FF2B5EF4-FFF2-40B4-BE49-F238E27FC236}">
                <a16:creationId xmlns:a16="http://schemas.microsoft.com/office/drawing/2014/main" id="{4AB1CF8D-728B-2C55-732E-DB25FE6138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3571964"/>
            <a:ext cx="914400" cy="914400"/>
          </a:xfrm>
          <a:prstGeom prst="rect">
            <a:avLst/>
          </a:prstGeom>
        </p:spPr>
      </p:pic>
      <p:pic>
        <p:nvPicPr>
          <p:cNvPr id="12" name="Graphic 11" descr="Badge Question Mark with solid fill">
            <a:extLst>
              <a:ext uri="{FF2B5EF4-FFF2-40B4-BE49-F238E27FC236}">
                <a16:creationId xmlns:a16="http://schemas.microsoft.com/office/drawing/2014/main" id="{746D3E5B-9DAC-B058-6DD0-1395D1165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52381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3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1F3E-5999-E9E1-B62F-2AE4D907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F567-B0DC-8AF9-C7E7-CA7DDF46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5. </a:t>
            </a: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están</a:t>
            </a:r>
            <a:r>
              <a:rPr lang="en-GB" sz="3200" dirty="0"/>
              <a:t> </a:t>
            </a:r>
            <a:r>
              <a:rPr lang="en-GB" sz="3200" dirty="0" err="1"/>
              <a:t>adoptando</a:t>
            </a:r>
            <a:r>
              <a:rPr lang="en-GB" sz="3200" dirty="0"/>
              <a:t> </a:t>
            </a:r>
            <a:r>
              <a:rPr lang="en-GB" sz="3200" dirty="0" err="1"/>
              <a:t>realmente</a:t>
            </a:r>
            <a:r>
              <a:rPr lang="en-GB" sz="3200" dirty="0"/>
              <a:t> las </a:t>
            </a:r>
            <a:r>
              <a:rPr lang="en-GB" sz="3200" dirty="0" err="1"/>
              <a:t>organizaciones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C209B-EA62-50CF-0C0F-1ED21441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F32E69A-B3EB-9A8E-C161-678F0B67C06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008051-B1A5-B7A1-2856-E4C0730E007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84A8C42-F058-4930-25B0-771F7ECB16C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AEB1FD-54E1-1D4E-8BFF-BB079D5CF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46208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03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D2C30-ECE3-C63C-591D-64D45816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9423-6D11-1D32-C9E0-5B2AB304D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6.- </a:t>
            </a:r>
            <a:r>
              <a:rPr lang="en-GB" sz="3200" dirty="0" err="1"/>
              <a:t>Actividad</a:t>
            </a:r>
            <a:r>
              <a:rPr lang="en-GB" sz="3200" dirty="0"/>
              <a:t> </a:t>
            </a:r>
            <a:r>
              <a:rPr lang="en-GB" sz="3200" dirty="0" err="1"/>
              <a:t>aplicada</a:t>
            </a:r>
            <a:r>
              <a:rPr lang="en-GB" sz="3200" dirty="0"/>
              <a:t>: </a:t>
            </a:r>
            <a:r>
              <a:rPr lang="en-GB" sz="3200" dirty="0" err="1"/>
              <a:t>transformar</a:t>
            </a:r>
            <a:r>
              <a:rPr lang="en-GB" sz="3200" dirty="0"/>
              <a:t> </a:t>
            </a:r>
            <a:r>
              <a:rPr lang="en-GB" sz="3200" dirty="0" err="1"/>
              <a:t>evidencia</a:t>
            </a:r>
            <a:r>
              <a:rPr lang="en-GB" sz="3200" dirty="0"/>
              <a:t> en </a:t>
            </a:r>
            <a:r>
              <a:rPr lang="en-GB" sz="3200" dirty="0" err="1"/>
              <a:t>decisiones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E0B79-8E93-8381-302C-3FA63197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13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E1C220-2C97-09EA-0236-77767C71AF3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E6D6F-CA7F-276D-C1C2-1EE6144F691B}"/>
              </a:ext>
            </a:extLst>
          </p:cNvPr>
          <p:cNvSpPr txBox="1"/>
          <p:nvPr/>
        </p:nvSpPr>
        <p:spPr>
          <a:xfrm>
            <a:off x="1775460" y="1729428"/>
            <a:ext cx="9062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Tienen </a:t>
            </a:r>
            <a:r>
              <a:rPr lang="en-GB" sz="2400" dirty="0" err="1"/>
              <a:t>tres</a:t>
            </a:r>
            <a:r>
              <a:rPr lang="en-GB" sz="2400" dirty="0"/>
              <a:t> </a:t>
            </a:r>
            <a:r>
              <a:rPr lang="en-GB" sz="2400" dirty="0" err="1"/>
              <a:t>hallazgos</a:t>
            </a:r>
            <a:r>
              <a:rPr lang="en-GB" sz="2400" dirty="0"/>
              <a:t>: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en </a:t>
            </a:r>
            <a:r>
              <a:rPr lang="en-GB" sz="2400" dirty="0" err="1"/>
              <a:t>código</a:t>
            </a:r>
            <a:r>
              <a:rPr lang="en-GB" sz="2400" dirty="0"/>
              <a:t> </a:t>
            </a:r>
            <a:r>
              <a:rPr lang="en-GB" sz="2400" dirty="0" err="1"/>
              <a:t>propio</a:t>
            </a:r>
            <a:r>
              <a:rPr lang="en-GB" sz="2400" dirty="0"/>
              <a:t>,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dependencia</a:t>
            </a:r>
            <a:r>
              <a:rPr lang="en-GB" sz="2400" dirty="0"/>
              <a:t> vulnerable y un pipeline con </a:t>
            </a:r>
            <a:r>
              <a:rPr lang="en-GB" sz="2400" dirty="0" err="1"/>
              <a:t>permisos</a:t>
            </a:r>
            <a:r>
              <a:rPr lang="en-GB" sz="2400" dirty="0"/>
              <a:t> </a:t>
            </a:r>
            <a:r>
              <a:rPr lang="en-GB" sz="2400" dirty="0" err="1"/>
              <a:t>excesivos</a:t>
            </a:r>
            <a:r>
              <a:rPr lang="en-GB" sz="2400" dirty="0"/>
              <a:t>. Solo </a:t>
            </a:r>
            <a:r>
              <a:rPr lang="en-GB" sz="2400" dirty="0" err="1"/>
              <a:t>pueden</a:t>
            </a:r>
            <a:r>
              <a:rPr lang="en-GB" sz="2400" dirty="0"/>
              <a:t> </a:t>
            </a:r>
            <a:r>
              <a:rPr lang="en-GB" sz="2400" dirty="0" err="1"/>
              <a:t>intervenir</a:t>
            </a:r>
            <a:r>
              <a:rPr lang="en-GB" sz="2400" dirty="0"/>
              <a:t> uno </a:t>
            </a:r>
            <a:r>
              <a:rPr lang="en-GB" sz="2400" dirty="0" err="1"/>
              <a:t>esta</a:t>
            </a:r>
            <a:r>
              <a:rPr lang="en-GB" sz="2400" dirty="0"/>
              <a:t> </a:t>
            </a:r>
            <a:r>
              <a:rPr lang="en-GB" sz="2400" dirty="0" err="1"/>
              <a:t>semana</a:t>
            </a:r>
            <a:r>
              <a:rPr lang="en-GB" sz="2400" dirty="0"/>
              <a:t>. 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criterio</a:t>
            </a:r>
            <a:r>
              <a:rPr lang="en-GB" sz="2400" dirty="0"/>
              <a:t> </a:t>
            </a:r>
            <a:r>
              <a:rPr lang="en-GB" sz="2400" dirty="0" err="1"/>
              <a:t>usarían</a:t>
            </a:r>
            <a:r>
              <a:rPr lang="en-GB" sz="2400" dirty="0"/>
              <a:t> para </a:t>
            </a:r>
            <a:r>
              <a:rPr lang="en-GB" sz="2400" dirty="0" err="1"/>
              <a:t>decidir</a:t>
            </a:r>
            <a:r>
              <a:rPr lang="en-GB" sz="2400" dirty="0"/>
              <a:t> y </a:t>
            </a:r>
            <a:r>
              <a:rPr lang="en-GB" sz="2400" dirty="0" err="1"/>
              <a:t>cómo</a:t>
            </a:r>
            <a:r>
              <a:rPr lang="en-GB" sz="2400" dirty="0"/>
              <a:t> </a:t>
            </a:r>
            <a:r>
              <a:rPr lang="en-GB" sz="2400" dirty="0" err="1"/>
              <a:t>defenderían</a:t>
            </a:r>
            <a:r>
              <a:rPr lang="en-GB" sz="2400" dirty="0"/>
              <a:t> </a:t>
            </a:r>
            <a:r>
              <a:rPr lang="en-GB" sz="2400" dirty="0" err="1"/>
              <a:t>esa</a:t>
            </a:r>
            <a:r>
              <a:rPr lang="en-GB" sz="2400" dirty="0"/>
              <a:t> </a:t>
            </a:r>
            <a:r>
              <a:rPr lang="en-GB" sz="2400" dirty="0" err="1"/>
              <a:t>decisión</a:t>
            </a:r>
            <a:r>
              <a:rPr lang="en-GB" sz="2400" dirty="0"/>
              <a:t> ante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equipo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EA519-208D-D9A3-4915-87ACC5BF050B}"/>
              </a:ext>
            </a:extLst>
          </p:cNvPr>
          <p:cNvSpPr txBox="1"/>
          <p:nvPr/>
        </p:nvSpPr>
        <p:spPr>
          <a:xfrm>
            <a:off x="1775460" y="3680361"/>
            <a:ext cx="9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 </a:t>
            </a:r>
            <a:r>
              <a:rPr lang="en-GB" sz="2400" dirty="0" err="1"/>
              <a:t>actualizar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dependencia</a:t>
            </a:r>
            <a:r>
              <a:rPr lang="en-GB" sz="2400" dirty="0"/>
              <a:t> vulnerable </a:t>
            </a:r>
            <a:r>
              <a:rPr lang="en-GB" sz="2400" dirty="0" err="1"/>
              <a:t>puede</a:t>
            </a:r>
            <a:r>
              <a:rPr lang="en-GB" sz="2400" dirty="0"/>
              <a:t> romper </a:t>
            </a:r>
            <a:r>
              <a:rPr lang="en-GB" sz="2400" dirty="0" err="1"/>
              <a:t>el</a:t>
            </a:r>
            <a:r>
              <a:rPr lang="en-GB" sz="2400" dirty="0"/>
              <a:t> </a:t>
            </a:r>
            <a:r>
              <a:rPr lang="en-GB" sz="2400" dirty="0" err="1"/>
              <a:t>sistema</a:t>
            </a:r>
            <a:r>
              <a:rPr lang="en-GB" sz="2400" dirty="0"/>
              <a:t>, </a:t>
            </a:r>
            <a:r>
              <a:rPr lang="en-GB" sz="2400" dirty="0" err="1"/>
              <a:t>pero</a:t>
            </a:r>
            <a:r>
              <a:rPr lang="en-GB" sz="2400" dirty="0"/>
              <a:t> </a:t>
            </a:r>
            <a:r>
              <a:rPr lang="en-GB" sz="2400" dirty="0" err="1"/>
              <a:t>mantenerla</a:t>
            </a:r>
            <a:r>
              <a:rPr lang="en-GB" sz="2400" dirty="0"/>
              <a:t> </a:t>
            </a:r>
            <a:r>
              <a:rPr lang="en-GB" sz="2400" dirty="0" err="1"/>
              <a:t>expone</a:t>
            </a:r>
            <a:r>
              <a:rPr lang="en-GB" sz="2400" dirty="0"/>
              <a:t> a </a:t>
            </a:r>
            <a:r>
              <a:rPr lang="en-GB" sz="2400" dirty="0" err="1"/>
              <a:t>los</a:t>
            </a:r>
            <a:r>
              <a:rPr lang="en-GB" sz="2400" dirty="0"/>
              <a:t> </a:t>
            </a:r>
            <a:r>
              <a:rPr lang="en-GB" sz="2400" dirty="0" err="1"/>
              <a:t>usuarios</a:t>
            </a:r>
            <a:r>
              <a:rPr lang="en-GB" sz="2400" dirty="0"/>
              <a:t>, ¿</a:t>
            </a:r>
            <a:r>
              <a:rPr lang="en-GB" sz="2400" dirty="0" err="1"/>
              <a:t>cómo</a:t>
            </a:r>
            <a:r>
              <a:rPr lang="en-GB" sz="2400" dirty="0"/>
              <a:t> se </a:t>
            </a:r>
            <a:r>
              <a:rPr lang="en-GB" sz="2400" dirty="0" err="1"/>
              <a:t>justifica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decisión</a:t>
            </a:r>
            <a:r>
              <a:rPr lang="en-GB" sz="2400" dirty="0"/>
              <a:t> </a:t>
            </a:r>
            <a:r>
              <a:rPr lang="en-GB" sz="2400" dirty="0" err="1"/>
              <a:t>responsable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96491-2FF4-DBBA-8F12-020B44AEC6ED}"/>
              </a:ext>
            </a:extLst>
          </p:cNvPr>
          <p:cNvSpPr txBox="1"/>
          <p:nvPr/>
        </p:nvSpPr>
        <p:spPr>
          <a:xfrm>
            <a:off x="1775460" y="5275362"/>
            <a:ext cx="906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evidencia</a:t>
            </a:r>
            <a:r>
              <a:rPr lang="en-GB" sz="2400" dirty="0"/>
              <a:t> </a:t>
            </a:r>
            <a:r>
              <a:rPr lang="en-GB" sz="2400" dirty="0" err="1"/>
              <a:t>permitiría</a:t>
            </a:r>
            <a:r>
              <a:rPr lang="en-GB" sz="2400" dirty="0"/>
              <a:t> </a:t>
            </a:r>
            <a:r>
              <a:rPr lang="en-GB" sz="2400" dirty="0" err="1"/>
              <a:t>distinguir</a:t>
            </a:r>
            <a:r>
              <a:rPr lang="en-GB" sz="2400" dirty="0"/>
              <a:t> entre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debe</a:t>
            </a:r>
            <a:r>
              <a:rPr lang="en-GB" sz="2400" dirty="0"/>
              <a:t> </a:t>
            </a:r>
            <a:r>
              <a:rPr lang="en-GB" sz="2400" dirty="0" err="1"/>
              <a:t>corregirse</a:t>
            </a:r>
            <a:r>
              <a:rPr lang="en-GB" sz="2400" dirty="0"/>
              <a:t> de </a:t>
            </a:r>
            <a:r>
              <a:rPr lang="en-GB" sz="2400" dirty="0" err="1"/>
              <a:t>inmediato</a:t>
            </a:r>
            <a:r>
              <a:rPr lang="en-GB" sz="2400" dirty="0"/>
              <a:t>,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puede</a:t>
            </a:r>
            <a:r>
              <a:rPr lang="en-GB" sz="2400" dirty="0"/>
              <a:t> </a:t>
            </a:r>
            <a:r>
              <a:rPr lang="en-GB" sz="2400" dirty="0" err="1"/>
              <a:t>monitorearse</a:t>
            </a:r>
            <a:r>
              <a:rPr lang="en-GB" sz="2400" dirty="0"/>
              <a:t> y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puede</a:t>
            </a:r>
            <a:r>
              <a:rPr lang="en-GB" sz="2400" dirty="0"/>
              <a:t> </a:t>
            </a:r>
            <a:r>
              <a:rPr lang="en-GB" sz="2400" dirty="0" err="1"/>
              <a:t>aceptarse</a:t>
            </a:r>
            <a:r>
              <a:rPr lang="en-GB" sz="2400" dirty="0"/>
              <a:t> </a:t>
            </a:r>
            <a:r>
              <a:rPr lang="en-GB" sz="2400" dirty="0" err="1"/>
              <a:t>temporalmente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</a:t>
            </a:r>
            <a:r>
              <a:rPr lang="en-GB" sz="2400" dirty="0" err="1"/>
              <a:t>riesgo</a:t>
            </a:r>
            <a:r>
              <a:rPr lang="en-GB" sz="2400" dirty="0"/>
              <a:t>?</a:t>
            </a:r>
            <a:endParaRPr lang="en-US" sz="2400" dirty="0"/>
          </a:p>
        </p:txBody>
      </p:sp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B7D2D056-67FC-F61F-65E3-B8AA43995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043658"/>
            <a:ext cx="914400" cy="914400"/>
          </a:xfrm>
          <a:prstGeom prst="rect">
            <a:avLst/>
          </a:prstGeom>
        </p:spPr>
      </p:pic>
      <p:pic>
        <p:nvPicPr>
          <p:cNvPr id="9" name="Graphic 8" descr="Badge Question Mark with solid fill">
            <a:extLst>
              <a:ext uri="{FF2B5EF4-FFF2-40B4-BE49-F238E27FC236}">
                <a16:creationId xmlns:a16="http://schemas.microsoft.com/office/drawing/2014/main" id="{74901263-C404-1558-3D4B-E8F4C10CA0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3823325"/>
            <a:ext cx="914400" cy="914400"/>
          </a:xfrm>
          <a:prstGeom prst="rect">
            <a:avLst/>
          </a:prstGeom>
        </p:spPr>
      </p:pic>
      <p:pic>
        <p:nvPicPr>
          <p:cNvPr id="10" name="Graphic 9" descr="Badge Question Mark with solid fill">
            <a:extLst>
              <a:ext uri="{FF2B5EF4-FFF2-40B4-BE49-F238E27FC236}">
                <a16:creationId xmlns:a16="http://schemas.microsoft.com/office/drawing/2014/main" id="{12E689F4-5009-9ABA-BD2B-FB2459B5B8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54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5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0759-8DAC-BF30-6E63-C4D4BDC1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11BC-710C-CFFE-9D74-99DEEEA7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1018520" cy="10382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6.- </a:t>
            </a:r>
            <a:r>
              <a:rPr lang="en-GB" sz="3200" dirty="0" err="1"/>
              <a:t>Transformar</a:t>
            </a:r>
            <a:r>
              <a:rPr lang="en-GB" sz="3200" dirty="0"/>
              <a:t> </a:t>
            </a:r>
            <a:r>
              <a:rPr lang="en-GB" sz="3200" dirty="0" err="1"/>
              <a:t>evidencia</a:t>
            </a:r>
            <a:r>
              <a:rPr lang="en-GB" sz="3200" dirty="0"/>
              <a:t> en </a:t>
            </a:r>
            <a:r>
              <a:rPr lang="en-GB" sz="3200" dirty="0" err="1"/>
              <a:t>decisiones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7E07F-6619-47FE-A993-496F266A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14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A688CB0-3F3D-14B7-3F5E-55DB4397276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24298D-056E-16C1-90F0-9FFBE849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174750"/>
            <a:ext cx="8320088" cy="5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9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9FA2-44EF-8DFA-CC2F-2C946A50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C81A4-BD29-B523-C6DB-298E0B88E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7.- De </a:t>
            </a:r>
            <a:r>
              <a:rPr lang="en-GB" sz="3200" dirty="0" err="1"/>
              <a:t>herramientas</a:t>
            </a:r>
            <a:r>
              <a:rPr lang="en-GB" sz="3200" dirty="0"/>
              <a:t> </a:t>
            </a:r>
            <a:r>
              <a:rPr lang="en-GB" sz="3200" dirty="0" err="1"/>
              <a:t>aisladas</a:t>
            </a:r>
            <a:r>
              <a:rPr lang="en-GB" sz="3200" dirty="0"/>
              <a:t> a </a:t>
            </a:r>
            <a:r>
              <a:rPr lang="en-GB" sz="3200" dirty="0" err="1"/>
              <a:t>gestión</a:t>
            </a:r>
            <a:r>
              <a:rPr lang="en-GB" sz="3200" dirty="0"/>
              <a:t> continua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2DAD7-5D23-5A9C-EB9F-95CE858D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15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96D55EF-D74D-F803-EFEB-D4900EACEC8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F8B382-0C32-8B4F-B89D-CA91991BD1B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41249-3B0E-7B47-EC51-6B3E310D9F3B}"/>
              </a:ext>
            </a:extLst>
          </p:cNvPr>
          <p:cNvSpPr txBox="1"/>
          <p:nvPr/>
        </p:nvSpPr>
        <p:spPr>
          <a:xfrm>
            <a:off x="1775460" y="1729428"/>
            <a:ext cx="906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tendría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pasar para </a:t>
            </a:r>
            <a:r>
              <a:rPr lang="en-GB" sz="2400" dirty="0" err="1"/>
              <a:t>que</a:t>
            </a:r>
            <a:r>
              <a:rPr lang="en-GB" sz="2400" dirty="0"/>
              <a:t> la </a:t>
            </a:r>
            <a:r>
              <a:rPr lang="en-GB" sz="2400" dirty="0" err="1"/>
              <a:t>gestión</a:t>
            </a:r>
            <a:r>
              <a:rPr lang="en-GB" sz="2400" dirty="0"/>
              <a:t> de </a:t>
            </a:r>
            <a:r>
              <a:rPr lang="en-GB" sz="2400" dirty="0" err="1"/>
              <a:t>vulnerabilidades</a:t>
            </a:r>
            <a:r>
              <a:rPr lang="en-GB" sz="2400" dirty="0"/>
              <a:t> </a:t>
            </a:r>
            <a:r>
              <a:rPr lang="en-GB" sz="2400" dirty="0" err="1"/>
              <a:t>deje</a:t>
            </a:r>
            <a:r>
              <a:rPr lang="en-GB" sz="2400" dirty="0"/>
              <a:t> de ser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actividad</a:t>
            </a:r>
            <a:r>
              <a:rPr lang="en-GB" sz="2400" dirty="0"/>
              <a:t> </a:t>
            </a:r>
            <a:r>
              <a:rPr lang="en-GB" sz="2400" dirty="0" err="1"/>
              <a:t>reactiva</a:t>
            </a:r>
            <a:r>
              <a:rPr lang="en-GB" sz="2400" dirty="0"/>
              <a:t> y se </a:t>
            </a:r>
            <a:r>
              <a:rPr lang="en-GB" sz="2400" dirty="0" err="1"/>
              <a:t>convierta</a:t>
            </a:r>
            <a:r>
              <a:rPr lang="en-GB" sz="2400" dirty="0"/>
              <a:t> en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capacidad</a:t>
            </a:r>
            <a:r>
              <a:rPr lang="en-GB" sz="2400" dirty="0"/>
              <a:t> continua del </a:t>
            </a:r>
            <a:r>
              <a:rPr lang="en-GB" sz="2400" dirty="0" err="1"/>
              <a:t>equipo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7B74A-516B-FC42-6387-B11F23B00F21}"/>
              </a:ext>
            </a:extLst>
          </p:cNvPr>
          <p:cNvSpPr txBox="1"/>
          <p:nvPr/>
        </p:nvSpPr>
        <p:spPr>
          <a:xfrm>
            <a:off x="1775460" y="3680361"/>
            <a:ext cx="9185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Cómo</a:t>
            </a:r>
            <a:r>
              <a:rPr lang="en-GB" sz="2400" dirty="0"/>
              <a:t> se </a:t>
            </a:r>
            <a:r>
              <a:rPr lang="en-GB" sz="2400" dirty="0" err="1"/>
              <a:t>puede</a:t>
            </a:r>
            <a:r>
              <a:rPr lang="en-GB" sz="2400" dirty="0"/>
              <a:t> </a:t>
            </a:r>
            <a:r>
              <a:rPr lang="en-GB" sz="2400" dirty="0" err="1"/>
              <a:t>demostrar</a:t>
            </a:r>
            <a:r>
              <a:rPr lang="en-GB" sz="2400" dirty="0"/>
              <a:t> </a:t>
            </a:r>
            <a:r>
              <a:rPr lang="en-GB" sz="2400" dirty="0" err="1"/>
              <a:t>que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vulnerabilidad</a:t>
            </a:r>
            <a:r>
              <a:rPr lang="en-GB" sz="2400" dirty="0"/>
              <a:t> </a:t>
            </a:r>
            <a:r>
              <a:rPr lang="en-GB" sz="2400" dirty="0" err="1"/>
              <a:t>fue</a:t>
            </a:r>
            <a:r>
              <a:rPr lang="en-GB" sz="2400" dirty="0"/>
              <a:t> </a:t>
            </a:r>
            <a:r>
              <a:rPr lang="en-GB" sz="2400" dirty="0" err="1"/>
              <a:t>realmente</a:t>
            </a:r>
            <a:r>
              <a:rPr lang="en-GB" sz="2400" dirty="0"/>
              <a:t> </a:t>
            </a:r>
            <a:r>
              <a:rPr lang="en-GB" sz="2400" dirty="0" err="1"/>
              <a:t>gestionada</a:t>
            </a:r>
            <a:r>
              <a:rPr lang="en-GB" sz="2400" dirty="0"/>
              <a:t> y no solo “</a:t>
            </a:r>
            <a:r>
              <a:rPr lang="en-GB" sz="2400" dirty="0" err="1"/>
              <a:t>cerrada</a:t>
            </a:r>
            <a:r>
              <a:rPr lang="en-GB" sz="2400" dirty="0"/>
              <a:t>” en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herramienta</a:t>
            </a:r>
            <a:r>
              <a:rPr lang="en-GB" sz="2400" dirty="0"/>
              <a:t>?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ECB65-6C60-592F-4EB2-35D50AD087E1}"/>
              </a:ext>
            </a:extLst>
          </p:cNvPr>
          <p:cNvSpPr txBox="1"/>
          <p:nvPr/>
        </p:nvSpPr>
        <p:spPr>
          <a:xfrm>
            <a:off x="1775460" y="5275362"/>
            <a:ext cx="906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¿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evidencia</a:t>
            </a:r>
            <a:r>
              <a:rPr lang="en-GB" sz="2400" dirty="0"/>
              <a:t> </a:t>
            </a:r>
            <a:r>
              <a:rPr lang="en-GB" sz="2400" dirty="0" err="1"/>
              <a:t>debería</a:t>
            </a:r>
            <a:r>
              <a:rPr lang="en-GB" sz="2400" dirty="0"/>
              <a:t> </a:t>
            </a:r>
            <a:r>
              <a:rPr lang="en-GB" sz="2400" dirty="0" err="1"/>
              <a:t>conservar</a:t>
            </a:r>
            <a:r>
              <a:rPr lang="en-GB" sz="2400" dirty="0"/>
              <a:t> </a:t>
            </a:r>
            <a:r>
              <a:rPr lang="en-GB" sz="2400" dirty="0" err="1"/>
              <a:t>una</a:t>
            </a:r>
            <a:r>
              <a:rPr lang="en-GB" sz="2400" dirty="0"/>
              <a:t> </a:t>
            </a:r>
            <a:r>
              <a:rPr lang="en-GB" sz="2400" dirty="0" err="1"/>
              <a:t>organización</a:t>
            </a:r>
            <a:r>
              <a:rPr lang="en-GB" sz="2400" dirty="0"/>
              <a:t> para </a:t>
            </a:r>
            <a:r>
              <a:rPr lang="en-GB" sz="2400" dirty="0" err="1"/>
              <a:t>explicar</a:t>
            </a:r>
            <a:r>
              <a:rPr lang="en-GB" sz="2400" dirty="0"/>
              <a:t>, </a:t>
            </a:r>
            <a:r>
              <a:rPr lang="en-GB" sz="2400" dirty="0" err="1"/>
              <a:t>semanas</a:t>
            </a:r>
            <a:r>
              <a:rPr lang="en-GB" sz="2400" dirty="0"/>
              <a:t> o meses </a:t>
            </a:r>
            <a:r>
              <a:rPr lang="en-GB" sz="2400" dirty="0" err="1"/>
              <a:t>después</a:t>
            </a:r>
            <a:r>
              <a:rPr lang="en-GB" sz="2400" dirty="0"/>
              <a:t>, </a:t>
            </a:r>
            <a:r>
              <a:rPr lang="en-GB" sz="2400" dirty="0" err="1"/>
              <a:t>por</a:t>
            </a:r>
            <a:r>
              <a:rPr lang="en-GB" sz="2400" dirty="0"/>
              <a:t> 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priorizó</a:t>
            </a:r>
            <a:r>
              <a:rPr lang="en-GB" sz="2400" dirty="0"/>
              <a:t> </a:t>
            </a:r>
            <a:r>
              <a:rPr lang="en-GB" sz="2400" dirty="0" err="1"/>
              <a:t>ciertas</a:t>
            </a:r>
            <a:r>
              <a:rPr lang="en-GB" sz="2400" dirty="0"/>
              <a:t> </a:t>
            </a:r>
            <a:r>
              <a:rPr lang="en-GB" sz="2400" dirty="0" err="1"/>
              <a:t>vulnerabilidades</a:t>
            </a:r>
            <a:r>
              <a:rPr lang="en-GB" sz="2400" dirty="0"/>
              <a:t> y no </a:t>
            </a:r>
            <a:r>
              <a:rPr lang="en-GB" sz="2400" dirty="0" err="1"/>
              <a:t>otras</a:t>
            </a:r>
            <a:r>
              <a:rPr lang="en-GB" sz="2400" dirty="0"/>
              <a:t>?</a:t>
            </a:r>
            <a:endParaRPr lang="en-US" sz="2400" dirty="0"/>
          </a:p>
        </p:txBody>
      </p:sp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01F09AB2-274D-61CC-598B-3AA2F4349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872392"/>
            <a:ext cx="914400" cy="914400"/>
          </a:xfrm>
          <a:prstGeom prst="rect">
            <a:avLst/>
          </a:prstGeom>
        </p:spPr>
      </p:pic>
      <p:pic>
        <p:nvPicPr>
          <p:cNvPr id="9" name="Graphic 8" descr="Badge Question Mark with solid fill">
            <a:extLst>
              <a:ext uri="{FF2B5EF4-FFF2-40B4-BE49-F238E27FC236}">
                <a16:creationId xmlns:a16="http://schemas.microsoft.com/office/drawing/2014/main" id="{DE464471-AD6E-2D63-1F28-F505AF6A5D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3638659"/>
            <a:ext cx="914400" cy="914400"/>
          </a:xfrm>
          <a:prstGeom prst="rect">
            <a:avLst/>
          </a:prstGeom>
        </p:spPr>
      </p:pic>
      <p:pic>
        <p:nvPicPr>
          <p:cNvPr id="10" name="Graphic 9" descr="Badge Question Mark with solid fill">
            <a:extLst>
              <a:ext uri="{FF2B5EF4-FFF2-40B4-BE49-F238E27FC236}">
                <a16:creationId xmlns:a16="http://schemas.microsoft.com/office/drawing/2014/main" id="{BFC9DFA6-6C31-A352-0042-AE5162791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54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6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AF58-3EDA-92CD-C709-2B6B2DC1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A66042-6CFB-BD16-0F4F-58066EFB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68580"/>
            <a:ext cx="10081260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0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E3DD-6D69-621A-DA93-BD93F5D53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4A19-950E-20A2-3030-4FF38A09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dirty="0" err="1"/>
              <a:t>Referencias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ABFA0-32E7-AFA3-D823-513B9F69DBFF}"/>
              </a:ext>
            </a:extLst>
          </p:cNvPr>
          <p:cNvSpPr txBox="1"/>
          <p:nvPr/>
        </p:nvSpPr>
        <p:spPr>
          <a:xfrm>
            <a:off x="1775460" y="1729428"/>
            <a:ext cx="90628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Williams, L., &amp; Migues, S. (2025). </a:t>
            </a:r>
            <a:r>
              <a:rPr lang="en-GB" sz="2400" i="1" dirty="0"/>
              <a:t>Establishing a baseline of software supply chain security task adoption by software organizations</a:t>
            </a:r>
            <a:r>
              <a:rPr lang="en-GB" sz="2400" dirty="0"/>
              <a:t>. In </a:t>
            </a:r>
            <a:r>
              <a:rPr lang="en-GB" sz="2400" b="1" dirty="0"/>
              <a:t>Proceedings of the 2025 Workshop on Software Supply Chain Offensive Research and Ecosystem </a:t>
            </a:r>
            <a:r>
              <a:rPr lang="en-GB" sz="2400" b="1" dirty="0" err="1"/>
              <a:t>Defenses</a:t>
            </a:r>
            <a:r>
              <a:rPr lang="en-GB" sz="2400" b="1" dirty="0"/>
              <a:t> (SCORED ’25)</a:t>
            </a:r>
            <a:r>
              <a:rPr lang="en-GB" sz="2400" dirty="0"/>
              <a:t>. Association for Computing Machinery.</a:t>
            </a:r>
            <a:endParaRPr lang="en-US" sz="2400" dirty="0"/>
          </a:p>
        </p:txBody>
      </p:sp>
      <p:pic>
        <p:nvPicPr>
          <p:cNvPr id="13" name="Graphic 12" descr="Graduation cap with solid fill">
            <a:extLst>
              <a:ext uri="{FF2B5EF4-FFF2-40B4-BE49-F238E27FC236}">
                <a16:creationId xmlns:a16="http://schemas.microsoft.com/office/drawing/2014/main" id="{F1A8A59C-7881-A495-AA72-B58CFCAA2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248" y="22417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8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826</Words>
  <Application>Microsoft Macintosh PowerPoint</Application>
  <PresentationFormat>Widescreen</PresentationFormat>
  <Paragraphs>78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Producción de Software</vt:lpstr>
      <vt:lpstr>Gestión de vulnerabilidades en la cadena de suministro de software</vt:lpstr>
      <vt:lpstr>¿Dónde puede entrar una vulnerabilidad en una aplicación moderna?</vt:lpstr>
      <vt:lpstr>1. Por qué ya no basta con analizar solo el código propio</vt:lpstr>
      <vt:lpstr>2. Qué es la cadena de suministro de software</vt:lpstr>
      <vt:lpstr>2. Qué es la cadena de suministro de software</vt:lpstr>
      <vt:lpstr>3. De encontrar vulnerabilidades a gestionar exposición</vt:lpstr>
      <vt:lpstr>3. De encontrar vulnerabilidades a gestionar exposición</vt:lpstr>
      <vt:lpstr>4.- Areas de seguridad: ordenar el proceso con P-SSCRM</vt:lpstr>
      <vt:lpstr>4.- Areas de seguridad: ordenar el proceso con P-SSCRM</vt:lpstr>
      <vt:lpstr>5. Qué están adoptando realmente las organizaciones</vt:lpstr>
      <vt:lpstr>5. Qué están adoptando realmente las organizaciones</vt:lpstr>
      <vt:lpstr>6.- Actividad aplicada: transformar evidencia en decisiones</vt:lpstr>
      <vt:lpstr>6.- Transformar evidencia en decisiones</vt:lpstr>
      <vt:lpstr>7.- De herramientas aisladas a gestión continua</vt:lpstr>
      <vt:lpstr>PowerPoint Presentation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11</cp:revision>
  <dcterms:created xsi:type="dcterms:W3CDTF">2026-04-27T15:47:00Z</dcterms:created>
  <dcterms:modified xsi:type="dcterms:W3CDTF">2026-05-11T19:14:31Z</dcterms:modified>
</cp:coreProperties>
</file>